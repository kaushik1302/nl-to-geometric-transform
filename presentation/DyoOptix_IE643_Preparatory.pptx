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1A1F2B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6B7280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65"/>
              </a:lnSpc>
            </a:pPr>
            <a:r>
              <a:rPr dirty="0"/>
              <a:t>IE</a:t>
            </a:r>
            <a:r>
              <a:rPr dirty="0" spc="-15"/>
              <a:t> </a:t>
            </a:r>
            <a:r>
              <a:rPr dirty="0"/>
              <a:t>643</a:t>
            </a:r>
            <a:r>
              <a:rPr dirty="0" spc="-15"/>
              <a:t> </a:t>
            </a:r>
            <a:r>
              <a:rPr dirty="0" spc="-10"/>
              <a:t>Course </a:t>
            </a:r>
            <a:r>
              <a:rPr dirty="0"/>
              <a:t>Project</a:t>
            </a:r>
            <a:r>
              <a:rPr dirty="0" spc="135"/>
              <a:t> </a:t>
            </a:r>
            <a:r>
              <a:rPr dirty="0"/>
              <a:t>·</a:t>
            </a:r>
            <a:r>
              <a:rPr dirty="0" spc="140"/>
              <a:t> </a:t>
            </a:r>
            <a:r>
              <a:rPr dirty="0" spc="-20"/>
              <a:t>Team</a:t>
            </a:r>
            <a:r>
              <a:rPr dirty="0" spc="-10"/>
              <a:t> DyoOptix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6B7280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6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1A1F2B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6B7280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65"/>
              </a:lnSpc>
            </a:pPr>
            <a:r>
              <a:rPr dirty="0"/>
              <a:t>IE</a:t>
            </a:r>
            <a:r>
              <a:rPr dirty="0" spc="-15"/>
              <a:t> </a:t>
            </a:r>
            <a:r>
              <a:rPr dirty="0"/>
              <a:t>643</a:t>
            </a:r>
            <a:r>
              <a:rPr dirty="0" spc="-15"/>
              <a:t> </a:t>
            </a:r>
            <a:r>
              <a:rPr dirty="0" spc="-10"/>
              <a:t>Course </a:t>
            </a:r>
            <a:r>
              <a:rPr dirty="0"/>
              <a:t>Project</a:t>
            </a:r>
            <a:r>
              <a:rPr dirty="0" spc="135"/>
              <a:t> </a:t>
            </a:r>
            <a:r>
              <a:rPr dirty="0"/>
              <a:t>·</a:t>
            </a:r>
            <a:r>
              <a:rPr dirty="0" spc="140"/>
              <a:t> </a:t>
            </a:r>
            <a:r>
              <a:rPr dirty="0" spc="-20"/>
              <a:t>Team</a:t>
            </a:r>
            <a:r>
              <a:rPr dirty="0" spc="-10"/>
              <a:t> DyoOptix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6B7280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6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1A1F2B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6B7280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65"/>
              </a:lnSpc>
            </a:pPr>
            <a:r>
              <a:rPr dirty="0"/>
              <a:t>IE</a:t>
            </a:r>
            <a:r>
              <a:rPr dirty="0" spc="-15"/>
              <a:t> </a:t>
            </a:r>
            <a:r>
              <a:rPr dirty="0"/>
              <a:t>643</a:t>
            </a:r>
            <a:r>
              <a:rPr dirty="0" spc="-15"/>
              <a:t> </a:t>
            </a:r>
            <a:r>
              <a:rPr dirty="0" spc="-10"/>
              <a:t>Course </a:t>
            </a:r>
            <a:r>
              <a:rPr dirty="0"/>
              <a:t>Project</a:t>
            </a:r>
            <a:r>
              <a:rPr dirty="0" spc="135"/>
              <a:t> </a:t>
            </a:r>
            <a:r>
              <a:rPr dirty="0"/>
              <a:t>·</a:t>
            </a:r>
            <a:r>
              <a:rPr dirty="0" spc="140"/>
              <a:t> </a:t>
            </a:r>
            <a:r>
              <a:rPr dirty="0" spc="-20"/>
              <a:t>Team</a:t>
            </a:r>
            <a:r>
              <a:rPr dirty="0" spc="-10"/>
              <a:t> DyoOptix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6B7280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6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1A1F2B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6B7280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65"/>
              </a:lnSpc>
            </a:pPr>
            <a:r>
              <a:rPr dirty="0"/>
              <a:t>IE</a:t>
            </a:r>
            <a:r>
              <a:rPr dirty="0" spc="-15"/>
              <a:t> </a:t>
            </a:r>
            <a:r>
              <a:rPr dirty="0"/>
              <a:t>643</a:t>
            </a:r>
            <a:r>
              <a:rPr dirty="0" spc="-15"/>
              <a:t> </a:t>
            </a:r>
            <a:r>
              <a:rPr dirty="0" spc="-10"/>
              <a:t>Course </a:t>
            </a:r>
            <a:r>
              <a:rPr dirty="0"/>
              <a:t>Project</a:t>
            </a:r>
            <a:r>
              <a:rPr dirty="0" spc="135"/>
              <a:t> </a:t>
            </a:r>
            <a:r>
              <a:rPr dirty="0"/>
              <a:t>·</a:t>
            </a:r>
            <a:r>
              <a:rPr dirty="0" spc="140"/>
              <a:t> </a:t>
            </a:r>
            <a:r>
              <a:rPr dirty="0" spc="-20"/>
              <a:t>Team</a:t>
            </a:r>
            <a:r>
              <a:rPr dirty="0" spc="-10"/>
              <a:t> DyoOptix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6B7280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6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6B7280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65"/>
              </a:lnSpc>
            </a:pPr>
            <a:r>
              <a:rPr dirty="0"/>
              <a:t>IE</a:t>
            </a:r>
            <a:r>
              <a:rPr dirty="0" spc="-15"/>
              <a:t> </a:t>
            </a:r>
            <a:r>
              <a:rPr dirty="0"/>
              <a:t>643</a:t>
            </a:r>
            <a:r>
              <a:rPr dirty="0" spc="-15"/>
              <a:t> </a:t>
            </a:r>
            <a:r>
              <a:rPr dirty="0" spc="-10"/>
              <a:t>Course </a:t>
            </a:r>
            <a:r>
              <a:rPr dirty="0"/>
              <a:t>Project</a:t>
            </a:r>
            <a:r>
              <a:rPr dirty="0" spc="135"/>
              <a:t> </a:t>
            </a:r>
            <a:r>
              <a:rPr dirty="0"/>
              <a:t>·</a:t>
            </a:r>
            <a:r>
              <a:rPr dirty="0" spc="140"/>
              <a:t> </a:t>
            </a:r>
            <a:r>
              <a:rPr dirty="0" spc="-20"/>
              <a:t>Team</a:t>
            </a:r>
            <a:r>
              <a:rPr dirty="0" spc="-10"/>
              <a:t> DyoOptix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6B7280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6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59384" y="438150"/>
            <a:ext cx="6287770" cy="375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1A1F2B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84734" y="1091946"/>
            <a:ext cx="8572500" cy="29952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98780" y="4821809"/>
            <a:ext cx="1440814" cy="114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rgbClr val="6B7280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65"/>
              </a:lnSpc>
            </a:pPr>
            <a:r>
              <a:rPr dirty="0"/>
              <a:t>IE</a:t>
            </a:r>
            <a:r>
              <a:rPr dirty="0" spc="-15"/>
              <a:t> </a:t>
            </a:r>
            <a:r>
              <a:rPr dirty="0"/>
              <a:t>643</a:t>
            </a:r>
            <a:r>
              <a:rPr dirty="0" spc="-15"/>
              <a:t> </a:t>
            </a:r>
            <a:r>
              <a:rPr dirty="0" spc="-10"/>
              <a:t>Course </a:t>
            </a:r>
            <a:r>
              <a:rPr dirty="0"/>
              <a:t>Project</a:t>
            </a:r>
            <a:r>
              <a:rPr dirty="0" spc="135"/>
              <a:t> </a:t>
            </a:r>
            <a:r>
              <a:rPr dirty="0"/>
              <a:t>·</a:t>
            </a:r>
            <a:r>
              <a:rPr dirty="0" spc="140"/>
              <a:t> </a:t>
            </a:r>
            <a:r>
              <a:rPr dirty="0" spc="-20"/>
              <a:t>Team</a:t>
            </a:r>
            <a:r>
              <a:rPr dirty="0" spc="-10"/>
              <a:t> DyoOptix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627469" y="4821809"/>
            <a:ext cx="153670" cy="114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rgbClr val="6B7280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65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arxiv.org/abs/1506.02025" TargetMode="External"/><Relationship Id="rId4" Type="http://schemas.openxmlformats.org/officeDocument/2006/relationships/hyperlink" Target="https://arxiv.org/abs/2103.00020" TargetMode="External"/><Relationship Id="rId5" Type="http://schemas.openxmlformats.org/officeDocument/2006/relationships/hyperlink" Target="https://arxiv.org/abs/1908.10084" TargetMode="External"/><Relationship Id="rId6" Type="http://schemas.openxmlformats.org/officeDocument/2006/relationships/hyperlink" Target="https://arxiv.org/abs/2210.01936" TargetMode="External"/><Relationship Id="rId7" Type="http://schemas.openxmlformats.org/officeDocument/2006/relationships/hyperlink" Target="https://arxiv.org/abs/1812.07035" TargetMode="External"/><Relationship Id="rId8" Type="http://schemas.openxmlformats.org/officeDocument/2006/relationships/hyperlink" Target="https://arxiv.org/abs/2211.09800" TargetMode="External"/><Relationship Id="rId9" Type="http://schemas.openxmlformats.org/officeDocument/2006/relationships/hyperlink" Target="https://arxiv.org/abs/2306.10012" TargetMode="External"/><Relationship Id="rId10" Type="http://schemas.openxmlformats.org/officeDocument/2006/relationships/hyperlink" Target="https://huggingface.co/laion/CLIP-ViT-B-32-laion2B-s34B-b79K" TargetMode="External"/><Relationship Id="rId11" Type="http://schemas.openxmlformats.org/officeDocument/2006/relationships/hyperlink" Target="https://huggingface.co/sentence-transformers/all-MiniLM-L6-v2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1A1F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398780" y="1011428"/>
            <a:ext cx="3342004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E17039"/>
                </a:solidFill>
                <a:latin typeface="Calibri"/>
                <a:cs typeface="Calibri"/>
              </a:rPr>
              <a:t>IE</a:t>
            </a:r>
            <a:r>
              <a:rPr dirty="0" sz="900" spc="-1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E17039"/>
                </a:solidFill>
                <a:latin typeface="Calibri"/>
                <a:cs typeface="Calibri"/>
              </a:rPr>
              <a:t>643</a:t>
            </a:r>
            <a:r>
              <a:rPr dirty="0" sz="900" spc="-10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E17039"/>
                </a:solidFill>
                <a:latin typeface="Calibri"/>
                <a:cs typeface="Calibri"/>
              </a:rPr>
              <a:t>—</a:t>
            </a:r>
            <a:r>
              <a:rPr dirty="0" sz="900" spc="-10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E17039"/>
                </a:solidFill>
                <a:latin typeface="Calibri"/>
                <a:cs typeface="Calibri"/>
              </a:rPr>
              <a:t>DEEP</a:t>
            </a:r>
            <a:r>
              <a:rPr dirty="0" sz="900" spc="-10" b="1">
                <a:solidFill>
                  <a:srgbClr val="E17039"/>
                </a:solidFill>
                <a:latin typeface="Calibri"/>
                <a:cs typeface="Calibri"/>
              </a:rPr>
              <a:t> LEARNING: THEORY </a:t>
            </a:r>
            <a:r>
              <a:rPr dirty="0" sz="900" b="1">
                <a:solidFill>
                  <a:srgbClr val="E17039"/>
                </a:solidFill>
                <a:latin typeface="Calibri"/>
                <a:cs typeface="Calibri"/>
              </a:rPr>
              <a:t>AND</a:t>
            </a:r>
            <a:r>
              <a:rPr dirty="0" sz="900" spc="-10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E17039"/>
                </a:solidFill>
                <a:latin typeface="Calibri"/>
                <a:cs typeface="Calibri"/>
              </a:rPr>
              <a:t>PRACTICE</a:t>
            </a:r>
            <a:r>
              <a:rPr dirty="0" sz="900" spc="18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E17039"/>
                </a:solidFill>
                <a:latin typeface="Calibri"/>
                <a:cs typeface="Calibri"/>
              </a:rPr>
              <a:t>·</a:t>
            </a:r>
            <a:r>
              <a:rPr dirty="0" sz="900" spc="180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900" spc="-10" b="1">
                <a:solidFill>
                  <a:srgbClr val="E17039"/>
                </a:solidFill>
                <a:latin typeface="Calibri"/>
                <a:cs typeface="Calibri"/>
              </a:rPr>
              <a:t>COURSE PROJECT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180548" y="802608"/>
            <a:ext cx="342900" cy="342900"/>
            <a:chOff x="7180548" y="802608"/>
            <a:chExt cx="342900" cy="342900"/>
          </a:xfrm>
        </p:grpSpPr>
        <p:sp>
          <p:nvSpPr>
            <p:cNvPr id="4" name="object 4"/>
            <p:cNvSpPr/>
            <p:nvPr/>
          </p:nvSpPr>
          <p:spPr>
            <a:xfrm>
              <a:off x="7186898" y="808958"/>
              <a:ext cx="330200" cy="330200"/>
            </a:xfrm>
            <a:custGeom>
              <a:avLst/>
              <a:gdLst/>
              <a:ahLst/>
              <a:cxnLst/>
              <a:rect l="l" t="t" r="r" b="b"/>
              <a:pathLst>
                <a:path w="330200" h="330200">
                  <a:moveTo>
                    <a:pt x="164877" y="329754"/>
                  </a:moveTo>
                  <a:lnTo>
                    <a:pt x="0" y="164877"/>
                  </a:lnTo>
                  <a:lnTo>
                    <a:pt x="164877" y="0"/>
                  </a:lnTo>
                  <a:lnTo>
                    <a:pt x="329754" y="164877"/>
                  </a:lnTo>
                  <a:lnTo>
                    <a:pt x="164877" y="329754"/>
                  </a:lnTo>
                  <a:close/>
                </a:path>
              </a:pathLst>
            </a:custGeom>
            <a:solidFill>
              <a:srgbClr val="2E617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7186898" y="808958"/>
              <a:ext cx="330200" cy="330200"/>
            </a:xfrm>
            <a:custGeom>
              <a:avLst/>
              <a:gdLst/>
              <a:ahLst/>
              <a:cxnLst/>
              <a:rect l="l" t="t" r="r" b="b"/>
              <a:pathLst>
                <a:path w="330200" h="330200">
                  <a:moveTo>
                    <a:pt x="164877" y="0"/>
                  </a:moveTo>
                  <a:lnTo>
                    <a:pt x="329754" y="164877"/>
                  </a:lnTo>
                  <a:lnTo>
                    <a:pt x="164877" y="329754"/>
                  </a:lnTo>
                  <a:lnTo>
                    <a:pt x="0" y="164877"/>
                  </a:lnTo>
                  <a:lnTo>
                    <a:pt x="164877" y="0"/>
                  </a:lnTo>
                  <a:close/>
                </a:path>
              </a:pathLst>
            </a:custGeom>
            <a:ln w="12699">
              <a:solidFill>
                <a:srgbClr val="2E617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7699361" y="635621"/>
            <a:ext cx="546735" cy="546735"/>
            <a:chOff x="7699361" y="635621"/>
            <a:chExt cx="546735" cy="546735"/>
          </a:xfrm>
        </p:grpSpPr>
        <p:sp>
          <p:nvSpPr>
            <p:cNvPr id="7" name="object 7"/>
            <p:cNvSpPr/>
            <p:nvPr/>
          </p:nvSpPr>
          <p:spPr>
            <a:xfrm>
              <a:off x="7705711" y="641971"/>
              <a:ext cx="534035" cy="534035"/>
            </a:xfrm>
            <a:custGeom>
              <a:avLst/>
              <a:gdLst/>
              <a:ahLst/>
              <a:cxnLst/>
              <a:rect l="l" t="t" r="r" b="b"/>
              <a:pathLst>
                <a:path w="534034" h="534035">
                  <a:moveTo>
                    <a:pt x="266713" y="533427"/>
                  </a:moveTo>
                  <a:lnTo>
                    <a:pt x="0" y="266713"/>
                  </a:lnTo>
                  <a:lnTo>
                    <a:pt x="266713" y="0"/>
                  </a:lnTo>
                  <a:lnTo>
                    <a:pt x="533426" y="266713"/>
                  </a:lnTo>
                  <a:lnTo>
                    <a:pt x="266713" y="533427"/>
                  </a:lnTo>
                  <a:close/>
                </a:path>
              </a:pathLst>
            </a:custGeom>
            <a:solidFill>
              <a:srgbClr val="E170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705711" y="641971"/>
              <a:ext cx="534035" cy="534035"/>
            </a:xfrm>
            <a:custGeom>
              <a:avLst/>
              <a:gdLst/>
              <a:ahLst/>
              <a:cxnLst/>
              <a:rect l="l" t="t" r="r" b="b"/>
              <a:pathLst>
                <a:path w="534034" h="534035">
                  <a:moveTo>
                    <a:pt x="266713" y="0"/>
                  </a:moveTo>
                  <a:lnTo>
                    <a:pt x="533426" y="266713"/>
                  </a:lnTo>
                  <a:lnTo>
                    <a:pt x="266713" y="533427"/>
                  </a:lnTo>
                  <a:lnTo>
                    <a:pt x="0" y="266713"/>
                  </a:lnTo>
                  <a:lnTo>
                    <a:pt x="266713" y="0"/>
                  </a:lnTo>
                  <a:close/>
                </a:path>
              </a:pathLst>
            </a:custGeom>
            <a:ln w="12699">
              <a:solidFill>
                <a:srgbClr val="E1703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/>
          <p:cNvGrpSpPr/>
          <p:nvPr/>
        </p:nvGrpSpPr>
        <p:grpSpPr>
          <a:xfrm>
            <a:off x="8349653" y="428662"/>
            <a:ext cx="788670" cy="788670"/>
            <a:chOff x="8349653" y="428662"/>
            <a:chExt cx="788670" cy="788670"/>
          </a:xfrm>
        </p:grpSpPr>
        <p:sp>
          <p:nvSpPr>
            <p:cNvPr id="10" name="object 10"/>
            <p:cNvSpPr/>
            <p:nvPr/>
          </p:nvSpPr>
          <p:spPr>
            <a:xfrm>
              <a:off x="8356003" y="435012"/>
              <a:ext cx="775970" cy="775970"/>
            </a:xfrm>
            <a:custGeom>
              <a:avLst/>
              <a:gdLst/>
              <a:ahLst/>
              <a:cxnLst/>
              <a:rect l="l" t="t" r="r" b="b"/>
              <a:pathLst>
                <a:path w="775970" h="775969">
                  <a:moveTo>
                    <a:pt x="387946" y="775894"/>
                  </a:moveTo>
                  <a:lnTo>
                    <a:pt x="0" y="387947"/>
                  </a:lnTo>
                  <a:lnTo>
                    <a:pt x="387946" y="0"/>
                  </a:lnTo>
                  <a:lnTo>
                    <a:pt x="775893" y="387947"/>
                  </a:lnTo>
                  <a:lnTo>
                    <a:pt x="387946" y="775894"/>
                  </a:lnTo>
                  <a:close/>
                </a:path>
              </a:pathLst>
            </a:custGeom>
            <a:solidFill>
              <a:srgbClr val="3E4A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8356003" y="435012"/>
              <a:ext cx="775970" cy="775970"/>
            </a:xfrm>
            <a:custGeom>
              <a:avLst/>
              <a:gdLst/>
              <a:ahLst/>
              <a:cxnLst/>
              <a:rect l="l" t="t" r="r" b="b"/>
              <a:pathLst>
                <a:path w="775970" h="775969">
                  <a:moveTo>
                    <a:pt x="387946" y="0"/>
                  </a:moveTo>
                  <a:lnTo>
                    <a:pt x="775893" y="387947"/>
                  </a:lnTo>
                  <a:lnTo>
                    <a:pt x="387946" y="775894"/>
                  </a:lnTo>
                  <a:lnTo>
                    <a:pt x="0" y="387947"/>
                  </a:lnTo>
                  <a:lnTo>
                    <a:pt x="387946" y="0"/>
                  </a:lnTo>
                  <a:close/>
                </a:path>
              </a:pathLst>
            </a:custGeom>
            <a:ln w="12699">
              <a:solidFill>
                <a:srgbClr val="3E4A6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xfrm>
            <a:off x="398780" y="1400810"/>
            <a:ext cx="6146165" cy="1076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3000">
                <a:solidFill>
                  <a:srgbClr val="FFFFFF"/>
                </a:solidFill>
              </a:rPr>
              <a:t>Predicting</a:t>
            </a:r>
            <a:r>
              <a:rPr dirty="0" sz="3000" spc="-95">
                <a:solidFill>
                  <a:srgbClr val="FFFFFF"/>
                </a:solidFill>
              </a:rPr>
              <a:t> </a:t>
            </a:r>
            <a:r>
              <a:rPr dirty="0" sz="3000" spc="-10">
                <a:solidFill>
                  <a:srgbClr val="FFFFFF"/>
                </a:solidFill>
              </a:rPr>
              <a:t>Geometric</a:t>
            </a:r>
            <a:r>
              <a:rPr dirty="0" sz="3000" spc="-95">
                <a:solidFill>
                  <a:srgbClr val="FFFFFF"/>
                </a:solidFill>
              </a:rPr>
              <a:t> </a:t>
            </a:r>
            <a:r>
              <a:rPr dirty="0" sz="3000" spc="-20">
                <a:solidFill>
                  <a:srgbClr val="FFFFFF"/>
                </a:solidFill>
              </a:rPr>
              <a:t>Edit </a:t>
            </a:r>
            <a:r>
              <a:rPr dirty="0" sz="3000" spc="-10">
                <a:solidFill>
                  <a:srgbClr val="FFFFFF"/>
                </a:solidFill>
              </a:rPr>
              <a:t>Parameters</a:t>
            </a:r>
            <a:r>
              <a:rPr dirty="0" sz="3000" spc="-100">
                <a:solidFill>
                  <a:srgbClr val="FFFFFF"/>
                </a:solidFill>
              </a:rPr>
              <a:t> </a:t>
            </a:r>
            <a:r>
              <a:rPr dirty="0" sz="3000">
                <a:solidFill>
                  <a:srgbClr val="FFFFFF"/>
                </a:solidFill>
              </a:rPr>
              <a:t>from</a:t>
            </a:r>
            <a:r>
              <a:rPr dirty="0" sz="3000" spc="-100">
                <a:solidFill>
                  <a:srgbClr val="FFFFFF"/>
                </a:solidFill>
              </a:rPr>
              <a:t> </a:t>
            </a:r>
            <a:r>
              <a:rPr dirty="0" sz="3000">
                <a:solidFill>
                  <a:srgbClr val="FFFFFF"/>
                </a:solidFill>
              </a:rPr>
              <a:t>Natural</a:t>
            </a:r>
            <a:r>
              <a:rPr dirty="0" sz="3000" spc="-95">
                <a:solidFill>
                  <a:srgbClr val="FFFFFF"/>
                </a:solidFill>
              </a:rPr>
              <a:t> </a:t>
            </a:r>
            <a:r>
              <a:rPr dirty="0" sz="3000" spc="-10">
                <a:solidFill>
                  <a:srgbClr val="FFFFFF"/>
                </a:solidFill>
              </a:rPr>
              <a:t>Language</a:t>
            </a:r>
            <a:endParaRPr sz="3000"/>
          </a:p>
        </p:txBody>
      </p:sp>
      <p:sp>
        <p:nvSpPr>
          <p:cNvPr id="14" name="object 14"/>
          <p:cNvSpPr/>
          <p:nvPr/>
        </p:nvSpPr>
        <p:spPr>
          <a:xfrm>
            <a:off x="411480" y="3120389"/>
            <a:ext cx="2880360" cy="0"/>
          </a:xfrm>
          <a:custGeom>
            <a:avLst/>
            <a:gdLst/>
            <a:ahLst/>
            <a:cxnLst/>
            <a:rect l="l" t="t" r="r" b="b"/>
            <a:pathLst>
              <a:path w="2880360" h="0">
                <a:moveTo>
                  <a:pt x="0" y="0"/>
                </a:moveTo>
                <a:lnTo>
                  <a:pt x="2880359" y="0"/>
                </a:lnTo>
              </a:path>
            </a:pathLst>
          </a:custGeom>
          <a:ln w="12699">
            <a:solidFill>
              <a:srgbClr val="3E4A6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98780" y="2716530"/>
            <a:ext cx="3730625" cy="18180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solidFill>
                  <a:srgbClr val="AEB6C4"/>
                </a:solidFill>
                <a:latin typeface="Calibri"/>
                <a:cs typeface="Calibri"/>
              </a:rPr>
              <a:t>Preparatory</a:t>
            </a:r>
            <a:r>
              <a:rPr dirty="0" sz="1100" spc="-25">
                <a:solidFill>
                  <a:srgbClr val="AEB6C4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AEB6C4"/>
                </a:solidFill>
                <a:latin typeface="Calibri"/>
                <a:cs typeface="Calibri"/>
              </a:rPr>
              <a:t>Assessment</a:t>
            </a:r>
            <a:r>
              <a:rPr dirty="0" sz="1100" spc="204">
                <a:solidFill>
                  <a:srgbClr val="AEB6C4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AEB6C4"/>
                </a:solidFill>
                <a:latin typeface="Calibri"/>
                <a:cs typeface="Calibri"/>
              </a:rPr>
              <a:t>·</a:t>
            </a:r>
            <a:r>
              <a:rPr dirty="0" sz="1100" spc="204">
                <a:solidFill>
                  <a:srgbClr val="AEB6C4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AEB6C4"/>
                </a:solidFill>
                <a:latin typeface="Calibri"/>
                <a:cs typeface="Calibri"/>
              </a:rPr>
              <a:t>Indian</a:t>
            </a:r>
            <a:r>
              <a:rPr dirty="0" sz="1100" spc="-25">
                <a:solidFill>
                  <a:srgbClr val="AEB6C4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AEB6C4"/>
                </a:solidFill>
                <a:latin typeface="Calibri"/>
                <a:cs typeface="Calibri"/>
              </a:rPr>
              <a:t>Institute</a:t>
            </a:r>
            <a:r>
              <a:rPr dirty="0" sz="1100" spc="-25">
                <a:solidFill>
                  <a:srgbClr val="AEB6C4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AEB6C4"/>
                </a:solidFill>
                <a:latin typeface="Calibri"/>
                <a:cs typeface="Calibri"/>
              </a:rPr>
              <a:t>of</a:t>
            </a:r>
            <a:r>
              <a:rPr dirty="0" sz="1100" spc="-25">
                <a:solidFill>
                  <a:srgbClr val="AEB6C4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AEB6C4"/>
                </a:solidFill>
                <a:latin typeface="Calibri"/>
                <a:cs typeface="Calibri"/>
              </a:rPr>
              <a:t>Technology</a:t>
            </a:r>
            <a:r>
              <a:rPr dirty="0" sz="1100" spc="-20">
                <a:solidFill>
                  <a:srgbClr val="AEB6C4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AEB6C4"/>
                </a:solidFill>
                <a:latin typeface="Calibri"/>
                <a:cs typeface="Calibri"/>
              </a:rPr>
              <a:t>Bombay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500" spc="-30" b="1">
                <a:solidFill>
                  <a:srgbClr val="FFFFFF"/>
                </a:solidFill>
                <a:latin typeface="Cambria"/>
                <a:cs typeface="Cambria"/>
              </a:rPr>
              <a:t>Team</a:t>
            </a:r>
            <a:r>
              <a:rPr dirty="0" sz="1500" spc="-50" b="1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Cambria"/>
                <a:cs typeface="Cambria"/>
              </a:rPr>
              <a:t>DyoOptix</a:t>
            </a:r>
            <a:endParaRPr sz="1500">
              <a:latin typeface="Cambria"/>
              <a:cs typeface="Cambria"/>
            </a:endParaRPr>
          </a:p>
          <a:p>
            <a:pPr marL="12700" marR="1714500">
              <a:lnSpc>
                <a:spcPct val="100000"/>
              </a:lnSpc>
              <a:spcBef>
                <a:spcPts val="1710"/>
              </a:spcBef>
              <a:tabLst>
                <a:tab pos="989965" algn="l"/>
              </a:tabLst>
            </a:pPr>
            <a:r>
              <a:rPr dirty="0" sz="1100" b="1">
                <a:solidFill>
                  <a:srgbClr val="FFFFFF"/>
                </a:solidFill>
                <a:latin typeface="Calibri"/>
                <a:cs typeface="Calibri"/>
              </a:rPr>
              <a:t>Kaushik</a:t>
            </a:r>
            <a:r>
              <a:rPr dirty="0" sz="11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FFFFFF"/>
                </a:solidFill>
                <a:latin typeface="Calibri"/>
                <a:cs typeface="Calibri"/>
              </a:rPr>
              <a:t>Kuppili</a:t>
            </a:r>
            <a:r>
              <a:rPr dirty="0" sz="1100" spc="4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AEB6C4"/>
                </a:solidFill>
                <a:latin typeface="Calibri"/>
                <a:cs typeface="Calibri"/>
              </a:rPr>
              <a:t>Roll</a:t>
            </a:r>
            <a:r>
              <a:rPr dirty="0" sz="1100" spc="-30">
                <a:solidFill>
                  <a:srgbClr val="AEB6C4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AEB6C4"/>
                </a:solidFill>
                <a:latin typeface="Calibri"/>
                <a:cs typeface="Calibri"/>
              </a:rPr>
              <a:t>No.</a:t>
            </a:r>
            <a:r>
              <a:rPr dirty="0" sz="1100" spc="-30">
                <a:solidFill>
                  <a:srgbClr val="AEB6C4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AEB6C4"/>
                </a:solidFill>
                <a:latin typeface="Calibri"/>
                <a:cs typeface="Calibri"/>
              </a:rPr>
              <a:t>26M1507 </a:t>
            </a:r>
            <a:r>
              <a:rPr dirty="0" sz="1100" b="1">
                <a:solidFill>
                  <a:srgbClr val="FFFFFF"/>
                </a:solidFill>
                <a:latin typeface="Calibri"/>
                <a:cs typeface="Calibri"/>
              </a:rPr>
              <a:t>Akash</a:t>
            </a:r>
            <a:r>
              <a:rPr dirty="0" sz="11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20" b="1">
                <a:solidFill>
                  <a:srgbClr val="FFFFFF"/>
                </a:solidFill>
                <a:latin typeface="Calibri"/>
                <a:cs typeface="Calibri"/>
              </a:rPr>
              <a:t>Gudi</a:t>
            </a:r>
            <a:r>
              <a:rPr dirty="0" sz="1100" b="1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1100">
                <a:solidFill>
                  <a:srgbClr val="AEB6C4"/>
                </a:solidFill>
                <a:latin typeface="Calibri"/>
                <a:cs typeface="Calibri"/>
              </a:rPr>
              <a:t>Roll</a:t>
            </a:r>
            <a:r>
              <a:rPr dirty="0" sz="1100" spc="-35">
                <a:solidFill>
                  <a:srgbClr val="AEB6C4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AEB6C4"/>
                </a:solidFill>
                <a:latin typeface="Calibri"/>
                <a:cs typeface="Calibri"/>
              </a:rPr>
              <a:t>No.</a:t>
            </a:r>
            <a:r>
              <a:rPr dirty="0" sz="1100" spc="-30">
                <a:solidFill>
                  <a:srgbClr val="AEB6C4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AEB6C4"/>
                </a:solidFill>
                <a:latin typeface="Calibri"/>
                <a:cs typeface="Calibri"/>
              </a:rPr>
              <a:t>26M1516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25"/>
              </a:spcBef>
            </a:pP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20 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September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6B7280"/>
                </a:solidFill>
                <a:latin typeface="Calibri"/>
                <a:cs typeface="Calibri"/>
              </a:rPr>
              <a:t>2026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8780" y="244602"/>
            <a:ext cx="486409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 b="1">
                <a:solidFill>
                  <a:srgbClr val="E17039"/>
                </a:solidFill>
                <a:latin typeface="Calibri"/>
                <a:cs typeface="Calibri"/>
              </a:rPr>
              <a:t>OVERVIEW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4398" y="507268"/>
            <a:ext cx="158180" cy="158180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Outline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406717" y="1058227"/>
            <a:ext cx="8328659" cy="489584"/>
            <a:chOff x="406717" y="1058227"/>
            <a:chExt cx="8328659" cy="489584"/>
          </a:xfrm>
        </p:grpSpPr>
        <p:sp>
          <p:nvSpPr>
            <p:cNvPr id="6" name="object 6"/>
            <p:cNvSpPr/>
            <p:nvPr/>
          </p:nvSpPr>
          <p:spPr>
            <a:xfrm>
              <a:off x="411480" y="1062989"/>
              <a:ext cx="8319134" cy="480059"/>
            </a:xfrm>
            <a:custGeom>
              <a:avLst/>
              <a:gdLst/>
              <a:ahLst/>
              <a:cxnLst/>
              <a:rect l="l" t="t" r="r" b="b"/>
              <a:pathLst>
                <a:path w="8319134" h="480059">
                  <a:moveTo>
                    <a:pt x="8277608" y="480059"/>
                  </a:moveTo>
                  <a:lnTo>
                    <a:pt x="41145" y="480059"/>
                  </a:lnTo>
                  <a:lnTo>
                    <a:pt x="25130" y="476826"/>
                  </a:lnTo>
                  <a:lnTo>
                    <a:pt x="12051" y="468008"/>
                  </a:lnTo>
                  <a:lnTo>
                    <a:pt x="3233" y="454929"/>
                  </a:lnTo>
                  <a:lnTo>
                    <a:pt x="0" y="438914"/>
                  </a:lnTo>
                  <a:lnTo>
                    <a:pt x="0" y="41145"/>
                  </a:lnTo>
                  <a:lnTo>
                    <a:pt x="3233" y="25130"/>
                  </a:lnTo>
                  <a:lnTo>
                    <a:pt x="12051" y="12051"/>
                  </a:lnTo>
                  <a:lnTo>
                    <a:pt x="25130" y="3233"/>
                  </a:lnTo>
                  <a:lnTo>
                    <a:pt x="41145" y="0"/>
                  </a:lnTo>
                  <a:lnTo>
                    <a:pt x="8277608" y="0"/>
                  </a:lnTo>
                  <a:lnTo>
                    <a:pt x="8311841" y="18318"/>
                  </a:lnTo>
                  <a:lnTo>
                    <a:pt x="8318754" y="41145"/>
                  </a:lnTo>
                  <a:lnTo>
                    <a:pt x="8318754" y="438914"/>
                  </a:lnTo>
                  <a:lnTo>
                    <a:pt x="8315520" y="454929"/>
                  </a:lnTo>
                  <a:lnTo>
                    <a:pt x="8306702" y="468008"/>
                  </a:lnTo>
                  <a:lnTo>
                    <a:pt x="8293624" y="476826"/>
                  </a:lnTo>
                  <a:lnTo>
                    <a:pt x="8277608" y="480059"/>
                  </a:lnTo>
                  <a:close/>
                </a:path>
              </a:pathLst>
            </a:custGeom>
            <a:solidFill>
              <a:srgbClr val="F4F4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11480" y="1062989"/>
              <a:ext cx="8319134" cy="480059"/>
            </a:xfrm>
            <a:custGeom>
              <a:avLst/>
              <a:gdLst/>
              <a:ahLst/>
              <a:cxnLst/>
              <a:rect l="l" t="t" r="r" b="b"/>
              <a:pathLst>
                <a:path w="8319134" h="480059">
                  <a:moveTo>
                    <a:pt x="0" y="41145"/>
                  </a:moveTo>
                  <a:lnTo>
                    <a:pt x="3233" y="25130"/>
                  </a:lnTo>
                  <a:lnTo>
                    <a:pt x="12051" y="12051"/>
                  </a:lnTo>
                  <a:lnTo>
                    <a:pt x="25130" y="3233"/>
                  </a:lnTo>
                  <a:lnTo>
                    <a:pt x="41145" y="0"/>
                  </a:lnTo>
                  <a:lnTo>
                    <a:pt x="8277608" y="0"/>
                  </a:lnTo>
                  <a:lnTo>
                    <a:pt x="8311841" y="18318"/>
                  </a:lnTo>
                  <a:lnTo>
                    <a:pt x="8318754" y="41145"/>
                  </a:lnTo>
                  <a:lnTo>
                    <a:pt x="8318754" y="438914"/>
                  </a:lnTo>
                  <a:lnTo>
                    <a:pt x="8315520" y="454929"/>
                  </a:lnTo>
                  <a:lnTo>
                    <a:pt x="8306702" y="468008"/>
                  </a:lnTo>
                  <a:lnTo>
                    <a:pt x="8293624" y="476826"/>
                  </a:lnTo>
                  <a:lnTo>
                    <a:pt x="8277608" y="480059"/>
                  </a:lnTo>
                  <a:lnTo>
                    <a:pt x="41145" y="480059"/>
                  </a:lnTo>
                  <a:lnTo>
                    <a:pt x="25130" y="476826"/>
                  </a:lnTo>
                  <a:lnTo>
                    <a:pt x="12051" y="468008"/>
                  </a:lnTo>
                  <a:lnTo>
                    <a:pt x="3233" y="454929"/>
                  </a:lnTo>
                  <a:lnTo>
                    <a:pt x="0" y="438914"/>
                  </a:lnTo>
                  <a:lnTo>
                    <a:pt x="0" y="41145"/>
                  </a:lnTo>
                  <a:close/>
                </a:path>
              </a:pathLst>
            </a:custGeom>
            <a:ln w="9524">
              <a:solidFill>
                <a:srgbClr val="E3E4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549656" y="1179576"/>
            <a:ext cx="28130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25" b="1">
                <a:solidFill>
                  <a:srgbClr val="E17039"/>
                </a:solidFill>
                <a:latin typeface="Cambria"/>
                <a:cs typeface="Cambria"/>
              </a:rPr>
              <a:t>01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50290" y="1132332"/>
            <a:ext cx="132143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1A1F2B"/>
                </a:solidFill>
                <a:latin typeface="Calibri"/>
                <a:cs typeface="Calibri"/>
              </a:rPr>
              <a:t>Problem</a:t>
            </a:r>
            <a:r>
              <a:rPr dirty="0" sz="1100" spc="-25" b="1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A1F2B"/>
                </a:solidFill>
                <a:latin typeface="Calibri"/>
                <a:cs typeface="Calibri"/>
              </a:rPr>
              <a:t>&amp;</a:t>
            </a:r>
            <a:r>
              <a:rPr dirty="0" sz="1100" spc="-25" b="1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1A1F2B"/>
                </a:solidFill>
                <a:latin typeface="Calibri"/>
                <a:cs typeface="Calibri"/>
              </a:rPr>
              <a:t>Motivation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22040" y="1244600"/>
            <a:ext cx="275971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What</a:t>
            </a:r>
            <a:r>
              <a:rPr dirty="0" sz="900" spc="-1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the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task</a:t>
            </a:r>
            <a:r>
              <a:rPr dirty="0" sz="900" spc="-1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is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and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why</a:t>
            </a:r>
            <a:r>
              <a:rPr dirty="0" sz="900" spc="-1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a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 parametric formulation</a:t>
            </a:r>
            <a:r>
              <a:rPr dirty="0" sz="900" spc="-1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matters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06717" y="1593151"/>
            <a:ext cx="8328659" cy="489584"/>
            <a:chOff x="406717" y="1593151"/>
            <a:chExt cx="8328659" cy="489584"/>
          </a:xfrm>
        </p:grpSpPr>
        <p:sp>
          <p:nvSpPr>
            <p:cNvPr id="12" name="object 12"/>
            <p:cNvSpPr/>
            <p:nvPr/>
          </p:nvSpPr>
          <p:spPr>
            <a:xfrm>
              <a:off x="411480" y="1597913"/>
              <a:ext cx="8319134" cy="480059"/>
            </a:xfrm>
            <a:custGeom>
              <a:avLst/>
              <a:gdLst/>
              <a:ahLst/>
              <a:cxnLst/>
              <a:rect l="l" t="t" r="r" b="b"/>
              <a:pathLst>
                <a:path w="8319134" h="480060">
                  <a:moveTo>
                    <a:pt x="8277608" y="480059"/>
                  </a:moveTo>
                  <a:lnTo>
                    <a:pt x="41145" y="480059"/>
                  </a:lnTo>
                  <a:lnTo>
                    <a:pt x="25130" y="476826"/>
                  </a:lnTo>
                  <a:lnTo>
                    <a:pt x="12051" y="468008"/>
                  </a:lnTo>
                  <a:lnTo>
                    <a:pt x="3233" y="454929"/>
                  </a:lnTo>
                  <a:lnTo>
                    <a:pt x="0" y="438914"/>
                  </a:lnTo>
                  <a:lnTo>
                    <a:pt x="0" y="41145"/>
                  </a:lnTo>
                  <a:lnTo>
                    <a:pt x="3233" y="25130"/>
                  </a:lnTo>
                  <a:lnTo>
                    <a:pt x="12051" y="12051"/>
                  </a:lnTo>
                  <a:lnTo>
                    <a:pt x="25130" y="3233"/>
                  </a:lnTo>
                  <a:lnTo>
                    <a:pt x="41145" y="0"/>
                  </a:lnTo>
                  <a:lnTo>
                    <a:pt x="8277608" y="0"/>
                  </a:lnTo>
                  <a:lnTo>
                    <a:pt x="8311841" y="18318"/>
                  </a:lnTo>
                  <a:lnTo>
                    <a:pt x="8318754" y="41145"/>
                  </a:lnTo>
                  <a:lnTo>
                    <a:pt x="8318754" y="438914"/>
                  </a:lnTo>
                  <a:lnTo>
                    <a:pt x="8315520" y="454929"/>
                  </a:lnTo>
                  <a:lnTo>
                    <a:pt x="8306702" y="468008"/>
                  </a:lnTo>
                  <a:lnTo>
                    <a:pt x="8293624" y="476826"/>
                  </a:lnTo>
                  <a:lnTo>
                    <a:pt x="8277608" y="480059"/>
                  </a:lnTo>
                  <a:close/>
                </a:path>
              </a:pathLst>
            </a:custGeom>
            <a:solidFill>
              <a:srgbClr val="F4F4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11480" y="1597913"/>
              <a:ext cx="8319134" cy="480059"/>
            </a:xfrm>
            <a:custGeom>
              <a:avLst/>
              <a:gdLst/>
              <a:ahLst/>
              <a:cxnLst/>
              <a:rect l="l" t="t" r="r" b="b"/>
              <a:pathLst>
                <a:path w="8319134" h="480060">
                  <a:moveTo>
                    <a:pt x="0" y="41145"/>
                  </a:moveTo>
                  <a:lnTo>
                    <a:pt x="3233" y="25130"/>
                  </a:lnTo>
                  <a:lnTo>
                    <a:pt x="12051" y="12051"/>
                  </a:lnTo>
                  <a:lnTo>
                    <a:pt x="25130" y="3233"/>
                  </a:lnTo>
                  <a:lnTo>
                    <a:pt x="41145" y="0"/>
                  </a:lnTo>
                  <a:lnTo>
                    <a:pt x="8277608" y="0"/>
                  </a:lnTo>
                  <a:lnTo>
                    <a:pt x="8311841" y="18318"/>
                  </a:lnTo>
                  <a:lnTo>
                    <a:pt x="8318754" y="41145"/>
                  </a:lnTo>
                  <a:lnTo>
                    <a:pt x="8318754" y="438914"/>
                  </a:lnTo>
                  <a:lnTo>
                    <a:pt x="8315520" y="454929"/>
                  </a:lnTo>
                  <a:lnTo>
                    <a:pt x="8306702" y="468008"/>
                  </a:lnTo>
                  <a:lnTo>
                    <a:pt x="8293624" y="476826"/>
                  </a:lnTo>
                  <a:lnTo>
                    <a:pt x="8277608" y="480059"/>
                  </a:lnTo>
                  <a:lnTo>
                    <a:pt x="41145" y="480059"/>
                  </a:lnTo>
                  <a:lnTo>
                    <a:pt x="25130" y="476826"/>
                  </a:lnTo>
                  <a:lnTo>
                    <a:pt x="12051" y="468008"/>
                  </a:lnTo>
                  <a:lnTo>
                    <a:pt x="3233" y="454929"/>
                  </a:lnTo>
                  <a:lnTo>
                    <a:pt x="0" y="438914"/>
                  </a:lnTo>
                  <a:lnTo>
                    <a:pt x="0" y="41145"/>
                  </a:lnTo>
                  <a:close/>
                </a:path>
              </a:pathLst>
            </a:custGeom>
            <a:ln w="9524">
              <a:solidFill>
                <a:srgbClr val="E3E4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549656" y="1714500"/>
            <a:ext cx="28130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25" b="1">
                <a:solidFill>
                  <a:srgbClr val="E17039"/>
                </a:solidFill>
                <a:latin typeface="Cambria"/>
                <a:cs typeface="Cambria"/>
              </a:rPr>
              <a:t>02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50290" y="1667255"/>
            <a:ext cx="120967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1A1F2B"/>
                </a:solidFill>
                <a:latin typeface="Calibri"/>
                <a:cs typeface="Calibri"/>
              </a:rPr>
              <a:t>Background</a:t>
            </a:r>
            <a:r>
              <a:rPr dirty="0" sz="1100" spc="-60" b="1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1A1F2B"/>
                </a:solidFill>
                <a:latin typeface="Calibri"/>
                <a:cs typeface="Calibri"/>
              </a:rPr>
              <a:t>Reading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22040" y="1779524"/>
            <a:ext cx="30340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Affine </a:t>
            </a:r>
            <a:r>
              <a:rPr dirty="0" sz="900" spc="-20">
                <a:solidFill>
                  <a:srgbClr val="6B7280"/>
                </a:solidFill>
                <a:latin typeface="Calibri"/>
                <a:cs typeface="Calibri"/>
              </a:rPr>
              <a:t>geometry,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STN,</a:t>
            </a:r>
            <a:r>
              <a:rPr dirty="0" sz="900" spc="-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6B7280"/>
                </a:solidFill>
                <a:latin typeface="Calibri"/>
                <a:cs typeface="Calibri"/>
              </a:rPr>
              <a:t>CLIP,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 MiniLM,</a:t>
            </a:r>
            <a:r>
              <a:rPr dirty="0" sz="900" spc="-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ARO, pre-trained</a:t>
            </a:r>
            <a:r>
              <a:rPr dirty="0" sz="900" spc="-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model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6B7280"/>
                </a:solidFill>
                <a:latin typeface="Calibri"/>
                <a:cs typeface="Calibri"/>
              </a:rPr>
              <a:t>data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06717" y="2128075"/>
            <a:ext cx="8328659" cy="489584"/>
            <a:chOff x="406717" y="2128075"/>
            <a:chExt cx="8328659" cy="489584"/>
          </a:xfrm>
        </p:grpSpPr>
        <p:sp>
          <p:nvSpPr>
            <p:cNvPr id="18" name="object 18"/>
            <p:cNvSpPr/>
            <p:nvPr/>
          </p:nvSpPr>
          <p:spPr>
            <a:xfrm>
              <a:off x="411480" y="2132838"/>
              <a:ext cx="8319134" cy="480059"/>
            </a:xfrm>
            <a:custGeom>
              <a:avLst/>
              <a:gdLst/>
              <a:ahLst/>
              <a:cxnLst/>
              <a:rect l="l" t="t" r="r" b="b"/>
              <a:pathLst>
                <a:path w="8319134" h="480060">
                  <a:moveTo>
                    <a:pt x="8277608" y="480059"/>
                  </a:moveTo>
                  <a:lnTo>
                    <a:pt x="41145" y="480059"/>
                  </a:lnTo>
                  <a:lnTo>
                    <a:pt x="25130" y="476826"/>
                  </a:lnTo>
                  <a:lnTo>
                    <a:pt x="12051" y="468008"/>
                  </a:lnTo>
                  <a:lnTo>
                    <a:pt x="3233" y="454929"/>
                  </a:lnTo>
                  <a:lnTo>
                    <a:pt x="0" y="438914"/>
                  </a:lnTo>
                  <a:lnTo>
                    <a:pt x="0" y="41145"/>
                  </a:lnTo>
                  <a:lnTo>
                    <a:pt x="3233" y="25130"/>
                  </a:lnTo>
                  <a:lnTo>
                    <a:pt x="12051" y="12051"/>
                  </a:lnTo>
                  <a:lnTo>
                    <a:pt x="25130" y="3233"/>
                  </a:lnTo>
                  <a:lnTo>
                    <a:pt x="41145" y="0"/>
                  </a:lnTo>
                  <a:lnTo>
                    <a:pt x="8277608" y="0"/>
                  </a:lnTo>
                  <a:lnTo>
                    <a:pt x="8311841" y="18318"/>
                  </a:lnTo>
                  <a:lnTo>
                    <a:pt x="8318754" y="41145"/>
                  </a:lnTo>
                  <a:lnTo>
                    <a:pt x="8318754" y="438914"/>
                  </a:lnTo>
                  <a:lnTo>
                    <a:pt x="8315520" y="454929"/>
                  </a:lnTo>
                  <a:lnTo>
                    <a:pt x="8306702" y="468008"/>
                  </a:lnTo>
                  <a:lnTo>
                    <a:pt x="8293624" y="476826"/>
                  </a:lnTo>
                  <a:lnTo>
                    <a:pt x="8277608" y="480059"/>
                  </a:lnTo>
                  <a:close/>
                </a:path>
              </a:pathLst>
            </a:custGeom>
            <a:solidFill>
              <a:srgbClr val="F4F4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11480" y="2132838"/>
              <a:ext cx="8319134" cy="480059"/>
            </a:xfrm>
            <a:custGeom>
              <a:avLst/>
              <a:gdLst/>
              <a:ahLst/>
              <a:cxnLst/>
              <a:rect l="l" t="t" r="r" b="b"/>
              <a:pathLst>
                <a:path w="8319134" h="480060">
                  <a:moveTo>
                    <a:pt x="0" y="41145"/>
                  </a:moveTo>
                  <a:lnTo>
                    <a:pt x="3233" y="25130"/>
                  </a:lnTo>
                  <a:lnTo>
                    <a:pt x="12051" y="12051"/>
                  </a:lnTo>
                  <a:lnTo>
                    <a:pt x="25130" y="3233"/>
                  </a:lnTo>
                  <a:lnTo>
                    <a:pt x="41145" y="0"/>
                  </a:lnTo>
                  <a:lnTo>
                    <a:pt x="8277608" y="0"/>
                  </a:lnTo>
                  <a:lnTo>
                    <a:pt x="8311841" y="18318"/>
                  </a:lnTo>
                  <a:lnTo>
                    <a:pt x="8318754" y="41145"/>
                  </a:lnTo>
                  <a:lnTo>
                    <a:pt x="8318754" y="438914"/>
                  </a:lnTo>
                  <a:lnTo>
                    <a:pt x="8315520" y="454929"/>
                  </a:lnTo>
                  <a:lnTo>
                    <a:pt x="8306702" y="468008"/>
                  </a:lnTo>
                  <a:lnTo>
                    <a:pt x="8293624" y="476826"/>
                  </a:lnTo>
                  <a:lnTo>
                    <a:pt x="8277608" y="480059"/>
                  </a:lnTo>
                  <a:lnTo>
                    <a:pt x="41145" y="480059"/>
                  </a:lnTo>
                  <a:lnTo>
                    <a:pt x="25130" y="476826"/>
                  </a:lnTo>
                  <a:lnTo>
                    <a:pt x="12051" y="468008"/>
                  </a:lnTo>
                  <a:lnTo>
                    <a:pt x="3233" y="454929"/>
                  </a:lnTo>
                  <a:lnTo>
                    <a:pt x="0" y="438914"/>
                  </a:lnTo>
                  <a:lnTo>
                    <a:pt x="0" y="41145"/>
                  </a:lnTo>
                  <a:close/>
                </a:path>
              </a:pathLst>
            </a:custGeom>
            <a:ln w="9524">
              <a:solidFill>
                <a:srgbClr val="E3E4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549656" y="2249424"/>
            <a:ext cx="28130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25" b="1">
                <a:solidFill>
                  <a:srgbClr val="E17039"/>
                </a:solidFill>
                <a:latin typeface="Cambria"/>
                <a:cs typeface="Cambria"/>
              </a:rPr>
              <a:t>03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50290" y="2202180"/>
            <a:ext cx="121094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1A1F2B"/>
                </a:solidFill>
                <a:latin typeface="Calibri"/>
                <a:cs typeface="Calibri"/>
              </a:rPr>
              <a:t>Codebases</a:t>
            </a:r>
            <a:r>
              <a:rPr dirty="0" sz="1100" spc="-45" b="1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1A1F2B"/>
                </a:solidFill>
                <a:latin typeface="Calibri"/>
                <a:cs typeface="Calibri"/>
              </a:rPr>
              <a:t>Surveyed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622040" y="2314448"/>
            <a:ext cx="185102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6B7280"/>
                </a:solidFill>
                <a:latin typeface="Calibri"/>
                <a:cs typeface="Calibri"/>
              </a:rPr>
              <a:t>Tools</a:t>
            </a:r>
            <a:r>
              <a:rPr dirty="0" sz="900" spc="-1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evaluated</a:t>
            </a:r>
            <a:r>
              <a:rPr dirty="0" sz="900" spc="-1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for</a:t>
            </a:r>
            <a:r>
              <a:rPr dirty="0" sz="900" spc="-1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the</a:t>
            </a:r>
            <a:r>
              <a:rPr dirty="0" sz="900" spc="-1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implementation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06717" y="2662999"/>
            <a:ext cx="8328659" cy="489584"/>
            <a:chOff x="406717" y="2662999"/>
            <a:chExt cx="8328659" cy="489584"/>
          </a:xfrm>
        </p:grpSpPr>
        <p:sp>
          <p:nvSpPr>
            <p:cNvPr id="24" name="object 24"/>
            <p:cNvSpPr/>
            <p:nvPr/>
          </p:nvSpPr>
          <p:spPr>
            <a:xfrm>
              <a:off x="411480" y="2667761"/>
              <a:ext cx="8319134" cy="480059"/>
            </a:xfrm>
            <a:custGeom>
              <a:avLst/>
              <a:gdLst/>
              <a:ahLst/>
              <a:cxnLst/>
              <a:rect l="l" t="t" r="r" b="b"/>
              <a:pathLst>
                <a:path w="8319134" h="480060">
                  <a:moveTo>
                    <a:pt x="8277608" y="480059"/>
                  </a:moveTo>
                  <a:lnTo>
                    <a:pt x="41145" y="480059"/>
                  </a:lnTo>
                  <a:lnTo>
                    <a:pt x="25130" y="476826"/>
                  </a:lnTo>
                  <a:lnTo>
                    <a:pt x="12051" y="468008"/>
                  </a:lnTo>
                  <a:lnTo>
                    <a:pt x="3233" y="454929"/>
                  </a:lnTo>
                  <a:lnTo>
                    <a:pt x="0" y="438913"/>
                  </a:lnTo>
                  <a:lnTo>
                    <a:pt x="0" y="41145"/>
                  </a:lnTo>
                  <a:lnTo>
                    <a:pt x="3233" y="25130"/>
                  </a:lnTo>
                  <a:lnTo>
                    <a:pt x="12051" y="12051"/>
                  </a:lnTo>
                  <a:lnTo>
                    <a:pt x="25130" y="3233"/>
                  </a:lnTo>
                  <a:lnTo>
                    <a:pt x="41145" y="0"/>
                  </a:lnTo>
                  <a:lnTo>
                    <a:pt x="8277608" y="0"/>
                  </a:lnTo>
                  <a:lnTo>
                    <a:pt x="8311841" y="18318"/>
                  </a:lnTo>
                  <a:lnTo>
                    <a:pt x="8318754" y="41145"/>
                  </a:lnTo>
                  <a:lnTo>
                    <a:pt x="8318754" y="438913"/>
                  </a:lnTo>
                  <a:lnTo>
                    <a:pt x="8315520" y="454929"/>
                  </a:lnTo>
                  <a:lnTo>
                    <a:pt x="8306702" y="468008"/>
                  </a:lnTo>
                  <a:lnTo>
                    <a:pt x="8293624" y="476826"/>
                  </a:lnTo>
                  <a:lnTo>
                    <a:pt x="8277608" y="480059"/>
                  </a:lnTo>
                  <a:close/>
                </a:path>
              </a:pathLst>
            </a:custGeom>
            <a:solidFill>
              <a:srgbClr val="F4F4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411480" y="2667761"/>
              <a:ext cx="8319134" cy="480059"/>
            </a:xfrm>
            <a:custGeom>
              <a:avLst/>
              <a:gdLst/>
              <a:ahLst/>
              <a:cxnLst/>
              <a:rect l="l" t="t" r="r" b="b"/>
              <a:pathLst>
                <a:path w="8319134" h="480060">
                  <a:moveTo>
                    <a:pt x="0" y="41145"/>
                  </a:moveTo>
                  <a:lnTo>
                    <a:pt x="3233" y="25130"/>
                  </a:lnTo>
                  <a:lnTo>
                    <a:pt x="12051" y="12051"/>
                  </a:lnTo>
                  <a:lnTo>
                    <a:pt x="25130" y="3233"/>
                  </a:lnTo>
                  <a:lnTo>
                    <a:pt x="41145" y="0"/>
                  </a:lnTo>
                  <a:lnTo>
                    <a:pt x="8277608" y="0"/>
                  </a:lnTo>
                  <a:lnTo>
                    <a:pt x="8311841" y="18318"/>
                  </a:lnTo>
                  <a:lnTo>
                    <a:pt x="8318754" y="41145"/>
                  </a:lnTo>
                  <a:lnTo>
                    <a:pt x="8318754" y="438913"/>
                  </a:lnTo>
                  <a:lnTo>
                    <a:pt x="8315520" y="454929"/>
                  </a:lnTo>
                  <a:lnTo>
                    <a:pt x="8306702" y="468008"/>
                  </a:lnTo>
                  <a:lnTo>
                    <a:pt x="8293624" y="476826"/>
                  </a:lnTo>
                  <a:lnTo>
                    <a:pt x="8277608" y="480059"/>
                  </a:lnTo>
                  <a:lnTo>
                    <a:pt x="41145" y="480059"/>
                  </a:lnTo>
                  <a:lnTo>
                    <a:pt x="25130" y="476826"/>
                  </a:lnTo>
                  <a:lnTo>
                    <a:pt x="12051" y="468008"/>
                  </a:lnTo>
                  <a:lnTo>
                    <a:pt x="3233" y="454929"/>
                  </a:lnTo>
                  <a:lnTo>
                    <a:pt x="0" y="438913"/>
                  </a:lnTo>
                  <a:lnTo>
                    <a:pt x="0" y="41145"/>
                  </a:lnTo>
                  <a:close/>
                </a:path>
              </a:pathLst>
            </a:custGeom>
            <a:ln w="9524">
              <a:solidFill>
                <a:srgbClr val="E3E4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549656" y="2784348"/>
            <a:ext cx="28130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25" b="1">
                <a:solidFill>
                  <a:srgbClr val="E17039"/>
                </a:solidFill>
                <a:latin typeface="Cambria"/>
                <a:cs typeface="Cambria"/>
              </a:rPr>
              <a:t>04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50290" y="2737104"/>
            <a:ext cx="89154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solidFill>
                  <a:srgbClr val="1A1F2B"/>
                </a:solidFill>
                <a:latin typeface="Calibri"/>
                <a:cs typeface="Calibri"/>
              </a:rPr>
              <a:t>Dataset Design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622040" y="2849372"/>
            <a:ext cx="294449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Why</a:t>
            </a:r>
            <a:r>
              <a:rPr dirty="0" sz="900" spc="-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we</a:t>
            </a:r>
            <a:r>
              <a:rPr dirty="0" sz="900" spc="-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generate,</a:t>
            </a:r>
            <a:r>
              <a:rPr dirty="0" sz="900" spc="-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the</a:t>
            </a:r>
            <a:r>
              <a:rPr dirty="0" sz="900" spc="-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6B7280"/>
                </a:solidFill>
                <a:latin typeface="Calibri"/>
                <a:cs typeface="Calibri"/>
              </a:rPr>
              <a:t>grammar,</a:t>
            </a:r>
            <a:r>
              <a:rPr dirty="0" sz="900" spc="-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magnitude</a:t>
            </a:r>
            <a:r>
              <a:rPr dirty="0" sz="900" spc="-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distributions,</a:t>
            </a:r>
            <a:r>
              <a:rPr dirty="0" sz="900" spc="-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splits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06717" y="3197923"/>
            <a:ext cx="8328659" cy="489584"/>
            <a:chOff x="406717" y="3197923"/>
            <a:chExt cx="8328659" cy="489584"/>
          </a:xfrm>
        </p:grpSpPr>
        <p:sp>
          <p:nvSpPr>
            <p:cNvPr id="30" name="object 30"/>
            <p:cNvSpPr/>
            <p:nvPr/>
          </p:nvSpPr>
          <p:spPr>
            <a:xfrm>
              <a:off x="411480" y="3202685"/>
              <a:ext cx="8319134" cy="480059"/>
            </a:xfrm>
            <a:custGeom>
              <a:avLst/>
              <a:gdLst/>
              <a:ahLst/>
              <a:cxnLst/>
              <a:rect l="l" t="t" r="r" b="b"/>
              <a:pathLst>
                <a:path w="8319134" h="480060">
                  <a:moveTo>
                    <a:pt x="8277608" y="480059"/>
                  </a:moveTo>
                  <a:lnTo>
                    <a:pt x="41145" y="480059"/>
                  </a:lnTo>
                  <a:lnTo>
                    <a:pt x="25130" y="476826"/>
                  </a:lnTo>
                  <a:lnTo>
                    <a:pt x="12051" y="468008"/>
                  </a:lnTo>
                  <a:lnTo>
                    <a:pt x="3233" y="454929"/>
                  </a:lnTo>
                  <a:lnTo>
                    <a:pt x="0" y="438913"/>
                  </a:lnTo>
                  <a:lnTo>
                    <a:pt x="0" y="41145"/>
                  </a:lnTo>
                  <a:lnTo>
                    <a:pt x="3233" y="25130"/>
                  </a:lnTo>
                  <a:lnTo>
                    <a:pt x="12051" y="12051"/>
                  </a:lnTo>
                  <a:lnTo>
                    <a:pt x="25130" y="3233"/>
                  </a:lnTo>
                  <a:lnTo>
                    <a:pt x="41145" y="0"/>
                  </a:lnTo>
                  <a:lnTo>
                    <a:pt x="8277608" y="0"/>
                  </a:lnTo>
                  <a:lnTo>
                    <a:pt x="8311841" y="18318"/>
                  </a:lnTo>
                  <a:lnTo>
                    <a:pt x="8318754" y="41145"/>
                  </a:lnTo>
                  <a:lnTo>
                    <a:pt x="8318754" y="438913"/>
                  </a:lnTo>
                  <a:lnTo>
                    <a:pt x="8315520" y="454929"/>
                  </a:lnTo>
                  <a:lnTo>
                    <a:pt x="8306702" y="468008"/>
                  </a:lnTo>
                  <a:lnTo>
                    <a:pt x="8293624" y="476826"/>
                  </a:lnTo>
                  <a:lnTo>
                    <a:pt x="8277608" y="480059"/>
                  </a:lnTo>
                  <a:close/>
                </a:path>
              </a:pathLst>
            </a:custGeom>
            <a:solidFill>
              <a:srgbClr val="F4F4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411480" y="3202685"/>
              <a:ext cx="8319134" cy="480059"/>
            </a:xfrm>
            <a:custGeom>
              <a:avLst/>
              <a:gdLst/>
              <a:ahLst/>
              <a:cxnLst/>
              <a:rect l="l" t="t" r="r" b="b"/>
              <a:pathLst>
                <a:path w="8319134" h="480060">
                  <a:moveTo>
                    <a:pt x="0" y="41145"/>
                  </a:moveTo>
                  <a:lnTo>
                    <a:pt x="3233" y="25130"/>
                  </a:lnTo>
                  <a:lnTo>
                    <a:pt x="12051" y="12051"/>
                  </a:lnTo>
                  <a:lnTo>
                    <a:pt x="25130" y="3233"/>
                  </a:lnTo>
                  <a:lnTo>
                    <a:pt x="41145" y="0"/>
                  </a:lnTo>
                  <a:lnTo>
                    <a:pt x="8277608" y="0"/>
                  </a:lnTo>
                  <a:lnTo>
                    <a:pt x="8311841" y="18318"/>
                  </a:lnTo>
                  <a:lnTo>
                    <a:pt x="8318754" y="41145"/>
                  </a:lnTo>
                  <a:lnTo>
                    <a:pt x="8318754" y="438913"/>
                  </a:lnTo>
                  <a:lnTo>
                    <a:pt x="8315520" y="454929"/>
                  </a:lnTo>
                  <a:lnTo>
                    <a:pt x="8306702" y="468008"/>
                  </a:lnTo>
                  <a:lnTo>
                    <a:pt x="8293624" y="476826"/>
                  </a:lnTo>
                  <a:lnTo>
                    <a:pt x="8277608" y="480059"/>
                  </a:lnTo>
                  <a:lnTo>
                    <a:pt x="41145" y="480059"/>
                  </a:lnTo>
                  <a:lnTo>
                    <a:pt x="25130" y="476826"/>
                  </a:lnTo>
                  <a:lnTo>
                    <a:pt x="12051" y="468008"/>
                  </a:lnTo>
                  <a:lnTo>
                    <a:pt x="3233" y="454929"/>
                  </a:lnTo>
                  <a:lnTo>
                    <a:pt x="0" y="438913"/>
                  </a:lnTo>
                  <a:lnTo>
                    <a:pt x="0" y="41145"/>
                  </a:lnTo>
                  <a:close/>
                </a:path>
              </a:pathLst>
            </a:custGeom>
            <a:ln w="9524">
              <a:solidFill>
                <a:srgbClr val="E3E4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549656" y="3319272"/>
            <a:ext cx="28130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25" b="1">
                <a:solidFill>
                  <a:srgbClr val="E17039"/>
                </a:solidFill>
                <a:latin typeface="Cambria"/>
                <a:cs typeface="Cambria"/>
              </a:rPr>
              <a:t>05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050290" y="3272028"/>
            <a:ext cx="108902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1A1F2B"/>
                </a:solidFill>
                <a:latin typeface="Calibri"/>
                <a:cs typeface="Calibri"/>
              </a:rPr>
              <a:t>Planned</a:t>
            </a:r>
            <a:r>
              <a:rPr dirty="0" sz="1100" spc="-35" b="1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1A1F2B"/>
                </a:solidFill>
                <a:latin typeface="Calibri"/>
                <a:cs typeface="Calibri"/>
              </a:rPr>
              <a:t>Approach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622040" y="3384296"/>
            <a:ext cx="29857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Parameterisation,</a:t>
            </a:r>
            <a:r>
              <a:rPr dirty="0" sz="900" spc="-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architecture,</a:t>
            </a:r>
            <a:r>
              <a:rPr dirty="0" sz="900" spc="-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and the</a:t>
            </a:r>
            <a:r>
              <a:rPr dirty="0" sz="900" spc="-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gated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multi-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head</a:t>
            </a:r>
            <a:r>
              <a:rPr dirty="0" sz="900" spc="-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model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406717" y="3732847"/>
            <a:ext cx="8328659" cy="489584"/>
            <a:chOff x="406717" y="3732847"/>
            <a:chExt cx="8328659" cy="489584"/>
          </a:xfrm>
        </p:grpSpPr>
        <p:sp>
          <p:nvSpPr>
            <p:cNvPr id="36" name="object 36"/>
            <p:cNvSpPr/>
            <p:nvPr/>
          </p:nvSpPr>
          <p:spPr>
            <a:xfrm>
              <a:off x="411480" y="3737609"/>
              <a:ext cx="8319134" cy="480059"/>
            </a:xfrm>
            <a:custGeom>
              <a:avLst/>
              <a:gdLst/>
              <a:ahLst/>
              <a:cxnLst/>
              <a:rect l="l" t="t" r="r" b="b"/>
              <a:pathLst>
                <a:path w="8319134" h="480060">
                  <a:moveTo>
                    <a:pt x="8277608" y="480059"/>
                  </a:moveTo>
                  <a:lnTo>
                    <a:pt x="41145" y="480059"/>
                  </a:lnTo>
                  <a:lnTo>
                    <a:pt x="25130" y="476826"/>
                  </a:lnTo>
                  <a:lnTo>
                    <a:pt x="12051" y="468008"/>
                  </a:lnTo>
                  <a:lnTo>
                    <a:pt x="3233" y="454930"/>
                  </a:lnTo>
                  <a:lnTo>
                    <a:pt x="0" y="438914"/>
                  </a:lnTo>
                  <a:lnTo>
                    <a:pt x="0" y="41145"/>
                  </a:lnTo>
                  <a:lnTo>
                    <a:pt x="3233" y="25130"/>
                  </a:lnTo>
                  <a:lnTo>
                    <a:pt x="12051" y="12051"/>
                  </a:lnTo>
                  <a:lnTo>
                    <a:pt x="25130" y="3233"/>
                  </a:lnTo>
                  <a:lnTo>
                    <a:pt x="41145" y="0"/>
                  </a:lnTo>
                  <a:lnTo>
                    <a:pt x="8277608" y="0"/>
                  </a:lnTo>
                  <a:lnTo>
                    <a:pt x="8311841" y="18318"/>
                  </a:lnTo>
                  <a:lnTo>
                    <a:pt x="8318754" y="41145"/>
                  </a:lnTo>
                  <a:lnTo>
                    <a:pt x="8318754" y="438914"/>
                  </a:lnTo>
                  <a:lnTo>
                    <a:pt x="8315520" y="454930"/>
                  </a:lnTo>
                  <a:lnTo>
                    <a:pt x="8306702" y="468008"/>
                  </a:lnTo>
                  <a:lnTo>
                    <a:pt x="8293624" y="476826"/>
                  </a:lnTo>
                  <a:lnTo>
                    <a:pt x="8277608" y="480059"/>
                  </a:lnTo>
                  <a:close/>
                </a:path>
              </a:pathLst>
            </a:custGeom>
            <a:solidFill>
              <a:srgbClr val="F4F4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411480" y="3737609"/>
              <a:ext cx="8319134" cy="480059"/>
            </a:xfrm>
            <a:custGeom>
              <a:avLst/>
              <a:gdLst/>
              <a:ahLst/>
              <a:cxnLst/>
              <a:rect l="l" t="t" r="r" b="b"/>
              <a:pathLst>
                <a:path w="8319134" h="480060">
                  <a:moveTo>
                    <a:pt x="0" y="41145"/>
                  </a:moveTo>
                  <a:lnTo>
                    <a:pt x="3233" y="25130"/>
                  </a:lnTo>
                  <a:lnTo>
                    <a:pt x="12051" y="12051"/>
                  </a:lnTo>
                  <a:lnTo>
                    <a:pt x="25130" y="3233"/>
                  </a:lnTo>
                  <a:lnTo>
                    <a:pt x="41145" y="0"/>
                  </a:lnTo>
                  <a:lnTo>
                    <a:pt x="8277608" y="0"/>
                  </a:lnTo>
                  <a:lnTo>
                    <a:pt x="8311841" y="18318"/>
                  </a:lnTo>
                  <a:lnTo>
                    <a:pt x="8318754" y="41145"/>
                  </a:lnTo>
                  <a:lnTo>
                    <a:pt x="8318754" y="438914"/>
                  </a:lnTo>
                  <a:lnTo>
                    <a:pt x="8315520" y="454930"/>
                  </a:lnTo>
                  <a:lnTo>
                    <a:pt x="8306702" y="468008"/>
                  </a:lnTo>
                  <a:lnTo>
                    <a:pt x="8293624" y="476826"/>
                  </a:lnTo>
                  <a:lnTo>
                    <a:pt x="8277608" y="480059"/>
                  </a:lnTo>
                  <a:lnTo>
                    <a:pt x="41145" y="480059"/>
                  </a:lnTo>
                  <a:lnTo>
                    <a:pt x="25130" y="476826"/>
                  </a:lnTo>
                  <a:lnTo>
                    <a:pt x="12051" y="468008"/>
                  </a:lnTo>
                  <a:lnTo>
                    <a:pt x="3233" y="454930"/>
                  </a:lnTo>
                  <a:lnTo>
                    <a:pt x="0" y="438914"/>
                  </a:lnTo>
                  <a:lnTo>
                    <a:pt x="0" y="41145"/>
                  </a:lnTo>
                  <a:close/>
                </a:path>
              </a:pathLst>
            </a:custGeom>
            <a:ln w="9524">
              <a:solidFill>
                <a:srgbClr val="E3E4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549656" y="3854196"/>
            <a:ext cx="28130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25" b="1">
                <a:solidFill>
                  <a:srgbClr val="E17039"/>
                </a:solidFill>
                <a:latin typeface="Cambria"/>
                <a:cs typeface="Cambria"/>
              </a:rPr>
              <a:t>06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050290" y="3806952"/>
            <a:ext cx="151638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solidFill>
                  <a:srgbClr val="1A1F2B"/>
                </a:solidFill>
                <a:latin typeface="Calibri"/>
                <a:cs typeface="Calibri"/>
              </a:rPr>
              <a:t>Evaluation</a:t>
            </a:r>
            <a:r>
              <a:rPr dirty="0" sz="1100" spc="-20" b="1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A1F2B"/>
                </a:solidFill>
                <a:latin typeface="Calibri"/>
                <a:cs typeface="Calibri"/>
              </a:rPr>
              <a:t>&amp;</a:t>
            </a:r>
            <a:r>
              <a:rPr dirty="0" sz="1100" spc="-15" b="1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1A1F2B"/>
                </a:solidFill>
                <a:latin typeface="Calibri"/>
                <a:cs typeface="Calibri"/>
              </a:rPr>
              <a:t>Experiments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622040" y="3919220"/>
            <a:ext cx="25971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Metrics,</a:t>
            </a:r>
            <a:r>
              <a:rPr dirty="0" sz="900" spc="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ablation,</a:t>
            </a:r>
            <a:r>
              <a:rPr dirty="0" sz="900" spc="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failure</a:t>
            </a:r>
            <a:r>
              <a:rPr dirty="0" sz="900" spc="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analysis</a:t>
            </a:r>
            <a:r>
              <a:rPr dirty="0" sz="900" spc="1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and</a:t>
            </a:r>
            <a:r>
              <a:rPr dirty="0" sz="900" spc="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qualitative</a:t>
            </a:r>
            <a:r>
              <a:rPr dirty="0" sz="900" spc="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results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406717" y="4267771"/>
            <a:ext cx="8328659" cy="489584"/>
            <a:chOff x="406717" y="4267771"/>
            <a:chExt cx="8328659" cy="489584"/>
          </a:xfrm>
        </p:grpSpPr>
        <p:sp>
          <p:nvSpPr>
            <p:cNvPr id="42" name="object 42"/>
            <p:cNvSpPr/>
            <p:nvPr/>
          </p:nvSpPr>
          <p:spPr>
            <a:xfrm>
              <a:off x="411480" y="4272534"/>
              <a:ext cx="8319134" cy="480059"/>
            </a:xfrm>
            <a:custGeom>
              <a:avLst/>
              <a:gdLst/>
              <a:ahLst/>
              <a:cxnLst/>
              <a:rect l="l" t="t" r="r" b="b"/>
              <a:pathLst>
                <a:path w="8319134" h="480060">
                  <a:moveTo>
                    <a:pt x="8277608" y="480060"/>
                  </a:moveTo>
                  <a:lnTo>
                    <a:pt x="41145" y="480060"/>
                  </a:lnTo>
                  <a:lnTo>
                    <a:pt x="25130" y="476826"/>
                  </a:lnTo>
                  <a:lnTo>
                    <a:pt x="12051" y="468008"/>
                  </a:lnTo>
                  <a:lnTo>
                    <a:pt x="3233" y="454929"/>
                  </a:lnTo>
                  <a:lnTo>
                    <a:pt x="0" y="438913"/>
                  </a:lnTo>
                  <a:lnTo>
                    <a:pt x="0" y="41145"/>
                  </a:lnTo>
                  <a:lnTo>
                    <a:pt x="3233" y="25130"/>
                  </a:lnTo>
                  <a:lnTo>
                    <a:pt x="12051" y="12051"/>
                  </a:lnTo>
                  <a:lnTo>
                    <a:pt x="25130" y="3233"/>
                  </a:lnTo>
                  <a:lnTo>
                    <a:pt x="41145" y="0"/>
                  </a:lnTo>
                  <a:lnTo>
                    <a:pt x="8277608" y="0"/>
                  </a:lnTo>
                  <a:lnTo>
                    <a:pt x="8311841" y="18318"/>
                  </a:lnTo>
                  <a:lnTo>
                    <a:pt x="8318754" y="41145"/>
                  </a:lnTo>
                  <a:lnTo>
                    <a:pt x="8318754" y="438913"/>
                  </a:lnTo>
                  <a:lnTo>
                    <a:pt x="8315520" y="454929"/>
                  </a:lnTo>
                  <a:lnTo>
                    <a:pt x="8306702" y="468008"/>
                  </a:lnTo>
                  <a:lnTo>
                    <a:pt x="8293624" y="476826"/>
                  </a:lnTo>
                  <a:lnTo>
                    <a:pt x="8277608" y="480060"/>
                  </a:lnTo>
                  <a:close/>
                </a:path>
              </a:pathLst>
            </a:custGeom>
            <a:solidFill>
              <a:srgbClr val="F4F4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411480" y="4272534"/>
              <a:ext cx="8319134" cy="480059"/>
            </a:xfrm>
            <a:custGeom>
              <a:avLst/>
              <a:gdLst/>
              <a:ahLst/>
              <a:cxnLst/>
              <a:rect l="l" t="t" r="r" b="b"/>
              <a:pathLst>
                <a:path w="8319134" h="480060">
                  <a:moveTo>
                    <a:pt x="0" y="41145"/>
                  </a:moveTo>
                  <a:lnTo>
                    <a:pt x="3233" y="25130"/>
                  </a:lnTo>
                  <a:lnTo>
                    <a:pt x="12051" y="12051"/>
                  </a:lnTo>
                  <a:lnTo>
                    <a:pt x="25130" y="3233"/>
                  </a:lnTo>
                  <a:lnTo>
                    <a:pt x="41145" y="0"/>
                  </a:lnTo>
                  <a:lnTo>
                    <a:pt x="8277608" y="0"/>
                  </a:lnTo>
                  <a:lnTo>
                    <a:pt x="8311841" y="18318"/>
                  </a:lnTo>
                  <a:lnTo>
                    <a:pt x="8318754" y="41145"/>
                  </a:lnTo>
                  <a:lnTo>
                    <a:pt x="8318754" y="438913"/>
                  </a:lnTo>
                  <a:lnTo>
                    <a:pt x="8315520" y="454929"/>
                  </a:lnTo>
                  <a:lnTo>
                    <a:pt x="8306702" y="468008"/>
                  </a:lnTo>
                  <a:lnTo>
                    <a:pt x="8293624" y="476826"/>
                  </a:lnTo>
                  <a:lnTo>
                    <a:pt x="8277608" y="480060"/>
                  </a:lnTo>
                  <a:lnTo>
                    <a:pt x="41145" y="480060"/>
                  </a:lnTo>
                  <a:lnTo>
                    <a:pt x="25130" y="476826"/>
                  </a:lnTo>
                  <a:lnTo>
                    <a:pt x="12051" y="468008"/>
                  </a:lnTo>
                  <a:lnTo>
                    <a:pt x="3233" y="454929"/>
                  </a:lnTo>
                  <a:lnTo>
                    <a:pt x="0" y="438913"/>
                  </a:lnTo>
                  <a:lnTo>
                    <a:pt x="0" y="41145"/>
                  </a:lnTo>
                  <a:close/>
                </a:path>
              </a:pathLst>
            </a:custGeom>
            <a:ln w="9524">
              <a:solidFill>
                <a:srgbClr val="E3E4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 txBox="1"/>
          <p:nvPr/>
        </p:nvSpPr>
        <p:spPr>
          <a:xfrm>
            <a:off x="549656" y="4389120"/>
            <a:ext cx="28130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25" b="1">
                <a:solidFill>
                  <a:srgbClr val="E17039"/>
                </a:solidFill>
                <a:latin typeface="Cambria"/>
                <a:cs typeface="Cambria"/>
              </a:rPr>
              <a:t>07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050290" y="4341876"/>
            <a:ext cx="137668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1A1F2B"/>
                </a:solidFill>
                <a:latin typeface="Calibri"/>
                <a:cs typeface="Calibri"/>
              </a:rPr>
              <a:t>Roadmap</a:t>
            </a:r>
            <a:r>
              <a:rPr dirty="0" sz="1100" spc="-35" b="1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A1F2B"/>
                </a:solidFill>
                <a:latin typeface="Calibri"/>
                <a:cs typeface="Calibri"/>
              </a:rPr>
              <a:t>&amp;</a:t>
            </a:r>
            <a:r>
              <a:rPr dirty="0" sz="1100" spc="-30" b="1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1A1F2B"/>
                </a:solidFill>
                <a:latin typeface="Calibri"/>
                <a:cs typeface="Calibri"/>
              </a:rPr>
              <a:t>Milestones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622040" y="4454144"/>
            <a:ext cx="183896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Dated</a:t>
            </a:r>
            <a:r>
              <a:rPr dirty="0" sz="900" spc="-2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plan</a:t>
            </a:r>
            <a:r>
              <a:rPr dirty="0" sz="900" spc="-2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to</a:t>
            </a:r>
            <a:r>
              <a:rPr dirty="0" sz="900" spc="-2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the</a:t>
            </a:r>
            <a:r>
              <a:rPr dirty="0" sz="900" spc="-2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intensive</a:t>
            </a:r>
            <a:r>
              <a:rPr dirty="0" sz="900" spc="-2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assessment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7" name="object 4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65"/>
              </a:lnSpc>
            </a:pPr>
            <a:r>
              <a:rPr dirty="0"/>
              <a:t>IE</a:t>
            </a:r>
            <a:r>
              <a:rPr dirty="0" spc="-15"/>
              <a:t> </a:t>
            </a:r>
            <a:r>
              <a:rPr dirty="0"/>
              <a:t>643</a:t>
            </a:r>
            <a:r>
              <a:rPr dirty="0" spc="-15"/>
              <a:t> </a:t>
            </a:r>
            <a:r>
              <a:rPr dirty="0" spc="-10"/>
              <a:t>Course </a:t>
            </a:r>
            <a:r>
              <a:rPr dirty="0"/>
              <a:t>Project</a:t>
            </a:r>
            <a:r>
              <a:rPr dirty="0" spc="135"/>
              <a:t> </a:t>
            </a:r>
            <a:r>
              <a:rPr dirty="0"/>
              <a:t>·</a:t>
            </a:r>
            <a:r>
              <a:rPr dirty="0" spc="140"/>
              <a:t> </a:t>
            </a:r>
            <a:r>
              <a:rPr dirty="0" spc="-20"/>
              <a:t>Team</a:t>
            </a:r>
            <a:r>
              <a:rPr dirty="0" spc="-10"/>
              <a:t> DyoOptix</a:t>
            </a:r>
          </a:p>
        </p:txBody>
      </p:sp>
      <p:sp>
        <p:nvSpPr>
          <p:cNvPr id="48" name="object 4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65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8780" y="244602"/>
            <a:ext cx="42735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E17039"/>
                </a:solidFill>
                <a:latin typeface="Calibri"/>
                <a:cs typeface="Calibri"/>
              </a:rPr>
              <a:t>BLOCK</a:t>
            </a:r>
            <a:r>
              <a:rPr dirty="0" sz="800" spc="-4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800" spc="-25" b="1">
                <a:solidFill>
                  <a:srgbClr val="E17039"/>
                </a:solidFill>
                <a:latin typeface="Calibri"/>
                <a:cs typeface="Calibri"/>
              </a:rPr>
              <a:t>01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4398" y="507268"/>
            <a:ext cx="158180" cy="158180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Problem</a:t>
            </a:r>
            <a:r>
              <a:rPr dirty="0" spc="-90"/>
              <a:t> </a:t>
            </a:r>
            <a:r>
              <a:rPr dirty="0" spc="-10"/>
              <a:t>Statement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406717" y="1058227"/>
            <a:ext cx="8328659" cy="1003935"/>
            <a:chOff x="406717" y="1058227"/>
            <a:chExt cx="8328659" cy="1003935"/>
          </a:xfrm>
        </p:grpSpPr>
        <p:sp>
          <p:nvSpPr>
            <p:cNvPr id="6" name="object 6"/>
            <p:cNvSpPr/>
            <p:nvPr/>
          </p:nvSpPr>
          <p:spPr>
            <a:xfrm>
              <a:off x="411480" y="1062989"/>
              <a:ext cx="8319134" cy="994410"/>
            </a:xfrm>
            <a:custGeom>
              <a:avLst/>
              <a:gdLst/>
              <a:ahLst/>
              <a:cxnLst/>
              <a:rect l="l" t="t" r="r" b="b"/>
              <a:pathLst>
                <a:path w="8319134" h="994410">
                  <a:moveTo>
                    <a:pt x="8277604" y="994409"/>
                  </a:moveTo>
                  <a:lnTo>
                    <a:pt x="41148" y="994409"/>
                  </a:lnTo>
                  <a:lnTo>
                    <a:pt x="25131" y="991176"/>
                  </a:lnTo>
                  <a:lnTo>
                    <a:pt x="12052" y="982357"/>
                  </a:lnTo>
                  <a:lnTo>
                    <a:pt x="3233" y="969278"/>
                  </a:lnTo>
                  <a:lnTo>
                    <a:pt x="0" y="953261"/>
                  </a:lnTo>
                  <a:lnTo>
                    <a:pt x="0" y="41148"/>
                  </a:lnTo>
                  <a:lnTo>
                    <a:pt x="3233" y="25131"/>
                  </a:lnTo>
                  <a:lnTo>
                    <a:pt x="12052" y="12052"/>
                  </a:lnTo>
                  <a:lnTo>
                    <a:pt x="25131" y="3233"/>
                  </a:lnTo>
                  <a:lnTo>
                    <a:pt x="41148" y="0"/>
                  </a:lnTo>
                  <a:lnTo>
                    <a:pt x="8277604" y="0"/>
                  </a:lnTo>
                  <a:lnTo>
                    <a:pt x="8311840" y="18319"/>
                  </a:lnTo>
                  <a:lnTo>
                    <a:pt x="8318754" y="41148"/>
                  </a:lnTo>
                  <a:lnTo>
                    <a:pt x="8318754" y="953261"/>
                  </a:lnTo>
                  <a:lnTo>
                    <a:pt x="8315520" y="969278"/>
                  </a:lnTo>
                  <a:lnTo>
                    <a:pt x="8306701" y="982357"/>
                  </a:lnTo>
                  <a:lnTo>
                    <a:pt x="8293622" y="991176"/>
                  </a:lnTo>
                  <a:lnTo>
                    <a:pt x="8277604" y="994409"/>
                  </a:lnTo>
                  <a:close/>
                </a:path>
              </a:pathLst>
            </a:custGeom>
            <a:solidFill>
              <a:srgbClr val="F6F1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11480" y="1062989"/>
              <a:ext cx="8319134" cy="994410"/>
            </a:xfrm>
            <a:custGeom>
              <a:avLst/>
              <a:gdLst/>
              <a:ahLst/>
              <a:cxnLst/>
              <a:rect l="l" t="t" r="r" b="b"/>
              <a:pathLst>
                <a:path w="8319134" h="994410">
                  <a:moveTo>
                    <a:pt x="0" y="41148"/>
                  </a:moveTo>
                  <a:lnTo>
                    <a:pt x="3233" y="25131"/>
                  </a:lnTo>
                  <a:lnTo>
                    <a:pt x="12052" y="12052"/>
                  </a:lnTo>
                  <a:lnTo>
                    <a:pt x="25131" y="3233"/>
                  </a:lnTo>
                  <a:lnTo>
                    <a:pt x="41148" y="0"/>
                  </a:lnTo>
                  <a:lnTo>
                    <a:pt x="8277604" y="0"/>
                  </a:lnTo>
                  <a:lnTo>
                    <a:pt x="8311840" y="18319"/>
                  </a:lnTo>
                  <a:lnTo>
                    <a:pt x="8318754" y="41148"/>
                  </a:lnTo>
                  <a:lnTo>
                    <a:pt x="8318754" y="953261"/>
                  </a:lnTo>
                  <a:lnTo>
                    <a:pt x="8315520" y="969278"/>
                  </a:lnTo>
                  <a:lnTo>
                    <a:pt x="8306701" y="982357"/>
                  </a:lnTo>
                  <a:lnTo>
                    <a:pt x="8293622" y="991176"/>
                  </a:lnTo>
                  <a:lnTo>
                    <a:pt x="8277604" y="994409"/>
                  </a:lnTo>
                  <a:lnTo>
                    <a:pt x="41148" y="994409"/>
                  </a:lnTo>
                  <a:lnTo>
                    <a:pt x="25131" y="991176"/>
                  </a:lnTo>
                  <a:lnTo>
                    <a:pt x="12052" y="982357"/>
                  </a:lnTo>
                  <a:lnTo>
                    <a:pt x="3233" y="969278"/>
                  </a:lnTo>
                  <a:lnTo>
                    <a:pt x="0" y="953261"/>
                  </a:lnTo>
                  <a:lnTo>
                    <a:pt x="0" y="41148"/>
                  </a:lnTo>
                  <a:close/>
                </a:path>
              </a:pathLst>
            </a:custGeom>
            <a:ln w="9524">
              <a:solidFill>
                <a:srgbClr val="E3E4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604520" y="1295527"/>
            <a:ext cx="776097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600" spc="-10" b="1">
                <a:solidFill>
                  <a:srgbClr val="1A1F2B"/>
                </a:solidFill>
                <a:latin typeface="Cambria"/>
                <a:cs typeface="Cambria"/>
              </a:rPr>
              <a:t>Given</a:t>
            </a:r>
            <a:r>
              <a:rPr dirty="0" sz="1600" spc="-30" b="1">
                <a:solidFill>
                  <a:srgbClr val="1A1F2B"/>
                </a:solidFill>
                <a:latin typeface="Cambria"/>
                <a:cs typeface="Cambria"/>
              </a:rPr>
              <a:t> </a:t>
            </a:r>
            <a:r>
              <a:rPr dirty="0" sz="1600" b="1">
                <a:solidFill>
                  <a:srgbClr val="1A1F2B"/>
                </a:solidFill>
                <a:latin typeface="Cambria"/>
                <a:cs typeface="Cambria"/>
              </a:rPr>
              <a:t>a</a:t>
            </a:r>
            <a:r>
              <a:rPr dirty="0" sz="1600" spc="-25" b="1">
                <a:solidFill>
                  <a:srgbClr val="1A1F2B"/>
                </a:solidFill>
                <a:latin typeface="Cambria"/>
                <a:cs typeface="Cambria"/>
              </a:rPr>
              <a:t> </a:t>
            </a:r>
            <a:r>
              <a:rPr dirty="0" sz="1600" spc="-20" b="1">
                <a:solidFill>
                  <a:srgbClr val="1A1F2B"/>
                </a:solidFill>
                <a:latin typeface="Cambria"/>
                <a:cs typeface="Cambria"/>
              </a:rPr>
              <a:t>natural-</a:t>
            </a:r>
            <a:r>
              <a:rPr dirty="0" sz="1600" spc="-10" b="1">
                <a:solidFill>
                  <a:srgbClr val="1A1F2B"/>
                </a:solidFill>
                <a:latin typeface="Cambria"/>
                <a:cs typeface="Cambria"/>
              </a:rPr>
              <a:t>language</a:t>
            </a:r>
            <a:r>
              <a:rPr dirty="0" sz="1600" spc="-30" b="1">
                <a:solidFill>
                  <a:srgbClr val="1A1F2B"/>
                </a:solidFill>
                <a:latin typeface="Cambria"/>
                <a:cs typeface="Cambria"/>
              </a:rPr>
              <a:t> </a:t>
            </a:r>
            <a:r>
              <a:rPr dirty="0" sz="1600" b="1">
                <a:solidFill>
                  <a:srgbClr val="1A1F2B"/>
                </a:solidFill>
                <a:latin typeface="Cambria"/>
                <a:cs typeface="Cambria"/>
              </a:rPr>
              <a:t>edit</a:t>
            </a:r>
            <a:r>
              <a:rPr dirty="0" sz="1600" spc="-25" b="1">
                <a:solidFill>
                  <a:srgbClr val="1A1F2B"/>
                </a:solidFill>
                <a:latin typeface="Cambria"/>
                <a:cs typeface="Cambria"/>
              </a:rPr>
              <a:t> </a:t>
            </a:r>
            <a:r>
              <a:rPr dirty="0" sz="1600" b="1">
                <a:solidFill>
                  <a:srgbClr val="1A1F2B"/>
                </a:solidFill>
                <a:latin typeface="Cambria"/>
                <a:cs typeface="Cambria"/>
              </a:rPr>
              <a:t>instruction,</a:t>
            </a:r>
            <a:r>
              <a:rPr dirty="0" sz="1600" spc="-30" b="1">
                <a:solidFill>
                  <a:srgbClr val="1A1F2B"/>
                </a:solidFill>
                <a:latin typeface="Cambria"/>
                <a:cs typeface="Cambria"/>
              </a:rPr>
              <a:t> </a:t>
            </a:r>
            <a:r>
              <a:rPr dirty="0" sz="1600" b="1">
                <a:solidFill>
                  <a:srgbClr val="1A1F2B"/>
                </a:solidFill>
                <a:latin typeface="Cambria"/>
                <a:cs typeface="Cambria"/>
              </a:rPr>
              <a:t>predict</a:t>
            </a:r>
            <a:r>
              <a:rPr dirty="0" sz="1600" spc="-25" b="1">
                <a:solidFill>
                  <a:srgbClr val="1A1F2B"/>
                </a:solidFill>
                <a:latin typeface="Cambria"/>
                <a:cs typeface="Cambria"/>
              </a:rPr>
              <a:t> </a:t>
            </a:r>
            <a:r>
              <a:rPr dirty="0" sz="1600" b="1">
                <a:solidFill>
                  <a:srgbClr val="1A1F2B"/>
                </a:solidFill>
                <a:latin typeface="Cambria"/>
                <a:cs typeface="Cambria"/>
              </a:rPr>
              <a:t>the</a:t>
            </a:r>
            <a:r>
              <a:rPr dirty="0" sz="1600" spc="-30" b="1">
                <a:solidFill>
                  <a:srgbClr val="1A1F2B"/>
                </a:solidFill>
                <a:latin typeface="Cambria"/>
                <a:cs typeface="Cambria"/>
              </a:rPr>
              <a:t> </a:t>
            </a:r>
            <a:r>
              <a:rPr dirty="0" sz="1600" b="1">
                <a:solidFill>
                  <a:srgbClr val="1A1F2B"/>
                </a:solidFill>
                <a:latin typeface="Cambria"/>
                <a:cs typeface="Cambria"/>
              </a:rPr>
              <a:t>numeric</a:t>
            </a:r>
            <a:r>
              <a:rPr dirty="0" sz="1600" spc="-25" b="1">
                <a:solidFill>
                  <a:srgbClr val="1A1F2B"/>
                </a:solidFill>
                <a:latin typeface="Cambria"/>
                <a:cs typeface="Cambria"/>
              </a:rPr>
              <a:t> </a:t>
            </a:r>
            <a:r>
              <a:rPr dirty="0" sz="1600" spc="-10" b="1">
                <a:solidFill>
                  <a:srgbClr val="1A1F2B"/>
                </a:solidFill>
                <a:latin typeface="Cambria"/>
                <a:cs typeface="Cambria"/>
              </a:rPr>
              <a:t>geometric</a:t>
            </a:r>
            <a:r>
              <a:rPr dirty="0" sz="1600" spc="-30" b="1">
                <a:solidFill>
                  <a:srgbClr val="1A1F2B"/>
                </a:solidFill>
                <a:latin typeface="Cambria"/>
                <a:cs typeface="Cambria"/>
              </a:rPr>
              <a:t> </a:t>
            </a:r>
            <a:r>
              <a:rPr dirty="0" sz="1600" spc="-10" b="1">
                <a:solidFill>
                  <a:srgbClr val="1A1F2B"/>
                </a:solidFill>
                <a:latin typeface="Cambria"/>
                <a:cs typeface="Cambria"/>
              </a:rPr>
              <a:t>transform </a:t>
            </a:r>
            <a:r>
              <a:rPr dirty="0" sz="1600" b="1">
                <a:solidFill>
                  <a:srgbClr val="1A1F2B"/>
                </a:solidFill>
                <a:latin typeface="Cambria"/>
                <a:cs typeface="Cambria"/>
              </a:rPr>
              <a:t>it</a:t>
            </a:r>
            <a:r>
              <a:rPr dirty="0" sz="1600" spc="-10" b="1">
                <a:solidFill>
                  <a:srgbClr val="1A1F2B"/>
                </a:solidFill>
                <a:latin typeface="Cambria"/>
                <a:cs typeface="Cambria"/>
              </a:rPr>
              <a:t> implies.</a:t>
            </a:r>
            <a:endParaRPr sz="1600">
              <a:latin typeface="Cambria"/>
              <a:cs typeface="Cambria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379730" y="2344565"/>
          <a:ext cx="6113780" cy="10344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04540"/>
                <a:gridCol w="1449069"/>
                <a:gridCol w="372110"/>
                <a:gridCol w="911860"/>
              </a:tblGrid>
              <a:tr h="3048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i="1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"nudge</a:t>
                      </a:r>
                      <a:r>
                        <a:rPr dirty="0" sz="1100" spc="-25" i="1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i="1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100" spc="-25" i="1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i="1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shape</a:t>
                      </a:r>
                      <a:r>
                        <a:rPr dirty="0" sz="1100" spc="-25" i="1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i="1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slightly</a:t>
                      </a:r>
                      <a:r>
                        <a:rPr dirty="0" sz="1100" spc="-20" i="1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i="1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100" spc="-25" i="1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i="1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100" spc="-25" i="1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i="1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left"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algn="r" marR="70485">
                        <a:lnSpc>
                          <a:spcPts val="1435"/>
                        </a:lnSpc>
                      </a:pPr>
                      <a:r>
                        <a:rPr dirty="0" sz="1300" spc="-50" b="1">
                          <a:solidFill>
                            <a:srgbClr val="E17039"/>
                          </a:solidFill>
                          <a:latin typeface="Arial"/>
                          <a:cs typeface="Arial"/>
                        </a:rPr>
                        <a:t>→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365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b="1">
                          <a:solidFill>
                            <a:srgbClr val="2E6171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r>
                        <a:rPr dirty="0" sz="1100" spc="-15" b="1">
                          <a:solidFill>
                            <a:srgbClr val="2E617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00" spc="-50" b="1">
                          <a:solidFill>
                            <a:srgbClr val="2E6171"/>
                          </a:solidFill>
                          <a:latin typeface="Courier New"/>
                          <a:cs typeface="Courier New"/>
                        </a:rPr>
                        <a:t>≈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 b="1">
                          <a:solidFill>
                            <a:srgbClr val="2E6171"/>
                          </a:solidFill>
                          <a:latin typeface="Courier New"/>
                          <a:cs typeface="Courier New"/>
                        </a:rPr>
                        <a:t>(−0.04,</a:t>
                      </a:r>
                      <a:r>
                        <a:rPr dirty="0" sz="1100" spc="-85" b="1">
                          <a:solidFill>
                            <a:srgbClr val="2E617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00" spc="-25" b="1">
                          <a:solidFill>
                            <a:srgbClr val="2E6171"/>
                          </a:solidFill>
                          <a:latin typeface="Courier New"/>
                          <a:cs typeface="Courier New"/>
                        </a:rPr>
                        <a:t>0)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635"/>
                </a:tc>
              </a:tr>
              <a:tr h="42481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dirty="0" sz="1100" i="1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"rotate</a:t>
                      </a:r>
                      <a:r>
                        <a:rPr dirty="0" sz="1100" spc="-30" i="1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i="1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it</a:t>
                      </a:r>
                      <a:r>
                        <a:rPr dirty="0" sz="1100" spc="-25" i="1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i="1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by</a:t>
                      </a:r>
                      <a:r>
                        <a:rPr dirty="0" sz="1100" spc="-25" i="1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i="1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45</a:t>
                      </a:r>
                      <a:r>
                        <a:rPr dirty="0" sz="1100" spc="-25" i="1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i="1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degrees</a:t>
                      </a:r>
                      <a:r>
                        <a:rPr dirty="0" sz="1100" spc="-30" i="1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i="1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clockwise"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20650"/>
                </a:tc>
                <a:tc>
                  <a:txBody>
                    <a:bodyPr/>
                    <a:lstStyle/>
                    <a:p>
                      <a:pPr algn="r" marR="70485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dirty="0" sz="1300" spc="-50" b="1">
                          <a:solidFill>
                            <a:srgbClr val="E17039"/>
                          </a:solidFill>
                          <a:latin typeface="Arial"/>
                          <a:cs typeface="Arial"/>
                        </a:rPr>
                        <a:t>→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104775"/>
                </a:tc>
                <a:tc>
                  <a:txBody>
                    <a:bodyPr/>
                    <a:lstStyle/>
                    <a:p>
                      <a:pPr algn="r" marR="33655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dirty="0" sz="1100" b="1">
                          <a:solidFill>
                            <a:srgbClr val="2E6171"/>
                          </a:solidFill>
                          <a:latin typeface="Courier New"/>
                          <a:cs typeface="Courier New"/>
                        </a:rPr>
                        <a:t>θ</a:t>
                      </a:r>
                      <a:r>
                        <a:rPr dirty="0" sz="1100" spc="-15" b="1">
                          <a:solidFill>
                            <a:srgbClr val="2E617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00" spc="-50" b="1">
                          <a:solidFill>
                            <a:srgbClr val="2E6171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120650"/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dirty="0" sz="1100" spc="-20" b="1">
                          <a:solidFill>
                            <a:srgbClr val="2E6171"/>
                          </a:solidFill>
                          <a:latin typeface="Courier New"/>
                          <a:cs typeface="Courier New"/>
                        </a:rPr>
                        <a:t>−45°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120650"/>
                </a:tc>
              </a:tr>
              <a:tr h="3048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dirty="0" sz="1100" i="1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"make</a:t>
                      </a:r>
                      <a:r>
                        <a:rPr dirty="0" sz="1100" spc="-35" i="1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i="1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it</a:t>
                      </a:r>
                      <a:r>
                        <a:rPr dirty="0" sz="1100" spc="-35" i="1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i="1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significantly</a:t>
                      </a:r>
                      <a:r>
                        <a:rPr dirty="0" sz="1100" spc="-30" i="1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i="1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bigger"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120650"/>
                </a:tc>
                <a:tc>
                  <a:txBody>
                    <a:bodyPr/>
                    <a:lstStyle/>
                    <a:p>
                      <a:pPr algn="r" marR="70485">
                        <a:lnSpc>
                          <a:spcPts val="1475"/>
                        </a:lnSpc>
                        <a:spcBef>
                          <a:spcPts val="825"/>
                        </a:spcBef>
                      </a:pPr>
                      <a:r>
                        <a:rPr dirty="0" sz="1300" spc="-50" b="1">
                          <a:solidFill>
                            <a:srgbClr val="E17039"/>
                          </a:solidFill>
                          <a:latin typeface="Arial"/>
                          <a:cs typeface="Arial"/>
                        </a:rPr>
                        <a:t>→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104775"/>
                </a:tc>
                <a:tc>
                  <a:txBody>
                    <a:bodyPr/>
                    <a:lstStyle/>
                    <a:p>
                      <a:pPr algn="r" marR="34290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dirty="0" sz="1100" spc="-25" b="1">
                          <a:solidFill>
                            <a:srgbClr val="2E6171"/>
                          </a:solidFill>
                          <a:latin typeface="Courier New"/>
                          <a:cs typeface="Courier New"/>
                        </a:rPr>
                        <a:t>log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120650"/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dirty="0" sz="1100" b="1">
                          <a:solidFill>
                            <a:srgbClr val="2E6171"/>
                          </a:solidFill>
                          <a:latin typeface="Courier New"/>
                          <a:cs typeface="Courier New"/>
                        </a:rPr>
                        <a:t>s</a:t>
                      </a:r>
                      <a:r>
                        <a:rPr dirty="0" sz="1100" spc="-15" b="1">
                          <a:solidFill>
                            <a:srgbClr val="2E617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100" b="1">
                          <a:solidFill>
                            <a:srgbClr val="2E6171"/>
                          </a:solidFill>
                          <a:latin typeface="Courier New"/>
                          <a:cs typeface="Courier New"/>
                        </a:rPr>
                        <a:t>≈</a:t>
                      </a:r>
                      <a:r>
                        <a:rPr dirty="0" sz="1100" spc="-10" b="1">
                          <a:solidFill>
                            <a:srgbClr val="2E6171"/>
                          </a:solidFill>
                          <a:latin typeface="Courier New"/>
                          <a:cs typeface="Courier New"/>
                        </a:rPr>
                        <a:t> +0.62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B="0" marT="120650"/>
                </a:tc>
              </a:tr>
            </a:tbl>
          </a:graphicData>
        </a:graphic>
      </p:graphicFrame>
      <p:grpSp>
        <p:nvGrpSpPr>
          <p:cNvPr id="10" name="object 10"/>
          <p:cNvGrpSpPr/>
          <p:nvPr/>
        </p:nvGrpSpPr>
        <p:grpSpPr>
          <a:xfrm>
            <a:off x="406717" y="4075747"/>
            <a:ext cx="8328659" cy="503555"/>
            <a:chOff x="406717" y="4075747"/>
            <a:chExt cx="8328659" cy="503555"/>
          </a:xfrm>
        </p:grpSpPr>
        <p:sp>
          <p:nvSpPr>
            <p:cNvPr id="11" name="object 11"/>
            <p:cNvSpPr/>
            <p:nvPr/>
          </p:nvSpPr>
          <p:spPr>
            <a:xfrm>
              <a:off x="411480" y="4080509"/>
              <a:ext cx="8319134" cy="494030"/>
            </a:xfrm>
            <a:custGeom>
              <a:avLst/>
              <a:gdLst/>
              <a:ahLst/>
              <a:cxnLst/>
              <a:rect l="l" t="t" r="r" b="b"/>
              <a:pathLst>
                <a:path w="8319134" h="494029">
                  <a:moveTo>
                    <a:pt x="8277607" y="493775"/>
                  </a:moveTo>
                  <a:lnTo>
                    <a:pt x="41146" y="493775"/>
                  </a:lnTo>
                  <a:lnTo>
                    <a:pt x="25130" y="490542"/>
                  </a:lnTo>
                  <a:lnTo>
                    <a:pt x="12051" y="481724"/>
                  </a:lnTo>
                  <a:lnTo>
                    <a:pt x="3233" y="468645"/>
                  </a:lnTo>
                  <a:lnTo>
                    <a:pt x="0" y="452629"/>
                  </a:lnTo>
                  <a:lnTo>
                    <a:pt x="0" y="41146"/>
                  </a:lnTo>
                  <a:lnTo>
                    <a:pt x="3233" y="25130"/>
                  </a:lnTo>
                  <a:lnTo>
                    <a:pt x="12051" y="12051"/>
                  </a:lnTo>
                  <a:lnTo>
                    <a:pt x="25130" y="3233"/>
                  </a:lnTo>
                  <a:lnTo>
                    <a:pt x="41146" y="0"/>
                  </a:lnTo>
                  <a:lnTo>
                    <a:pt x="8277607" y="0"/>
                  </a:lnTo>
                  <a:lnTo>
                    <a:pt x="8311841" y="18318"/>
                  </a:lnTo>
                  <a:lnTo>
                    <a:pt x="8318754" y="41146"/>
                  </a:lnTo>
                  <a:lnTo>
                    <a:pt x="8318754" y="452629"/>
                  </a:lnTo>
                  <a:lnTo>
                    <a:pt x="8315520" y="468645"/>
                  </a:lnTo>
                  <a:lnTo>
                    <a:pt x="8306702" y="481724"/>
                  </a:lnTo>
                  <a:lnTo>
                    <a:pt x="8293623" y="490542"/>
                  </a:lnTo>
                  <a:lnTo>
                    <a:pt x="8277607" y="493775"/>
                  </a:lnTo>
                  <a:close/>
                </a:path>
              </a:pathLst>
            </a:custGeom>
            <a:solidFill>
              <a:srgbClr val="F6F6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11480" y="4080509"/>
              <a:ext cx="8319134" cy="494030"/>
            </a:xfrm>
            <a:custGeom>
              <a:avLst/>
              <a:gdLst/>
              <a:ahLst/>
              <a:cxnLst/>
              <a:rect l="l" t="t" r="r" b="b"/>
              <a:pathLst>
                <a:path w="8319134" h="494029">
                  <a:moveTo>
                    <a:pt x="0" y="41146"/>
                  </a:moveTo>
                  <a:lnTo>
                    <a:pt x="3233" y="25130"/>
                  </a:lnTo>
                  <a:lnTo>
                    <a:pt x="12051" y="12051"/>
                  </a:lnTo>
                  <a:lnTo>
                    <a:pt x="25130" y="3233"/>
                  </a:lnTo>
                  <a:lnTo>
                    <a:pt x="41146" y="0"/>
                  </a:lnTo>
                  <a:lnTo>
                    <a:pt x="8277607" y="0"/>
                  </a:lnTo>
                  <a:lnTo>
                    <a:pt x="8311841" y="18318"/>
                  </a:lnTo>
                  <a:lnTo>
                    <a:pt x="8318754" y="41146"/>
                  </a:lnTo>
                  <a:lnTo>
                    <a:pt x="8318754" y="452629"/>
                  </a:lnTo>
                  <a:lnTo>
                    <a:pt x="8315520" y="468645"/>
                  </a:lnTo>
                  <a:lnTo>
                    <a:pt x="8306702" y="481724"/>
                  </a:lnTo>
                  <a:lnTo>
                    <a:pt x="8293623" y="490542"/>
                  </a:lnTo>
                  <a:lnTo>
                    <a:pt x="8277607" y="493775"/>
                  </a:lnTo>
                  <a:lnTo>
                    <a:pt x="41146" y="493775"/>
                  </a:lnTo>
                  <a:lnTo>
                    <a:pt x="25130" y="490542"/>
                  </a:lnTo>
                  <a:lnTo>
                    <a:pt x="12051" y="481724"/>
                  </a:lnTo>
                  <a:lnTo>
                    <a:pt x="3233" y="468645"/>
                  </a:lnTo>
                  <a:lnTo>
                    <a:pt x="0" y="452629"/>
                  </a:lnTo>
                  <a:lnTo>
                    <a:pt x="0" y="41146"/>
                  </a:lnTo>
                  <a:close/>
                </a:path>
              </a:pathLst>
            </a:custGeom>
            <a:ln w="9524">
              <a:solidFill>
                <a:srgbClr val="E3E4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398780" y="3702558"/>
            <a:ext cx="8068945" cy="7702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6B7280"/>
                </a:solidFill>
                <a:latin typeface="Calibri"/>
                <a:cs typeface="Calibri"/>
              </a:rPr>
              <a:t>We</a:t>
            </a:r>
            <a:r>
              <a:rPr dirty="0" sz="1100" spc="-2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6B7280"/>
                </a:solidFill>
                <a:latin typeface="Calibri"/>
                <a:cs typeface="Calibri"/>
              </a:rPr>
              <a:t>target</a:t>
            </a:r>
            <a:r>
              <a:rPr dirty="0" sz="1100" spc="-2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6B7280"/>
                </a:solidFill>
                <a:latin typeface="Calibri"/>
                <a:cs typeface="Calibri"/>
              </a:rPr>
              <a:t>a</a:t>
            </a:r>
            <a:r>
              <a:rPr dirty="0" sz="1100" spc="-2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6B7280"/>
                </a:solidFill>
                <a:latin typeface="Calibri"/>
                <a:cs typeface="Calibri"/>
              </a:rPr>
              <a:t>2D</a:t>
            </a:r>
            <a:r>
              <a:rPr dirty="0" sz="1100" spc="-2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6B7280"/>
                </a:solidFill>
                <a:latin typeface="Calibri"/>
                <a:cs typeface="Calibri"/>
              </a:rPr>
              <a:t>similarity</a:t>
            </a:r>
            <a:r>
              <a:rPr dirty="0" sz="1100" spc="-2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6B7280"/>
                </a:solidFill>
                <a:latin typeface="Calibri"/>
                <a:cs typeface="Calibri"/>
              </a:rPr>
              <a:t>transform</a:t>
            </a:r>
            <a:r>
              <a:rPr dirty="0" sz="1100" spc="-2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6B7280"/>
                </a:solidFill>
                <a:latin typeface="Calibri"/>
                <a:cs typeface="Calibri"/>
              </a:rPr>
              <a:t>—</a:t>
            </a:r>
            <a:r>
              <a:rPr dirty="0" sz="1100" spc="-2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6B7280"/>
                </a:solidFill>
                <a:latin typeface="Calibri"/>
                <a:cs typeface="Calibri"/>
              </a:rPr>
              <a:t>translation,</a:t>
            </a:r>
            <a:r>
              <a:rPr dirty="0" sz="1100" spc="-2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6B7280"/>
                </a:solidFill>
                <a:latin typeface="Calibri"/>
                <a:cs typeface="Calibri"/>
              </a:rPr>
              <a:t>rotation</a:t>
            </a:r>
            <a:r>
              <a:rPr dirty="0" sz="1100" spc="-2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6B7280"/>
                </a:solidFill>
                <a:latin typeface="Calibri"/>
                <a:cs typeface="Calibri"/>
              </a:rPr>
              <a:t>and</a:t>
            </a:r>
            <a:r>
              <a:rPr dirty="0" sz="1100" spc="-2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6B7280"/>
                </a:solidFill>
                <a:latin typeface="Calibri"/>
                <a:cs typeface="Calibri"/>
              </a:rPr>
              <a:t>uniform</a:t>
            </a:r>
            <a:r>
              <a:rPr dirty="0" sz="1100" spc="-2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6B7280"/>
                </a:solidFill>
                <a:latin typeface="Calibri"/>
                <a:cs typeface="Calibri"/>
              </a:rPr>
              <a:t>scale</a:t>
            </a:r>
            <a:r>
              <a:rPr dirty="0" sz="1100" spc="-2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6B7280"/>
                </a:solidFill>
                <a:latin typeface="Calibri"/>
                <a:cs typeface="Calibri"/>
              </a:rPr>
              <a:t>—</a:t>
            </a:r>
            <a:r>
              <a:rPr dirty="0" sz="1100" spc="-2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6B7280"/>
                </a:solidFill>
                <a:latin typeface="Calibri"/>
                <a:cs typeface="Calibri"/>
              </a:rPr>
              <a:t>represented</a:t>
            </a:r>
            <a:r>
              <a:rPr dirty="0" sz="1100" spc="-2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6B7280"/>
                </a:solidFill>
                <a:latin typeface="Calibri"/>
                <a:cs typeface="Calibri"/>
              </a:rPr>
              <a:t>as</a:t>
            </a:r>
            <a:r>
              <a:rPr dirty="0" sz="1100" spc="-2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6B7280"/>
                </a:solidFill>
                <a:latin typeface="Calibri"/>
                <a:cs typeface="Calibri"/>
              </a:rPr>
              <a:t>a</a:t>
            </a:r>
            <a:r>
              <a:rPr dirty="0" sz="1100" spc="-2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6B7280"/>
                </a:solidFill>
                <a:latin typeface="Calibri"/>
                <a:cs typeface="Calibri"/>
              </a:rPr>
              <a:t>3×3</a:t>
            </a:r>
            <a:r>
              <a:rPr dirty="0" sz="1100" spc="-2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6B7280"/>
                </a:solidFill>
                <a:latin typeface="Calibri"/>
                <a:cs typeface="Calibri"/>
              </a:rPr>
              <a:t>homogeneous</a:t>
            </a:r>
            <a:r>
              <a:rPr dirty="0" sz="1100" spc="-2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6B7280"/>
                </a:solidFill>
                <a:latin typeface="Calibri"/>
                <a:cs typeface="Calibri"/>
              </a:rPr>
              <a:t>matrix</a:t>
            </a:r>
            <a:r>
              <a:rPr dirty="0" sz="1100" spc="-2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6B7280"/>
                </a:solidFill>
                <a:latin typeface="Calibri"/>
                <a:cs typeface="Calibri"/>
              </a:rPr>
              <a:t>and</a:t>
            </a:r>
            <a:r>
              <a:rPr dirty="0" sz="1100" spc="-2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6B7280"/>
                </a:solidFill>
                <a:latin typeface="Calibri"/>
                <a:cs typeface="Calibri"/>
              </a:rPr>
              <a:t>applied</a:t>
            </a:r>
            <a:r>
              <a:rPr dirty="0" sz="1100" spc="-2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6B7280"/>
                </a:solidFill>
                <a:latin typeface="Calibri"/>
                <a:cs typeface="Calibri"/>
              </a:rPr>
              <a:t>with</a:t>
            </a:r>
            <a:r>
              <a:rPr dirty="0" sz="1100" spc="-2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1100" spc="-50">
                <a:solidFill>
                  <a:srgbClr val="6B7280"/>
                </a:solidFill>
                <a:latin typeface="Calibri"/>
                <a:cs typeface="Calibri"/>
              </a:rPr>
              <a:t>a</a:t>
            </a:r>
            <a:r>
              <a:rPr dirty="0" sz="1100" spc="-10">
                <a:solidFill>
                  <a:srgbClr val="6B7280"/>
                </a:solidFill>
                <a:latin typeface="Calibri"/>
                <a:cs typeface="Calibri"/>
              </a:rPr>
              <a:t> deterministic</a:t>
            </a:r>
            <a:r>
              <a:rPr dirty="0" sz="1100">
                <a:solidFill>
                  <a:srgbClr val="6B7280"/>
                </a:solidFill>
                <a:latin typeface="Calibri"/>
                <a:cs typeface="Calibri"/>
              </a:rPr>
              <a:t> affine</a:t>
            </a:r>
            <a:r>
              <a:rPr dirty="0" sz="1100" spc="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6B7280"/>
                </a:solidFill>
                <a:latin typeface="Calibri"/>
                <a:cs typeface="Calibri"/>
              </a:rPr>
              <a:t>warp.</a:t>
            </a:r>
            <a:endParaRPr sz="1100">
              <a:latin typeface="Calibri"/>
              <a:cs typeface="Calibri"/>
            </a:endParaRPr>
          </a:p>
          <a:p>
            <a:pPr marL="218440" marR="39370">
              <a:lnSpc>
                <a:spcPct val="100000"/>
              </a:lnSpc>
              <a:spcBef>
                <a:spcPts val="1065"/>
              </a:spcBef>
            </a:pPr>
            <a:r>
              <a:rPr dirty="0" sz="900" b="1">
                <a:solidFill>
                  <a:srgbClr val="1A1F2B"/>
                </a:solidFill>
                <a:latin typeface="Calibri"/>
                <a:cs typeface="Calibri"/>
              </a:rPr>
              <a:t>Scope.</a:t>
            </a:r>
            <a:r>
              <a:rPr dirty="0" sz="900" spc="175" b="1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The</a:t>
            </a:r>
            <a:r>
              <a:rPr dirty="0" sz="900" spc="-1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model</a:t>
            </a:r>
            <a:r>
              <a:rPr dirty="0" sz="900" spc="-1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predicts</a:t>
            </a:r>
            <a:r>
              <a:rPr dirty="0" sz="900" spc="-1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parameters</a:t>
            </a:r>
            <a:r>
              <a:rPr dirty="0" sz="900" spc="-1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from</a:t>
            </a:r>
            <a:r>
              <a:rPr dirty="0" sz="900" spc="-1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the</a:t>
            </a:r>
            <a:r>
              <a:rPr dirty="0" sz="900" spc="-1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instruction</a:t>
            </a:r>
            <a:r>
              <a:rPr dirty="0" sz="900" spc="-2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text</a:t>
            </a:r>
            <a:r>
              <a:rPr dirty="0" sz="900" spc="-1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alone.</a:t>
            </a:r>
            <a:r>
              <a:rPr dirty="0" sz="900" spc="-1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Those</a:t>
            </a:r>
            <a:r>
              <a:rPr dirty="0" sz="900" spc="-1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parameters</a:t>
            </a:r>
            <a:r>
              <a:rPr dirty="0" sz="900" spc="-1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are</a:t>
            </a:r>
            <a:r>
              <a:rPr dirty="0" sz="900" spc="-1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then</a:t>
            </a:r>
            <a:r>
              <a:rPr dirty="0" sz="900" spc="-1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applied</a:t>
            </a:r>
            <a:r>
              <a:rPr dirty="0" sz="900" spc="-1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to</a:t>
            </a:r>
            <a:r>
              <a:rPr dirty="0" sz="900" spc="-1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images</a:t>
            </a:r>
            <a:r>
              <a:rPr dirty="0" sz="900" spc="-1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and</a:t>
            </a:r>
            <a:r>
              <a:rPr dirty="0" sz="900" spc="-2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segmentation</a:t>
            </a:r>
            <a:r>
              <a:rPr dirty="0" sz="900" spc="-1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masks,</a:t>
            </a:r>
            <a:r>
              <a:rPr dirty="0" sz="900" spc="-1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and</a:t>
            </a:r>
            <a:r>
              <a:rPr dirty="0" sz="900" spc="-1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exposed</a:t>
            </a:r>
            <a:r>
              <a:rPr dirty="0" sz="900" spc="-1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through</a:t>
            </a:r>
            <a:r>
              <a:rPr dirty="0" sz="900" spc="-1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6B7280"/>
                </a:solidFill>
                <a:latin typeface="Calibri"/>
                <a:cs typeface="Calibri"/>
              </a:rPr>
              <a:t>the</a:t>
            </a:r>
            <a:r>
              <a:rPr dirty="0" sz="900" spc="50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interface</a:t>
            </a:r>
            <a:r>
              <a:rPr dirty="0" sz="900" spc="-2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—</a:t>
            </a:r>
            <a:r>
              <a:rPr dirty="0" sz="900" spc="-1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all</a:t>
            </a:r>
            <a:r>
              <a:rPr dirty="0" sz="900" spc="-1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delivered</a:t>
            </a:r>
            <a:r>
              <a:rPr dirty="0" sz="900" spc="-1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by</a:t>
            </a:r>
            <a:r>
              <a:rPr dirty="0" sz="900" spc="-2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the</a:t>
            </a:r>
            <a:r>
              <a:rPr dirty="0" sz="900" spc="-1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intensive</a:t>
            </a:r>
            <a:r>
              <a:rPr dirty="0" sz="900" spc="-1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assessment.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65"/>
              </a:lnSpc>
            </a:pPr>
            <a:r>
              <a:rPr dirty="0"/>
              <a:t>IE</a:t>
            </a:r>
            <a:r>
              <a:rPr dirty="0" spc="-15"/>
              <a:t> </a:t>
            </a:r>
            <a:r>
              <a:rPr dirty="0"/>
              <a:t>643</a:t>
            </a:r>
            <a:r>
              <a:rPr dirty="0" spc="-15"/>
              <a:t> </a:t>
            </a:r>
            <a:r>
              <a:rPr dirty="0" spc="-10"/>
              <a:t>Course </a:t>
            </a:r>
            <a:r>
              <a:rPr dirty="0"/>
              <a:t>Project</a:t>
            </a:r>
            <a:r>
              <a:rPr dirty="0" spc="135"/>
              <a:t> </a:t>
            </a:r>
            <a:r>
              <a:rPr dirty="0"/>
              <a:t>·</a:t>
            </a:r>
            <a:r>
              <a:rPr dirty="0" spc="140"/>
              <a:t> </a:t>
            </a:r>
            <a:r>
              <a:rPr dirty="0" spc="-20"/>
              <a:t>Team</a:t>
            </a:r>
            <a:r>
              <a:rPr dirty="0" spc="-10"/>
              <a:t> DyoOptix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65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8780" y="244602"/>
            <a:ext cx="42735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E17039"/>
                </a:solidFill>
                <a:latin typeface="Calibri"/>
                <a:cs typeface="Calibri"/>
              </a:rPr>
              <a:t>BLOCK</a:t>
            </a:r>
            <a:r>
              <a:rPr dirty="0" sz="800" spc="-4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800" spc="-25" b="1">
                <a:solidFill>
                  <a:srgbClr val="E17039"/>
                </a:solidFill>
                <a:latin typeface="Calibri"/>
                <a:cs typeface="Calibri"/>
              </a:rPr>
              <a:t>01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4398" y="507268"/>
            <a:ext cx="158180" cy="158180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Research</a:t>
            </a:r>
            <a:r>
              <a:rPr dirty="0" spc="-130"/>
              <a:t> </a:t>
            </a:r>
            <a:r>
              <a:rPr dirty="0" spc="-10"/>
              <a:t>Questions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98780" y="975867"/>
            <a:ext cx="389826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6B7280"/>
                </a:solidFill>
                <a:latin typeface="Calibri"/>
                <a:cs typeface="Calibri"/>
              </a:rPr>
              <a:t>Every</a:t>
            </a:r>
            <a:r>
              <a:rPr dirty="0" sz="1000" spc="-2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6B7280"/>
                </a:solidFill>
                <a:latin typeface="Calibri"/>
                <a:cs typeface="Calibri"/>
              </a:rPr>
              <a:t>experiment</a:t>
            </a:r>
            <a:r>
              <a:rPr dirty="0" sz="1000" spc="-2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B7280"/>
                </a:solidFill>
                <a:latin typeface="Calibri"/>
                <a:cs typeface="Calibri"/>
              </a:rPr>
              <a:t>in</a:t>
            </a:r>
            <a:r>
              <a:rPr dirty="0" sz="1000" spc="-2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B7280"/>
                </a:solidFill>
                <a:latin typeface="Calibri"/>
                <a:cs typeface="Calibri"/>
              </a:rPr>
              <a:t>the</a:t>
            </a:r>
            <a:r>
              <a:rPr dirty="0" sz="1000" spc="-2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B7280"/>
                </a:solidFill>
                <a:latin typeface="Calibri"/>
                <a:cs typeface="Calibri"/>
              </a:rPr>
              <a:t>plan</a:t>
            </a:r>
            <a:r>
              <a:rPr dirty="0" sz="1000" spc="-2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6B7280"/>
                </a:solidFill>
                <a:latin typeface="Calibri"/>
                <a:cs typeface="Calibri"/>
              </a:rPr>
              <a:t>exists</a:t>
            </a:r>
            <a:r>
              <a:rPr dirty="0" sz="1000" spc="-2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B7280"/>
                </a:solidFill>
                <a:latin typeface="Calibri"/>
                <a:cs typeface="Calibri"/>
              </a:rPr>
              <a:t>to</a:t>
            </a:r>
            <a:r>
              <a:rPr dirty="0" sz="1000" spc="-2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B7280"/>
                </a:solidFill>
                <a:latin typeface="Calibri"/>
                <a:cs typeface="Calibri"/>
              </a:rPr>
              <a:t>answer</a:t>
            </a:r>
            <a:r>
              <a:rPr dirty="0" sz="1000" spc="-2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B7280"/>
                </a:solidFill>
                <a:latin typeface="Calibri"/>
                <a:cs typeface="Calibri"/>
              </a:rPr>
              <a:t>one</a:t>
            </a:r>
            <a:r>
              <a:rPr dirty="0" sz="1000" spc="-2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B7280"/>
                </a:solidFill>
                <a:latin typeface="Calibri"/>
                <a:cs typeface="Calibri"/>
              </a:rPr>
              <a:t>of</a:t>
            </a:r>
            <a:r>
              <a:rPr dirty="0" sz="1000" spc="-2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B7280"/>
                </a:solidFill>
                <a:latin typeface="Calibri"/>
                <a:cs typeface="Calibri"/>
              </a:rPr>
              <a:t>these</a:t>
            </a:r>
            <a:r>
              <a:rPr dirty="0" sz="1000" spc="-2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6B7280"/>
                </a:solidFill>
                <a:latin typeface="Calibri"/>
                <a:cs typeface="Calibri"/>
              </a:rPr>
              <a:t>three</a:t>
            </a:r>
            <a:r>
              <a:rPr dirty="0" sz="1000" spc="-2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6B7280"/>
                </a:solidFill>
                <a:latin typeface="Calibri"/>
                <a:cs typeface="Calibri"/>
              </a:rPr>
              <a:t>questions.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06717" y="1263967"/>
            <a:ext cx="8328659" cy="1072515"/>
            <a:chOff x="406717" y="1263967"/>
            <a:chExt cx="8328659" cy="1072515"/>
          </a:xfrm>
        </p:grpSpPr>
        <p:sp>
          <p:nvSpPr>
            <p:cNvPr id="7" name="object 7"/>
            <p:cNvSpPr/>
            <p:nvPr/>
          </p:nvSpPr>
          <p:spPr>
            <a:xfrm>
              <a:off x="411480" y="1268730"/>
              <a:ext cx="8319134" cy="1062990"/>
            </a:xfrm>
            <a:custGeom>
              <a:avLst/>
              <a:gdLst/>
              <a:ahLst/>
              <a:cxnLst/>
              <a:rect l="l" t="t" r="r" b="b"/>
              <a:pathLst>
                <a:path w="8319134" h="1062989">
                  <a:moveTo>
                    <a:pt x="8277605" y="1062989"/>
                  </a:moveTo>
                  <a:lnTo>
                    <a:pt x="41148" y="1062989"/>
                  </a:lnTo>
                  <a:lnTo>
                    <a:pt x="25131" y="1059756"/>
                  </a:lnTo>
                  <a:lnTo>
                    <a:pt x="12052" y="1050937"/>
                  </a:lnTo>
                  <a:lnTo>
                    <a:pt x="3233" y="1037858"/>
                  </a:lnTo>
                  <a:lnTo>
                    <a:pt x="0" y="1021841"/>
                  </a:lnTo>
                  <a:lnTo>
                    <a:pt x="0" y="41148"/>
                  </a:lnTo>
                  <a:lnTo>
                    <a:pt x="3233" y="25131"/>
                  </a:lnTo>
                  <a:lnTo>
                    <a:pt x="12052" y="12052"/>
                  </a:lnTo>
                  <a:lnTo>
                    <a:pt x="25131" y="3233"/>
                  </a:lnTo>
                  <a:lnTo>
                    <a:pt x="41148" y="0"/>
                  </a:lnTo>
                  <a:lnTo>
                    <a:pt x="8277605" y="0"/>
                  </a:lnTo>
                  <a:lnTo>
                    <a:pt x="8311840" y="18319"/>
                  </a:lnTo>
                  <a:lnTo>
                    <a:pt x="8318754" y="41148"/>
                  </a:lnTo>
                  <a:lnTo>
                    <a:pt x="8318754" y="1021841"/>
                  </a:lnTo>
                  <a:lnTo>
                    <a:pt x="8315520" y="1037858"/>
                  </a:lnTo>
                  <a:lnTo>
                    <a:pt x="8306702" y="1050937"/>
                  </a:lnTo>
                  <a:lnTo>
                    <a:pt x="8293622" y="1059756"/>
                  </a:lnTo>
                  <a:lnTo>
                    <a:pt x="8277605" y="1062989"/>
                  </a:lnTo>
                  <a:close/>
                </a:path>
              </a:pathLst>
            </a:custGeom>
            <a:solidFill>
              <a:srgbClr val="FCF1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11480" y="1268730"/>
              <a:ext cx="8319134" cy="1062990"/>
            </a:xfrm>
            <a:custGeom>
              <a:avLst/>
              <a:gdLst/>
              <a:ahLst/>
              <a:cxnLst/>
              <a:rect l="l" t="t" r="r" b="b"/>
              <a:pathLst>
                <a:path w="8319134" h="1062989">
                  <a:moveTo>
                    <a:pt x="0" y="41148"/>
                  </a:moveTo>
                  <a:lnTo>
                    <a:pt x="3233" y="25131"/>
                  </a:lnTo>
                  <a:lnTo>
                    <a:pt x="12052" y="12052"/>
                  </a:lnTo>
                  <a:lnTo>
                    <a:pt x="25131" y="3233"/>
                  </a:lnTo>
                  <a:lnTo>
                    <a:pt x="41148" y="0"/>
                  </a:lnTo>
                  <a:lnTo>
                    <a:pt x="8277605" y="0"/>
                  </a:lnTo>
                  <a:lnTo>
                    <a:pt x="8311840" y="18319"/>
                  </a:lnTo>
                  <a:lnTo>
                    <a:pt x="8318754" y="41148"/>
                  </a:lnTo>
                  <a:lnTo>
                    <a:pt x="8318754" y="1021841"/>
                  </a:lnTo>
                  <a:lnTo>
                    <a:pt x="8315520" y="1037858"/>
                  </a:lnTo>
                  <a:lnTo>
                    <a:pt x="8306702" y="1050937"/>
                  </a:lnTo>
                  <a:lnTo>
                    <a:pt x="8293622" y="1059756"/>
                  </a:lnTo>
                  <a:lnTo>
                    <a:pt x="8277605" y="1062989"/>
                  </a:lnTo>
                  <a:lnTo>
                    <a:pt x="41148" y="1062989"/>
                  </a:lnTo>
                  <a:lnTo>
                    <a:pt x="25131" y="1059756"/>
                  </a:lnTo>
                  <a:lnTo>
                    <a:pt x="12052" y="1050937"/>
                  </a:lnTo>
                  <a:lnTo>
                    <a:pt x="3233" y="1037858"/>
                  </a:lnTo>
                  <a:lnTo>
                    <a:pt x="0" y="1021841"/>
                  </a:lnTo>
                  <a:lnTo>
                    <a:pt x="0" y="41148"/>
                  </a:lnTo>
                  <a:close/>
                </a:path>
              </a:pathLst>
            </a:custGeom>
            <a:ln w="9524">
              <a:solidFill>
                <a:srgbClr val="E3E4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590804" y="1395603"/>
            <a:ext cx="44132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25" b="1">
                <a:solidFill>
                  <a:srgbClr val="E17039"/>
                </a:solidFill>
                <a:latin typeface="Cambria"/>
                <a:cs typeface="Cambria"/>
              </a:rPr>
              <a:t>RQ1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24610" y="1407922"/>
            <a:ext cx="83185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solidFill>
                  <a:srgbClr val="1A1F2B"/>
                </a:solidFill>
                <a:latin typeface="Calibri"/>
                <a:cs typeface="Calibri"/>
              </a:rPr>
              <a:t>Representation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24610" y="1710944"/>
            <a:ext cx="6475730" cy="46418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Do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frozen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text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representations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preserve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the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fine-grained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geometric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information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required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to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predict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continuous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transformation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parameters?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800" spc="-20" i="1">
                <a:solidFill>
                  <a:srgbClr val="6B7280"/>
                </a:solidFill>
                <a:latin typeface="Calibri"/>
                <a:cs typeface="Calibri"/>
              </a:rPr>
              <a:t>Tested </a:t>
            </a:r>
            <a:r>
              <a:rPr dirty="0" sz="800" i="1">
                <a:solidFill>
                  <a:srgbClr val="6B7280"/>
                </a:solidFill>
                <a:latin typeface="Calibri"/>
                <a:cs typeface="Calibri"/>
              </a:rPr>
              <a:t>by:</a:t>
            </a:r>
            <a:r>
              <a:rPr dirty="0" sz="800" spc="-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ablation over</a:t>
            </a:r>
            <a:r>
              <a:rPr dirty="0" sz="800" spc="-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6B7280"/>
                </a:solidFill>
                <a:latin typeface="Calibri"/>
                <a:cs typeface="Calibri"/>
              </a:rPr>
              <a:t>hand</a:t>
            </a:r>
            <a:r>
              <a:rPr dirty="0" sz="800" spc="-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features </a:t>
            </a:r>
            <a:r>
              <a:rPr dirty="0" sz="800" i="1">
                <a:solidFill>
                  <a:srgbClr val="6B7280"/>
                </a:solidFill>
                <a:latin typeface="Calibri"/>
                <a:cs typeface="Calibri"/>
              </a:rPr>
              <a:t>·</a:t>
            </a:r>
            <a:r>
              <a:rPr dirty="0" sz="800" spc="-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6B7280"/>
                </a:solidFill>
                <a:latin typeface="Calibri"/>
                <a:cs typeface="Calibri"/>
              </a:rPr>
              <a:t>CLIP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6B7280"/>
                </a:solidFill>
                <a:latin typeface="Calibri"/>
                <a:cs typeface="Calibri"/>
              </a:rPr>
              <a:t>·</a:t>
            </a:r>
            <a:r>
              <a:rPr dirty="0" sz="800" spc="-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MiniLM</a:t>
            </a:r>
            <a:r>
              <a:rPr dirty="0" sz="800" spc="-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6B7280"/>
                </a:solidFill>
                <a:latin typeface="Calibri"/>
                <a:cs typeface="Calibri"/>
              </a:rPr>
              <a:t>(core)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6B7280"/>
                </a:solidFill>
                <a:latin typeface="Calibri"/>
                <a:cs typeface="Calibri"/>
              </a:rPr>
              <a:t>and</a:t>
            </a:r>
            <a:r>
              <a:rPr dirty="0" sz="800" spc="-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TF-</a:t>
            </a:r>
            <a:r>
              <a:rPr dirty="0" sz="800" i="1">
                <a:solidFill>
                  <a:srgbClr val="6B7280"/>
                </a:solidFill>
                <a:latin typeface="Calibri"/>
                <a:cs typeface="Calibri"/>
              </a:rPr>
              <a:t>IDF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6B7280"/>
                </a:solidFill>
                <a:latin typeface="Calibri"/>
                <a:cs typeface="Calibri"/>
              </a:rPr>
              <a:t>·</a:t>
            </a:r>
            <a:r>
              <a:rPr dirty="0" sz="800" spc="-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fine-tuned</a:t>
            </a:r>
            <a:r>
              <a:rPr dirty="0" sz="800" spc="-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MiniLM (additional),</a:t>
            </a:r>
            <a:r>
              <a:rPr dirty="0" sz="800" spc="-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6B7280"/>
                </a:solidFill>
                <a:latin typeface="Calibri"/>
                <a:cs typeface="Calibri"/>
              </a:rPr>
              <a:t>plus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6B7280"/>
                </a:solidFill>
                <a:latin typeface="Calibri"/>
                <a:cs typeface="Calibri"/>
              </a:rPr>
              <a:t>the</a:t>
            </a:r>
            <a:r>
              <a:rPr dirty="0" sz="800" spc="-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embedding-distance</a:t>
            </a:r>
            <a:r>
              <a:rPr dirty="0" sz="800" spc="-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diagnostic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06717" y="2395537"/>
            <a:ext cx="8328659" cy="1072515"/>
            <a:chOff x="406717" y="2395537"/>
            <a:chExt cx="8328659" cy="1072515"/>
          </a:xfrm>
        </p:grpSpPr>
        <p:sp>
          <p:nvSpPr>
            <p:cNvPr id="13" name="object 13"/>
            <p:cNvSpPr/>
            <p:nvPr/>
          </p:nvSpPr>
          <p:spPr>
            <a:xfrm>
              <a:off x="411480" y="2400300"/>
              <a:ext cx="8319134" cy="1062990"/>
            </a:xfrm>
            <a:custGeom>
              <a:avLst/>
              <a:gdLst/>
              <a:ahLst/>
              <a:cxnLst/>
              <a:rect l="l" t="t" r="r" b="b"/>
              <a:pathLst>
                <a:path w="8319134" h="1062989">
                  <a:moveTo>
                    <a:pt x="8277605" y="1062989"/>
                  </a:moveTo>
                  <a:lnTo>
                    <a:pt x="41148" y="1062989"/>
                  </a:lnTo>
                  <a:lnTo>
                    <a:pt x="25131" y="1059756"/>
                  </a:lnTo>
                  <a:lnTo>
                    <a:pt x="12052" y="1050937"/>
                  </a:lnTo>
                  <a:lnTo>
                    <a:pt x="3233" y="1037858"/>
                  </a:lnTo>
                  <a:lnTo>
                    <a:pt x="0" y="1021841"/>
                  </a:lnTo>
                  <a:lnTo>
                    <a:pt x="0" y="41148"/>
                  </a:lnTo>
                  <a:lnTo>
                    <a:pt x="3233" y="25131"/>
                  </a:lnTo>
                  <a:lnTo>
                    <a:pt x="12052" y="12052"/>
                  </a:lnTo>
                  <a:lnTo>
                    <a:pt x="25131" y="3233"/>
                  </a:lnTo>
                  <a:lnTo>
                    <a:pt x="41148" y="0"/>
                  </a:lnTo>
                  <a:lnTo>
                    <a:pt x="8277605" y="0"/>
                  </a:lnTo>
                  <a:lnTo>
                    <a:pt x="8311840" y="18319"/>
                  </a:lnTo>
                  <a:lnTo>
                    <a:pt x="8318754" y="41148"/>
                  </a:lnTo>
                  <a:lnTo>
                    <a:pt x="8318754" y="1021841"/>
                  </a:lnTo>
                  <a:lnTo>
                    <a:pt x="8315520" y="1037858"/>
                  </a:lnTo>
                  <a:lnTo>
                    <a:pt x="8306702" y="1050937"/>
                  </a:lnTo>
                  <a:lnTo>
                    <a:pt x="8293622" y="1059756"/>
                  </a:lnTo>
                  <a:lnTo>
                    <a:pt x="8277605" y="1062989"/>
                  </a:lnTo>
                  <a:close/>
                </a:path>
              </a:pathLst>
            </a:custGeom>
            <a:solidFill>
              <a:srgbClr val="F4F4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11480" y="2400300"/>
              <a:ext cx="8319134" cy="1062990"/>
            </a:xfrm>
            <a:custGeom>
              <a:avLst/>
              <a:gdLst/>
              <a:ahLst/>
              <a:cxnLst/>
              <a:rect l="l" t="t" r="r" b="b"/>
              <a:pathLst>
                <a:path w="8319134" h="1062989">
                  <a:moveTo>
                    <a:pt x="0" y="41148"/>
                  </a:moveTo>
                  <a:lnTo>
                    <a:pt x="3233" y="25131"/>
                  </a:lnTo>
                  <a:lnTo>
                    <a:pt x="12052" y="12052"/>
                  </a:lnTo>
                  <a:lnTo>
                    <a:pt x="25131" y="3233"/>
                  </a:lnTo>
                  <a:lnTo>
                    <a:pt x="41148" y="0"/>
                  </a:lnTo>
                  <a:lnTo>
                    <a:pt x="8277605" y="0"/>
                  </a:lnTo>
                  <a:lnTo>
                    <a:pt x="8311840" y="18319"/>
                  </a:lnTo>
                  <a:lnTo>
                    <a:pt x="8318754" y="41148"/>
                  </a:lnTo>
                  <a:lnTo>
                    <a:pt x="8318754" y="1021841"/>
                  </a:lnTo>
                  <a:lnTo>
                    <a:pt x="8315520" y="1037858"/>
                  </a:lnTo>
                  <a:lnTo>
                    <a:pt x="8306702" y="1050937"/>
                  </a:lnTo>
                  <a:lnTo>
                    <a:pt x="8293622" y="1059756"/>
                  </a:lnTo>
                  <a:lnTo>
                    <a:pt x="8277605" y="1062989"/>
                  </a:lnTo>
                  <a:lnTo>
                    <a:pt x="41148" y="1062989"/>
                  </a:lnTo>
                  <a:lnTo>
                    <a:pt x="25131" y="1059756"/>
                  </a:lnTo>
                  <a:lnTo>
                    <a:pt x="12052" y="1050937"/>
                  </a:lnTo>
                  <a:lnTo>
                    <a:pt x="3233" y="1037858"/>
                  </a:lnTo>
                  <a:lnTo>
                    <a:pt x="0" y="1021841"/>
                  </a:lnTo>
                  <a:lnTo>
                    <a:pt x="0" y="41148"/>
                  </a:lnTo>
                  <a:close/>
                </a:path>
              </a:pathLst>
            </a:custGeom>
            <a:ln w="9524">
              <a:solidFill>
                <a:srgbClr val="E3E4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590804" y="2527173"/>
            <a:ext cx="44132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25" b="1">
                <a:solidFill>
                  <a:srgbClr val="E17039"/>
                </a:solidFill>
                <a:latin typeface="Cambria"/>
                <a:cs typeface="Cambria"/>
              </a:rPr>
              <a:t>RQ2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24610" y="2539492"/>
            <a:ext cx="129794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1A1F2B"/>
                </a:solidFill>
                <a:latin typeface="Calibri"/>
                <a:cs typeface="Calibri"/>
              </a:rPr>
              <a:t>Language</a:t>
            </a:r>
            <a:r>
              <a:rPr dirty="0" sz="1000" spc="-50" b="1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 b="1">
                <a:solidFill>
                  <a:srgbClr val="1A1F2B"/>
                </a:solidFill>
                <a:latin typeface="Calibri"/>
                <a:cs typeface="Calibri"/>
              </a:rPr>
              <a:t>generalisation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24610" y="2842514"/>
            <a:ext cx="4059554" cy="46418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Can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model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generalise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to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unseen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linguistic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expressions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while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preserving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magnitude?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800" spc="-20" i="1">
                <a:solidFill>
                  <a:srgbClr val="6B7280"/>
                </a:solidFill>
                <a:latin typeface="Calibri"/>
                <a:cs typeface="Calibri"/>
              </a:rPr>
              <a:t>Tested</a:t>
            </a:r>
            <a:r>
              <a:rPr dirty="0" sz="800" spc="-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6B7280"/>
                </a:solidFill>
                <a:latin typeface="Calibri"/>
                <a:cs typeface="Calibri"/>
              </a:rPr>
              <a:t>by:</a:t>
            </a:r>
            <a:r>
              <a:rPr dirty="0" sz="800" spc="-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held-</a:t>
            </a:r>
            <a:r>
              <a:rPr dirty="0" sz="800" i="1">
                <a:solidFill>
                  <a:srgbClr val="6B7280"/>
                </a:solidFill>
                <a:latin typeface="Calibri"/>
                <a:cs typeface="Calibri"/>
              </a:rPr>
              <a:t>out</a:t>
            </a:r>
            <a:r>
              <a:rPr dirty="0" sz="800" spc="-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templates</a:t>
            </a:r>
            <a:r>
              <a:rPr dirty="0" sz="800" spc="-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6B7280"/>
                </a:solidFill>
                <a:latin typeface="Calibri"/>
                <a:cs typeface="Calibri"/>
              </a:rPr>
              <a:t>·</a:t>
            </a:r>
            <a:r>
              <a:rPr dirty="0" sz="800" spc="-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held-</a:t>
            </a:r>
            <a:r>
              <a:rPr dirty="0" sz="800" i="1">
                <a:solidFill>
                  <a:srgbClr val="6B7280"/>
                </a:solidFill>
                <a:latin typeface="Calibri"/>
                <a:cs typeface="Calibri"/>
              </a:rPr>
              <a:t>out 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adverbs</a:t>
            </a:r>
            <a:r>
              <a:rPr dirty="0" sz="800" spc="-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6B7280"/>
                </a:solidFill>
                <a:latin typeface="Calibri"/>
                <a:cs typeface="Calibri"/>
              </a:rPr>
              <a:t>·</a:t>
            </a:r>
            <a:r>
              <a:rPr dirty="0" sz="800" spc="-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6B7280"/>
                </a:solidFill>
                <a:latin typeface="Calibri"/>
                <a:cs typeface="Calibri"/>
              </a:rPr>
              <a:t>LLM</a:t>
            </a:r>
            <a:r>
              <a:rPr dirty="0" sz="800" spc="-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paraphrases</a:t>
            </a:r>
            <a:r>
              <a:rPr dirty="0" sz="800" spc="-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6B7280"/>
                </a:solidFill>
                <a:latin typeface="Calibri"/>
                <a:cs typeface="Calibri"/>
              </a:rPr>
              <a:t>·</a:t>
            </a:r>
            <a:r>
              <a:rPr dirty="0" sz="800" spc="-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human-written</a:t>
            </a:r>
            <a:r>
              <a:rPr dirty="0" sz="800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instructions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06717" y="3527107"/>
            <a:ext cx="8328659" cy="1072515"/>
            <a:chOff x="406717" y="3527107"/>
            <a:chExt cx="8328659" cy="1072515"/>
          </a:xfrm>
        </p:grpSpPr>
        <p:sp>
          <p:nvSpPr>
            <p:cNvPr id="19" name="object 19"/>
            <p:cNvSpPr/>
            <p:nvPr/>
          </p:nvSpPr>
          <p:spPr>
            <a:xfrm>
              <a:off x="411480" y="3531870"/>
              <a:ext cx="8319134" cy="1062990"/>
            </a:xfrm>
            <a:custGeom>
              <a:avLst/>
              <a:gdLst/>
              <a:ahLst/>
              <a:cxnLst/>
              <a:rect l="l" t="t" r="r" b="b"/>
              <a:pathLst>
                <a:path w="8319134" h="1062989">
                  <a:moveTo>
                    <a:pt x="8277605" y="1062989"/>
                  </a:moveTo>
                  <a:lnTo>
                    <a:pt x="41148" y="1062989"/>
                  </a:lnTo>
                  <a:lnTo>
                    <a:pt x="25131" y="1059756"/>
                  </a:lnTo>
                  <a:lnTo>
                    <a:pt x="12052" y="1050937"/>
                  </a:lnTo>
                  <a:lnTo>
                    <a:pt x="3233" y="1037858"/>
                  </a:lnTo>
                  <a:lnTo>
                    <a:pt x="0" y="1021841"/>
                  </a:lnTo>
                  <a:lnTo>
                    <a:pt x="0" y="41148"/>
                  </a:lnTo>
                  <a:lnTo>
                    <a:pt x="3233" y="25131"/>
                  </a:lnTo>
                  <a:lnTo>
                    <a:pt x="12052" y="12051"/>
                  </a:lnTo>
                  <a:lnTo>
                    <a:pt x="25131" y="3233"/>
                  </a:lnTo>
                  <a:lnTo>
                    <a:pt x="41148" y="0"/>
                  </a:lnTo>
                  <a:lnTo>
                    <a:pt x="8277605" y="0"/>
                  </a:lnTo>
                  <a:lnTo>
                    <a:pt x="8311840" y="18319"/>
                  </a:lnTo>
                  <a:lnTo>
                    <a:pt x="8318754" y="41148"/>
                  </a:lnTo>
                  <a:lnTo>
                    <a:pt x="8318754" y="1021841"/>
                  </a:lnTo>
                  <a:lnTo>
                    <a:pt x="8315520" y="1037858"/>
                  </a:lnTo>
                  <a:lnTo>
                    <a:pt x="8306702" y="1050937"/>
                  </a:lnTo>
                  <a:lnTo>
                    <a:pt x="8293622" y="1059756"/>
                  </a:lnTo>
                  <a:lnTo>
                    <a:pt x="8277605" y="1062989"/>
                  </a:lnTo>
                  <a:close/>
                </a:path>
              </a:pathLst>
            </a:custGeom>
            <a:solidFill>
              <a:srgbClr val="F4F4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411480" y="3531870"/>
              <a:ext cx="8319134" cy="1062990"/>
            </a:xfrm>
            <a:custGeom>
              <a:avLst/>
              <a:gdLst/>
              <a:ahLst/>
              <a:cxnLst/>
              <a:rect l="l" t="t" r="r" b="b"/>
              <a:pathLst>
                <a:path w="8319134" h="1062989">
                  <a:moveTo>
                    <a:pt x="0" y="41148"/>
                  </a:moveTo>
                  <a:lnTo>
                    <a:pt x="3233" y="25131"/>
                  </a:lnTo>
                  <a:lnTo>
                    <a:pt x="12052" y="12051"/>
                  </a:lnTo>
                  <a:lnTo>
                    <a:pt x="25131" y="3233"/>
                  </a:lnTo>
                  <a:lnTo>
                    <a:pt x="41148" y="0"/>
                  </a:lnTo>
                  <a:lnTo>
                    <a:pt x="8277605" y="0"/>
                  </a:lnTo>
                  <a:lnTo>
                    <a:pt x="8311840" y="18319"/>
                  </a:lnTo>
                  <a:lnTo>
                    <a:pt x="8318754" y="41148"/>
                  </a:lnTo>
                  <a:lnTo>
                    <a:pt x="8318754" y="1021841"/>
                  </a:lnTo>
                  <a:lnTo>
                    <a:pt x="8315520" y="1037858"/>
                  </a:lnTo>
                  <a:lnTo>
                    <a:pt x="8306702" y="1050937"/>
                  </a:lnTo>
                  <a:lnTo>
                    <a:pt x="8293622" y="1059756"/>
                  </a:lnTo>
                  <a:lnTo>
                    <a:pt x="8277605" y="1062989"/>
                  </a:lnTo>
                  <a:lnTo>
                    <a:pt x="41148" y="1062989"/>
                  </a:lnTo>
                  <a:lnTo>
                    <a:pt x="25131" y="1059756"/>
                  </a:lnTo>
                  <a:lnTo>
                    <a:pt x="12052" y="1050937"/>
                  </a:lnTo>
                  <a:lnTo>
                    <a:pt x="3233" y="1037858"/>
                  </a:lnTo>
                  <a:lnTo>
                    <a:pt x="0" y="1021841"/>
                  </a:lnTo>
                  <a:lnTo>
                    <a:pt x="0" y="41148"/>
                  </a:lnTo>
                  <a:close/>
                </a:path>
              </a:pathLst>
            </a:custGeom>
            <a:ln w="9524">
              <a:solidFill>
                <a:srgbClr val="E3E4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590804" y="3658742"/>
            <a:ext cx="44132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25" b="1">
                <a:solidFill>
                  <a:srgbClr val="E17039"/>
                </a:solidFill>
                <a:latin typeface="Cambria"/>
                <a:cs typeface="Cambria"/>
              </a:rPr>
              <a:t>RQ3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24610" y="3671061"/>
            <a:ext cx="108966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solidFill>
                  <a:srgbClr val="1A1F2B"/>
                </a:solidFill>
                <a:latin typeface="Calibri"/>
                <a:cs typeface="Calibri"/>
              </a:rPr>
              <a:t>Linguistic</a:t>
            </a:r>
            <a:r>
              <a:rPr dirty="0" sz="1000" b="1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 b="1">
                <a:solidFill>
                  <a:srgbClr val="1A1F2B"/>
                </a:solidFill>
                <a:latin typeface="Calibri"/>
                <a:cs typeface="Calibri"/>
              </a:rPr>
              <a:t>vagueness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24610" y="3974084"/>
            <a:ext cx="5632450" cy="46418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What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accuracy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is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achievable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when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language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specifies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only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a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range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of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valid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transformations rather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than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a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single value?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800" spc="-20" i="1">
                <a:solidFill>
                  <a:srgbClr val="6B7280"/>
                </a:solidFill>
                <a:latin typeface="Calibri"/>
                <a:cs typeface="Calibri"/>
              </a:rPr>
              <a:t>Tested</a:t>
            </a:r>
            <a:r>
              <a:rPr dirty="0" sz="800" spc="-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6B7280"/>
                </a:solidFill>
                <a:latin typeface="Calibri"/>
                <a:cs typeface="Calibri"/>
              </a:rPr>
              <a:t>by:</a:t>
            </a:r>
            <a:r>
              <a:rPr dirty="0" sz="800" spc="-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explicit</a:t>
            </a:r>
            <a:r>
              <a:rPr dirty="0" sz="800" spc="-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6B7280"/>
                </a:solidFill>
                <a:latin typeface="Calibri"/>
                <a:cs typeface="Calibri"/>
              </a:rPr>
              <a:t>vs</a:t>
            </a:r>
            <a:r>
              <a:rPr dirty="0" sz="800" spc="-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vague</a:t>
            </a:r>
            <a:r>
              <a:rPr dirty="0" sz="800" spc="-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magnitude</a:t>
            </a:r>
            <a:r>
              <a:rPr dirty="0" sz="800" spc="-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subsets,</a:t>
            </a:r>
            <a:r>
              <a:rPr dirty="0" sz="800" spc="-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measured</a:t>
            </a:r>
            <a:r>
              <a:rPr dirty="0" sz="800" spc="-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against</a:t>
            </a:r>
            <a:r>
              <a:rPr dirty="0" sz="800" spc="-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6B7280"/>
                </a:solidFill>
                <a:latin typeface="Calibri"/>
                <a:cs typeface="Calibri"/>
              </a:rPr>
              <a:t>the</a:t>
            </a:r>
            <a:r>
              <a:rPr dirty="0" sz="800" spc="-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6B7280"/>
                </a:solidFill>
                <a:latin typeface="Calibri"/>
                <a:cs typeface="Calibri"/>
              </a:rPr>
              <a:t>noise</a:t>
            </a:r>
            <a:r>
              <a:rPr dirty="0" sz="800" spc="-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floor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65"/>
              </a:lnSpc>
            </a:pPr>
            <a:r>
              <a:rPr dirty="0"/>
              <a:t>IE</a:t>
            </a:r>
            <a:r>
              <a:rPr dirty="0" spc="-15"/>
              <a:t> </a:t>
            </a:r>
            <a:r>
              <a:rPr dirty="0"/>
              <a:t>643</a:t>
            </a:r>
            <a:r>
              <a:rPr dirty="0" spc="-15"/>
              <a:t> </a:t>
            </a:r>
            <a:r>
              <a:rPr dirty="0" spc="-10"/>
              <a:t>Course </a:t>
            </a:r>
            <a:r>
              <a:rPr dirty="0"/>
              <a:t>Project</a:t>
            </a:r>
            <a:r>
              <a:rPr dirty="0" spc="135"/>
              <a:t> </a:t>
            </a:r>
            <a:r>
              <a:rPr dirty="0"/>
              <a:t>·</a:t>
            </a:r>
            <a:r>
              <a:rPr dirty="0" spc="140"/>
              <a:t> </a:t>
            </a:r>
            <a:r>
              <a:rPr dirty="0" spc="-20"/>
              <a:t>Team</a:t>
            </a:r>
            <a:r>
              <a:rPr dirty="0" spc="-10"/>
              <a:t> DyoOptix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65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8780" y="244602"/>
            <a:ext cx="42735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E17039"/>
                </a:solidFill>
                <a:latin typeface="Calibri"/>
                <a:cs typeface="Calibri"/>
              </a:rPr>
              <a:t>BLOCK</a:t>
            </a:r>
            <a:r>
              <a:rPr dirty="0" sz="800" spc="-4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800" spc="-25" b="1">
                <a:solidFill>
                  <a:srgbClr val="E17039"/>
                </a:solidFill>
                <a:latin typeface="Calibri"/>
                <a:cs typeface="Calibri"/>
              </a:rPr>
              <a:t>01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4398" y="507268"/>
            <a:ext cx="158180" cy="158180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Why</a:t>
            </a:r>
            <a:r>
              <a:rPr dirty="0" spc="-60"/>
              <a:t> </a:t>
            </a:r>
            <a:r>
              <a:rPr dirty="0" spc="-20"/>
              <a:t>Parameters,</a:t>
            </a:r>
            <a:r>
              <a:rPr dirty="0" spc="-55"/>
              <a:t> </a:t>
            </a:r>
            <a:r>
              <a:rPr dirty="0"/>
              <a:t>Not</a:t>
            </a:r>
            <a:r>
              <a:rPr dirty="0" spc="-55"/>
              <a:t> </a:t>
            </a:r>
            <a:r>
              <a:rPr dirty="0" spc="-10"/>
              <a:t>Pixels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406717" y="1058227"/>
            <a:ext cx="4032250" cy="2409825"/>
            <a:chOff x="406717" y="1058227"/>
            <a:chExt cx="4032250" cy="2409825"/>
          </a:xfrm>
        </p:grpSpPr>
        <p:sp>
          <p:nvSpPr>
            <p:cNvPr id="6" name="object 6"/>
            <p:cNvSpPr/>
            <p:nvPr/>
          </p:nvSpPr>
          <p:spPr>
            <a:xfrm>
              <a:off x="411480" y="1062989"/>
              <a:ext cx="4022725" cy="2400300"/>
            </a:xfrm>
            <a:custGeom>
              <a:avLst/>
              <a:gdLst/>
              <a:ahLst/>
              <a:cxnLst/>
              <a:rect l="l" t="t" r="r" b="b"/>
              <a:pathLst>
                <a:path w="4022725" h="2400300">
                  <a:moveTo>
                    <a:pt x="3981075" y="2400299"/>
                  </a:moveTo>
                  <a:lnTo>
                    <a:pt x="41141" y="2400299"/>
                  </a:lnTo>
                  <a:lnTo>
                    <a:pt x="25127" y="2397066"/>
                  </a:lnTo>
                  <a:lnTo>
                    <a:pt x="12049" y="2388249"/>
                  </a:lnTo>
                  <a:lnTo>
                    <a:pt x="3233" y="2375172"/>
                  </a:lnTo>
                  <a:lnTo>
                    <a:pt x="0" y="2359158"/>
                  </a:lnTo>
                  <a:lnTo>
                    <a:pt x="0" y="41141"/>
                  </a:lnTo>
                  <a:lnTo>
                    <a:pt x="3233" y="25127"/>
                  </a:lnTo>
                  <a:lnTo>
                    <a:pt x="12049" y="12049"/>
                  </a:lnTo>
                  <a:lnTo>
                    <a:pt x="25127" y="3233"/>
                  </a:lnTo>
                  <a:lnTo>
                    <a:pt x="41141" y="0"/>
                  </a:lnTo>
                  <a:lnTo>
                    <a:pt x="3981075" y="0"/>
                  </a:lnTo>
                  <a:lnTo>
                    <a:pt x="4015304" y="18316"/>
                  </a:lnTo>
                  <a:lnTo>
                    <a:pt x="4022216" y="41141"/>
                  </a:lnTo>
                  <a:lnTo>
                    <a:pt x="4022216" y="2359158"/>
                  </a:lnTo>
                  <a:lnTo>
                    <a:pt x="4018983" y="2375172"/>
                  </a:lnTo>
                  <a:lnTo>
                    <a:pt x="4010167" y="2388249"/>
                  </a:lnTo>
                  <a:lnTo>
                    <a:pt x="3997089" y="2397066"/>
                  </a:lnTo>
                  <a:lnTo>
                    <a:pt x="3981075" y="2400299"/>
                  </a:lnTo>
                  <a:close/>
                </a:path>
              </a:pathLst>
            </a:custGeom>
            <a:solidFill>
              <a:srgbClr val="F4F4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11480" y="1062989"/>
              <a:ext cx="4022725" cy="2400300"/>
            </a:xfrm>
            <a:custGeom>
              <a:avLst/>
              <a:gdLst/>
              <a:ahLst/>
              <a:cxnLst/>
              <a:rect l="l" t="t" r="r" b="b"/>
              <a:pathLst>
                <a:path w="4022725" h="2400300">
                  <a:moveTo>
                    <a:pt x="0" y="41141"/>
                  </a:moveTo>
                  <a:lnTo>
                    <a:pt x="3233" y="25127"/>
                  </a:lnTo>
                  <a:lnTo>
                    <a:pt x="12049" y="12049"/>
                  </a:lnTo>
                  <a:lnTo>
                    <a:pt x="25127" y="3233"/>
                  </a:lnTo>
                  <a:lnTo>
                    <a:pt x="41141" y="0"/>
                  </a:lnTo>
                  <a:lnTo>
                    <a:pt x="3981075" y="0"/>
                  </a:lnTo>
                  <a:lnTo>
                    <a:pt x="4015304" y="18316"/>
                  </a:lnTo>
                  <a:lnTo>
                    <a:pt x="4022216" y="41141"/>
                  </a:lnTo>
                  <a:lnTo>
                    <a:pt x="4022216" y="2359158"/>
                  </a:lnTo>
                  <a:lnTo>
                    <a:pt x="4018983" y="2375172"/>
                  </a:lnTo>
                  <a:lnTo>
                    <a:pt x="4010167" y="2388249"/>
                  </a:lnTo>
                  <a:lnTo>
                    <a:pt x="3997089" y="2397066"/>
                  </a:lnTo>
                  <a:lnTo>
                    <a:pt x="3981075" y="2400299"/>
                  </a:lnTo>
                  <a:lnTo>
                    <a:pt x="41141" y="2400299"/>
                  </a:lnTo>
                  <a:lnTo>
                    <a:pt x="25127" y="2397066"/>
                  </a:lnTo>
                  <a:lnTo>
                    <a:pt x="12049" y="2388249"/>
                  </a:lnTo>
                  <a:lnTo>
                    <a:pt x="3233" y="2375172"/>
                  </a:lnTo>
                  <a:lnTo>
                    <a:pt x="0" y="2359158"/>
                  </a:lnTo>
                  <a:lnTo>
                    <a:pt x="0" y="41141"/>
                  </a:lnTo>
                  <a:close/>
                </a:path>
              </a:pathLst>
            </a:custGeom>
            <a:ln w="9524">
              <a:solidFill>
                <a:srgbClr val="E3E4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590804" y="1095517"/>
            <a:ext cx="1419225" cy="517525"/>
          </a:xfrm>
          <a:prstGeom prst="rect">
            <a:avLst/>
          </a:prstGeom>
        </p:spPr>
        <p:txBody>
          <a:bodyPr wrap="square" lIns="0" tIns="1187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dirty="0" sz="1300" spc="-10" b="1">
                <a:solidFill>
                  <a:srgbClr val="6B7280"/>
                </a:solidFill>
                <a:latin typeface="Cambria"/>
                <a:cs typeface="Cambria"/>
              </a:rPr>
              <a:t>Generative</a:t>
            </a:r>
            <a:r>
              <a:rPr dirty="0" sz="1300" spc="-55" b="1">
                <a:solidFill>
                  <a:srgbClr val="6B7280"/>
                </a:solidFill>
                <a:latin typeface="Cambria"/>
                <a:cs typeface="Cambria"/>
              </a:rPr>
              <a:t> </a:t>
            </a:r>
            <a:r>
              <a:rPr dirty="0" sz="1300" spc="-10" b="1">
                <a:solidFill>
                  <a:srgbClr val="6B7280"/>
                </a:solidFill>
                <a:latin typeface="Cambria"/>
                <a:cs typeface="Cambria"/>
              </a:rPr>
              <a:t>editing</a:t>
            </a:r>
            <a:endParaRPr sz="13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dirty="0" sz="800" i="1">
                <a:solidFill>
                  <a:srgbClr val="6B7280"/>
                </a:solidFill>
                <a:latin typeface="Calibri"/>
                <a:cs typeface="Calibri"/>
              </a:rPr>
              <a:t>e.g.</a:t>
            </a:r>
            <a:r>
              <a:rPr dirty="0" sz="800" spc="-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InstructPix2Pix,</a:t>
            </a:r>
            <a:r>
              <a:rPr dirty="0" sz="800" spc="-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MagicBrush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7377" y="1697228"/>
            <a:ext cx="190944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9715" indent="-247015">
              <a:lnSpc>
                <a:spcPct val="100000"/>
              </a:lnSpc>
              <a:spcBef>
                <a:spcPts val="100"/>
              </a:spcBef>
              <a:buChar char="•"/>
              <a:tabLst>
                <a:tab pos="259715" algn="l"/>
              </a:tabLst>
            </a:pP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Generates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edited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pixels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directly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7377" y="1923288"/>
            <a:ext cx="22085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9715" indent="-247015">
              <a:lnSpc>
                <a:spcPct val="100000"/>
              </a:lnSpc>
              <a:spcBef>
                <a:spcPts val="100"/>
              </a:spcBef>
              <a:buChar char="•"/>
              <a:tabLst>
                <a:tab pos="259715" algn="l"/>
              </a:tabLst>
            </a:pP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No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explicit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geometric</a:t>
            </a:r>
            <a:r>
              <a:rPr dirty="0" sz="900" spc="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parameter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interface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7377" y="2149348"/>
            <a:ext cx="275780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9715" indent="-247015">
              <a:lnSpc>
                <a:spcPct val="100000"/>
              </a:lnSpc>
              <a:spcBef>
                <a:spcPts val="100"/>
              </a:spcBef>
              <a:buChar char="•"/>
              <a:tabLst>
                <a:tab pos="259715" algn="l"/>
              </a:tabLst>
            </a:pP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No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parameterisation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whose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inverse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can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undo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edit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7377" y="2375407"/>
            <a:ext cx="24511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9715" indent="-247015">
              <a:lnSpc>
                <a:spcPct val="100000"/>
              </a:lnSpc>
              <a:spcBef>
                <a:spcPts val="100"/>
              </a:spcBef>
              <a:buChar char="•"/>
              <a:tabLst>
                <a:tab pos="259715" algn="l"/>
              </a:tabLst>
            </a:pP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geometric intent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is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not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directly inspectable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7377" y="2601468"/>
            <a:ext cx="27736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9715" indent="-247015">
              <a:lnSpc>
                <a:spcPct val="100000"/>
              </a:lnSpc>
              <a:spcBef>
                <a:spcPts val="100"/>
              </a:spcBef>
              <a:buChar char="•"/>
              <a:tabLst>
                <a:tab pos="259715" algn="l"/>
              </a:tabLst>
            </a:pP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Object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appearance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can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drift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between before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and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after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703254" y="1058227"/>
            <a:ext cx="4032250" cy="2409825"/>
            <a:chOff x="4703254" y="1058227"/>
            <a:chExt cx="4032250" cy="2409825"/>
          </a:xfrm>
        </p:grpSpPr>
        <p:sp>
          <p:nvSpPr>
            <p:cNvPr id="15" name="object 15"/>
            <p:cNvSpPr/>
            <p:nvPr/>
          </p:nvSpPr>
          <p:spPr>
            <a:xfrm>
              <a:off x="4708017" y="1062989"/>
              <a:ext cx="4022725" cy="2400300"/>
            </a:xfrm>
            <a:custGeom>
              <a:avLst/>
              <a:gdLst/>
              <a:ahLst/>
              <a:cxnLst/>
              <a:rect l="l" t="t" r="r" b="b"/>
              <a:pathLst>
                <a:path w="4022725" h="2400300">
                  <a:moveTo>
                    <a:pt x="3981075" y="2400299"/>
                  </a:moveTo>
                  <a:lnTo>
                    <a:pt x="41140" y="2400299"/>
                  </a:lnTo>
                  <a:lnTo>
                    <a:pt x="25126" y="2397066"/>
                  </a:lnTo>
                  <a:lnTo>
                    <a:pt x="12049" y="2388249"/>
                  </a:lnTo>
                  <a:lnTo>
                    <a:pt x="3232" y="2375172"/>
                  </a:lnTo>
                  <a:lnTo>
                    <a:pt x="0" y="2359158"/>
                  </a:lnTo>
                  <a:lnTo>
                    <a:pt x="0" y="41141"/>
                  </a:lnTo>
                  <a:lnTo>
                    <a:pt x="3232" y="25127"/>
                  </a:lnTo>
                  <a:lnTo>
                    <a:pt x="12049" y="12049"/>
                  </a:lnTo>
                  <a:lnTo>
                    <a:pt x="25126" y="3233"/>
                  </a:lnTo>
                  <a:lnTo>
                    <a:pt x="41140" y="0"/>
                  </a:lnTo>
                  <a:lnTo>
                    <a:pt x="3981075" y="0"/>
                  </a:lnTo>
                  <a:lnTo>
                    <a:pt x="4015304" y="18316"/>
                  </a:lnTo>
                  <a:lnTo>
                    <a:pt x="4022217" y="41141"/>
                  </a:lnTo>
                  <a:lnTo>
                    <a:pt x="4022217" y="2359158"/>
                  </a:lnTo>
                  <a:lnTo>
                    <a:pt x="4018984" y="2375172"/>
                  </a:lnTo>
                  <a:lnTo>
                    <a:pt x="4010167" y="2388249"/>
                  </a:lnTo>
                  <a:lnTo>
                    <a:pt x="3997089" y="2397066"/>
                  </a:lnTo>
                  <a:lnTo>
                    <a:pt x="3981075" y="2400299"/>
                  </a:lnTo>
                  <a:close/>
                </a:path>
              </a:pathLst>
            </a:custGeom>
            <a:solidFill>
              <a:srgbClr val="FCF1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708017" y="1062989"/>
              <a:ext cx="4022725" cy="2400300"/>
            </a:xfrm>
            <a:custGeom>
              <a:avLst/>
              <a:gdLst/>
              <a:ahLst/>
              <a:cxnLst/>
              <a:rect l="l" t="t" r="r" b="b"/>
              <a:pathLst>
                <a:path w="4022725" h="2400300">
                  <a:moveTo>
                    <a:pt x="0" y="41141"/>
                  </a:moveTo>
                  <a:lnTo>
                    <a:pt x="3232" y="25127"/>
                  </a:lnTo>
                  <a:lnTo>
                    <a:pt x="12049" y="12049"/>
                  </a:lnTo>
                  <a:lnTo>
                    <a:pt x="25126" y="3233"/>
                  </a:lnTo>
                  <a:lnTo>
                    <a:pt x="41140" y="0"/>
                  </a:lnTo>
                  <a:lnTo>
                    <a:pt x="3981075" y="0"/>
                  </a:lnTo>
                  <a:lnTo>
                    <a:pt x="4015304" y="18316"/>
                  </a:lnTo>
                  <a:lnTo>
                    <a:pt x="4022217" y="41141"/>
                  </a:lnTo>
                  <a:lnTo>
                    <a:pt x="4022217" y="2359158"/>
                  </a:lnTo>
                  <a:lnTo>
                    <a:pt x="4018984" y="2375172"/>
                  </a:lnTo>
                  <a:lnTo>
                    <a:pt x="4010167" y="2388249"/>
                  </a:lnTo>
                  <a:lnTo>
                    <a:pt x="3997089" y="2397066"/>
                  </a:lnTo>
                  <a:lnTo>
                    <a:pt x="3981075" y="2400299"/>
                  </a:lnTo>
                  <a:lnTo>
                    <a:pt x="41140" y="2400299"/>
                  </a:lnTo>
                  <a:lnTo>
                    <a:pt x="25126" y="2397066"/>
                  </a:lnTo>
                  <a:lnTo>
                    <a:pt x="12049" y="2388249"/>
                  </a:lnTo>
                  <a:lnTo>
                    <a:pt x="3232" y="2375172"/>
                  </a:lnTo>
                  <a:lnTo>
                    <a:pt x="0" y="2359158"/>
                  </a:lnTo>
                  <a:lnTo>
                    <a:pt x="0" y="41141"/>
                  </a:lnTo>
                  <a:close/>
                </a:path>
              </a:pathLst>
            </a:custGeom>
            <a:ln w="9524">
              <a:solidFill>
                <a:srgbClr val="E3E4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4887341" y="1095517"/>
            <a:ext cx="2153920" cy="517525"/>
          </a:xfrm>
          <a:prstGeom prst="rect">
            <a:avLst/>
          </a:prstGeom>
        </p:spPr>
        <p:txBody>
          <a:bodyPr wrap="square" lIns="0" tIns="1187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dirty="0" sz="1300" spc="-20" b="1">
                <a:solidFill>
                  <a:srgbClr val="E17039"/>
                </a:solidFill>
                <a:latin typeface="Cambria"/>
                <a:cs typeface="Cambria"/>
              </a:rPr>
              <a:t>Parametric</a:t>
            </a:r>
            <a:r>
              <a:rPr dirty="0" sz="1300" spc="-10" b="1">
                <a:solidFill>
                  <a:srgbClr val="E17039"/>
                </a:solidFill>
                <a:latin typeface="Cambria"/>
                <a:cs typeface="Cambria"/>
              </a:rPr>
              <a:t> </a:t>
            </a:r>
            <a:r>
              <a:rPr dirty="0" sz="1300" b="1">
                <a:solidFill>
                  <a:srgbClr val="E17039"/>
                </a:solidFill>
                <a:latin typeface="Cambria"/>
                <a:cs typeface="Cambria"/>
              </a:rPr>
              <a:t>editing</a:t>
            </a:r>
            <a:r>
              <a:rPr dirty="0" sz="1300" spc="280" b="1">
                <a:solidFill>
                  <a:srgbClr val="E17039"/>
                </a:solidFill>
                <a:latin typeface="Cambria"/>
                <a:cs typeface="Cambria"/>
              </a:rPr>
              <a:t> </a:t>
            </a:r>
            <a:r>
              <a:rPr dirty="0" sz="1300" spc="-10" b="1">
                <a:solidFill>
                  <a:srgbClr val="E17039"/>
                </a:solidFill>
                <a:latin typeface="Cambria"/>
                <a:cs typeface="Cambria"/>
              </a:rPr>
              <a:t>(ours)</a:t>
            </a:r>
            <a:endParaRPr sz="13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dirty="0" sz="800" i="1">
                <a:solidFill>
                  <a:srgbClr val="E17039"/>
                </a:solidFill>
                <a:latin typeface="Calibri"/>
                <a:cs typeface="Calibri"/>
              </a:rPr>
              <a:t>text </a:t>
            </a:r>
            <a:r>
              <a:rPr dirty="0" sz="800" i="1">
                <a:solidFill>
                  <a:srgbClr val="E17039"/>
                </a:solidFill>
                <a:latin typeface="Arial"/>
                <a:cs typeface="Arial"/>
              </a:rPr>
              <a:t>→</a:t>
            </a:r>
            <a:r>
              <a:rPr dirty="0" sz="800" spc="-40" i="1">
                <a:solidFill>
                  <a:srgbClr val="E17039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E17039"/>
                </a:solidFill>
                <a:latin typeface="Calibri"/>
                <a:cs typeface="Calibri"/>
              </a:rPr>
              <a:t>transform</a:t>
            </a:r>
            <a:r>
              <a:rPr dirty="0" sz="800" spc="5" i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E17039"/>
                </a:solidFill>
                <a:latin typeface="Calibri"/>
                <a:cs typeface="Calibri"/>
              </a:rPr>
              <a:t>parameters</a:t>
            </a:r>
            <a:r>
              <a:rPr dirty="0" sz="800" i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E17039"/>
                </a:solidFill>
                <a:latin typeface="Arial"/>
                <a:cs typeface="Arial"/>
              </a:rPr>
              <a:t>→</a:t>
            </a:r>
            <a:r>
              <a:rPr dirty="0" sz="800" spc="-35" i="1">
                <a:solidFill>
                  <a:srgbClr val="E17039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E17039"/>
                </a:solidFill>
                <a:latin typeface="Calibri"/>
                <a:cs typeface="Calibri"/>
              </a:rPr>
              <a:t>deterministic</a:t>
            </a:r>
            <a:r>
              <a:rPr dirty="0" sz="800" i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800" spc="-20" i="1">
                <a:solidFill>
                  <a:srgbClr val="E17039"/>
                </a:solidFill>
                <a:latin typeface="Calibri"/>
                <a:cs typeface="Calibri"/>
              </a:rPr>
              <a:t>warp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893914" y="1697228"/>
            <a:ext cx="28009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9715" indent="-247015">
              <a:lnSpc>
                <a:spcPct val="100000"/>
              </a:lnSpc>
              <a:spcBef>
                <a:spcPts val="100"/>
              </a:spcBef>
              <a:buChar char="•"/>
              <a:tabLst>
                <a:tab pos="259715" algn="l"/>
              </a:tabLst>
            </a:pP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Interpretable: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five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continuous values, directly readable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893914" y="1923288"/>
            <a:ext cx="23825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9715" indent="-247015">
              <a:lnSpc>
                <a:spcPct val="100000"/>
              </a:lnSpc>
              <a:spcBef>
                <a:spcPts val="100"/>
              </a:spcBef>
              <a:buChar char="•"/>
              <a:tabLst>
                <a:tab pos="259715" algn="l"/>
              </a:tabLst>
            </a:pP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Explicit: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a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requested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30° is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represented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as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1A1F2B"/>
                </a:solidFill>
                <a:latin typeface="Calibri"/>
                <a:cs typeface="Calibri"/>
              </a:rPr>
              <a:t>30°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893914" y="2149348"/>
            <a:ext cx="3011170" cy="388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9715" indent="-247015">
              <a:lnSpc>
                <a:spcPct val="100000"/>
              </a:lnSpc>
              <a:spcBef>
                <a:spcPts val="100"/>
              </a:spcBef>
              <a:buChar char="•"/>
              <a:tabLst>
                <a:tab pos="259715" algn="l"/>
              </a:tabLst>
            </a:pP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Reversible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at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transform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level: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M</a:t>
            </a:r>
            <a:r>
              <a:rPr dirty="0" sz="900">
                <a:solidFill>
                  <a:srgbClr val="1A1F2B"/>
                </a:solidFill>
                <a:latin typeface="MS PGothic"/>
                <a:cs typeface="MS PGothic"/>
              </a:rPr>
              <a:t>⁻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¹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undoes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geometry</a:t>
            </a:r>
            <a:endParaRPr sz="900">
              <a:latin typeface="Calibri"/>
              <a:cs typeface="Calibri"/>
            </a:endParaRPr>
          </a:p>
          <a:p>
            <a:pPr marL="259715" indent="-247015">
              <a:lnSpc>
                <a:spcPct val="100000"/>
              </a:lnSpc>
              <a:spcBef>
                <a:spcPts val="700"/>
              </a:spcBef>
              <a:buChar char="•"/>
              <a:tabLst>
                <a:tab pos="259715" algn="l"/>
              </a:tabLst>
            </a:pP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Auditable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 and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composable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 across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successive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edits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893914" y="2601468"/>
            <a:ext cx="317754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9715" indent="-247015">
              <a:lnSpc>
                <a:spcPct val="100000"/>
              </a:lnSpc>
              <a:spcBef>
                <a:spcPts val="100"/>
              </a:spcBef>
              <a:buChar char="•"/>
              <a:tabLst>
                <a:tab pos="259715" algn="l"/>
              </a:tabLst>
            </a:pP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No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semantic</a:t>
            </a:r>
            <a:r>
              <a:rPr dirty="0" sz="900" spc="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generation</a:t>
            </a:r>
            <a:r>
              <a:rPr dirty="0" sz="900" spc="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—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deterministic</a:t>
            </a:r>
            <a:r>
              <a:rPr dirty="0" sz="900" spc="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geometric</a:t>
            </a:r>
            <a:r>
              <a:rPr dirty="0" sz="900" spc="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resampling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06717" y="3629977"/>
            <a:ext cx="8328659" cy="901065"/>
            <a:chOff x="406717" y="3629977"/>
            <a:chExt cx="8328659" cy="901065"/>
          </a:xfrm>
        </p:grpSpPr>
        <p:sp>
          <p:nvSpPr>
            <p:cNvPr id="23" name="object 23"/>
            <p:cNvSpPr/>
            <p:nvPr/>
          </p:nvSpPr>
          <p:spPr>
            <a:xfrm>
              <a:off x="411480" y="3634740"/>
              <a:ext cx="8319134" cy="891540"/>
            </a:xfrm>
            <a:custGeom>
              <a:avLst/>
              <a:gdLst/>
              <a:ahLst/>
              <a:cxnLst/>
              <a:rect l="l" t="t" r="r" b="b"/>
              <a:pathLst>
                <a:path w="8319134" h="891539">
                  <a:moveTo>
                    <a:pt x="8277608" y="891539"/>
                  </a:moveTo>
                  <a:lnTo>
                    <a:pt x="41144" y="891539"/>
                  </a:lnTo>
                  <a:lnTo>
                    <a:pt x="25129" y="888306"/>
                  </a:lnTo>
                  <a:lnTo>
                    <a:pt x="12050" y="879489"/>
                  </a:lnTo>
                  <a:lnTo>
                    <a:pt x="3233" y="866410"/>
                  </a:lnTo>
                  <a:lnTo>
                    <a:pt x="0" y="850395"/>
                  </a:lnTo>
                  <a:lnTo>
                    <a:pt x="0" y="41144"/>
                  </a:lnTo>
                  <a:lnTo>
                    <a:pt x="3233" y="25129"/>
                  </a:lnTo>
                  <a:lnTo>
                    <a:pt x="12050" y="12050"/>
                  </a:lnTo>
                  <a:lnTo>
                    <a:pt x="25129" y="3233"/>
                  </a:lnTo>
                  <a:lnTo>
                    <a:pt x="41144" y="0"/>
                  </a:lnTo>
                  <a:lnTo>
                    <a:pt x="8277608" y="0"/>
                  </a:lnTo>
                  <a:lnTo>
                    <a:pt x="8311841" y="18317"/>
                  </a:lnTo>
                  <a:lnTo>
                    <a:pt x="8318754" y="41144"/>
                  </a:lnTo>
                  <a:lnTo>
                    <a:pt x="8318754" y="850395"/>
                  </a:lnTo>
                  <a:lnTo>
                    <a:pt x="8315521" y="866410"/>
                  </a:lnTo>
                  <a:lnTo>
                    <a:pt x="8306703" y="879489"/>
                  </a:lnTo>
                  <a:lnTo>
                    <a:pt x="8293624" y="888306"/>
                  </a:lnTo>
                  <a:lnTo>
                    <a:pt x="8277608" y="891539"/>
                  </a:lnTo>
                  <a:close/>
                </a:path>
              </a:pathLst>
            </a:custGeom>
            <a:solidFill>
              <a:srgbClr val="F6F6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411480" y="3634740"/>
              <a:ext cx="8319134" cy="891540"/>
            </a:xfrm>
            <a:custGeom>
              <a:avLst/>
              <a:gdLst/>
              <a:ahLst/>
              <a:cxnLst/>
              <a:rect l="l" t="t" r="r" b="b"/>
              <a:pathLst>
                <a:path w="8319134" h="891539">
                  <a:moveTo>
                    <a:pt x="0" y="41144"/>
                  </a:moveTo>
                  <a:lnTo>
                    <a:pt x="3233" y="25129"/>
                  </a:lnTo>
                  <a:lnTo>
                    <a:pt x="12050" y="12050"/>
                  </a:lnTo>
                  <a:lnTo>
                    <a:pt x="25129" y="3233"/>
                  </a:lnTo>
                  <a:lnTo>
                    <a:pt x="41144" y="0"/>
                  </a:lnTo>
                  <a:lnTo>
                    <a:pt x="8277608" y="0"/>
                  </a:lnTo>
                  <a:lnTo>
                    <a:pt x="8311841" y="18317"/>
                  </a:lnTo>
                  <a:lnTo>
                    <a:pt x="8318754" y="41144"/>
                  </a:lnTo>
                  <a:lnTo>
                    <a:pt x="8318754" y="850395"/>
                  </a:lnTo>
                  <a:lnTo>
                    <a:pt x="8315521" y="866410"/>
                  </a:lnTo>
                  <a:lnTo>
                    <a:pt x="8306703" y="879489"/>
                  </a:lnTo>
                  <a:lnTo>
                    <a:pt x="8293624" y="888306"/>
                  </a:lnTo>
                  <a:lnTo>
                    <a:pt x="8277608" y="891539"/>
                  </a:lnTo>
                  <a:lnTo>
                    <a:pt x="41144" y="891539"/>
                  </a:lnTo>
                  <a:lnTo>
                    <a:pt x="25129" y="888306"/>
                  </a:lnTo>
                  <a:lnTo>
                    <a:pt x="12050" y="879489"/>
                  </a:lnTo>
                  <a:lnTo>
                    <a:pt x="3233" y="866410"/>
                  </a:lnTo>
                  <a:lnTo>
                    <a:pt x="0" y="850395"/>
                  </a:lnTo>
                  <a:lnTo>
                    <a:pt x="0" y="41144"/>
                  </a:lnTo>
                  <a:close/>
                </a:path>
              </a:pathLst>
            </a:custGeom>
            <a:ln w="9524">
              <a:solidFill>
                <a:srgbClr val="E3E4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604520" y="3910329"/>
            <a:ext cx="776795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1A1F2B"/>
                </a:solidFill>
                <a:latin typeface="Calibri"/>
                <a:cs typeface="Calibri"/>
              </a:rPr>
              <a:t>Wider</a:t>
            </a:r>
            <a:r>
              <a:rPr dirty="0" sz="1000" spc="-20" b="1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1A1F2B"/>
                </a:solidFill>
                <a:latin typeface="Calibri"/>
                <a:cs typeface="Calibri"/>
              </a:rPr>
              <a:t>framing.</a:t>
            </a:r>
            <a:r>
              <a:rPr dirty="0" sz="1000" spc="195" b="1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This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is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language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grounded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into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structured</a:t>
            </a:r>
            <a:r>
              <a:rPr dirty="0" sz="10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control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parameters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—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same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pattern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as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an</a:t>
            </a:r>
            <a:r>
              <a:rPr dirty="0" sz="10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LLM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emitting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a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typed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function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call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rather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than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prose.</a:t>
            </a:r>
            <a:r>
              <a:rPr dirty="0" sz="1000" spc="-3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Geometry</a:t>
            </a:r>
            <a:r>
              <a:rPr dirty="0" sz="10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is</a:t>
            </a:r>
            <a:r>
              <a:rPr dirty="0" sz="10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a</a:t>
            </a:r>
            <a:r>
              <a:rPr dirty="0" sz="10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testbed</a:t>
            </a:r>
            <a:r>
              <a:rPr dirty="0" sz="1000" spc="-3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where</a:t>
            </a:r>
            <a:r>
              <a:rPr dirty="0" sz="10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10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ground</a:t>
            </a:r>
            <a:r>
              <a:rPr dirty="0" sz="10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truth</a:t>
            </a:r>
            <a:r>
              <a:rPr dirty="0" sz="1000" spc="-3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is</a:t>
            </a:r>
            <a:r>
              <a:rPr dirty="0" sz="10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exact</a:t>
            </a:r>
            <a:r>
              <a:rPr dirty="0" sz="10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and</a:t>
            </a:r>
            <a:r>
              <a:rPr dirty="0" sz="10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1000" spc="-3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evaluation</a:t>
            </a:r>
            <a:r>
              <a:rPr dirty="0" sz="10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is</a:t>
            </a:r>
            <a:r>
              <a:rPr dirty="0" sz="10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unambiguous.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65"/>
              </a:lnSpc>
            </a:pPr>
            <a:r>
              <a:rPr dirty="0"/>
              <a:t>IE</a:t>
            </a:r>
            <a:r>
              <a:rPr dirty="0" spc="-15"/>
              <a:t> </a:t>
            </a:r>
            <a:r>
              <a:rPr dirty="0"/>
              <a:t>643</a:t>
            </a:r>
            <a:r>
              <a:rPr dirty="0" spc="-15"/>
              <a:t> </a:t>
            </a:r>
            <a:r>
              <a:rPr dirty="0" spc="-10"/>
              <a:t>Course </a:t>
            </a:r>
            <a:r>
              <a:rPr dirty="0"/>
              <a:t>Project</a:t>
            </a:r>
            <a:r>
              <a:rPr dirty="0" spc="135"/>
              <a:t> </a:t>
            </a:r>
            <a:r>
              <a:rPr dirty="0"/>
              <a:t>·</a:t>
            </a:r>
            <a:r>
              <a:rPr dirty="0" spc="140"/>
              <a:t> </a:t>
            </a:r>
            <a:r>
              <a:rPr dirty="0" spc="-20"/>
              <a:t>Team</a:t>
            </a:r>
            <a:r>
              <a:rPr dirty="0" spc="-10"/>
              <a:t> DyoOptix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65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8780" y="244602"/>
            <a:ext cx="42735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E17039"/>
                </a:solidFill>
                <a:latin typeface="Calibri"/>
                <a:cs typeface="Calibri"/>
              </a:rPr>
              <a:t>BLOCK</a:t>
            </a:r>
            <a:r>
              <a:rPr dirty="0" sz="800" spc="-4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800" spc="-25" b="1">
                <a:solidFill>
                  <a:srgbClr val="E17039"/>
                </a:solidFill>
                <a:latin typeface="Calibri"/>
                <a:cs typeface="Calibri"/>
              </a:rPr>
              <a:t>01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4398" y="507268"/>
            <a:ext cx="158180" cy="158180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Formal</a:t>
            </a:r>
            <a:r>
              <a:rPr dirty="0" spc="-90"/>
              <a:t> </a:t>
            </a:r>
            <a:r>
              <a:rPr dirty="0" spc="-30"/>
              <a:t>Task</a:t>
            </a:r>
            <a:r>
              <a:rPr dirty="0" spc="-85"/>
              <a:t> </a:t>
            </a:r>
            <a:r>
              <a:rPr dirty="0" spc="-10"/>
              <a:t>Definition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406717" y="1469707"/>
            <a:ext cx="1292225" cy="1038225"/>
            <a:chOff x="406717" y="1469707"/>
            <a:chExt cx="1292225" cy="1038225"/>
          </a:xfrm>
        </p:grpSpPr>
        <p:sp>
          <p:nvSpPr>
            <p:cNvPr id="6" name="object 6"/>
            <p:cNvSpPr/>
            <p:nvPr/>
          </p:nvSpPr>
          <p:spPr>
            <a:xfrm>
              <a:off x="411480" y="1474469"/>
              <a:ext cx="1282700" cy="1028700"/>
            </a:xfrm>
            <a:custGeom>
              <a:avLst/>
              <a:gdLst/>
              <a:ahLst/>
              <a:cxnLst/>
              <a:rect l="l" t="t" r="r" b="b"/>
              <a:pathLst>
                <a:path w="1282700" h="1028700">
                  <a:moveTo>
                    <a:pt x="1241297" y="1028699"/>
                  </a:moveTo>
                  <a:lnTo>
                    <a:pt x="41147" y="1028699"/>
                  </a:lnTo>
                  <a:lnTo>
                    <a:pt x="25131" y="1025466"/>
                  </a:lnTo>
                  <a:lnTo>
                    <a:pt x="12051" y="1016648"/>
                  </a:lnTo>
                  <a:lnTo>
                    <a:pt x="3233" y="1003568"/>
                  </a:lnTo>
                  <a:lnTo>
                    <a:pt x="0" y="987551"/>
                  </a:lnTo>
                  <a:lnTo>
                    <a:pt x="0" y="41147"/>
                  </a:lnTo>
                  <a:lnTo>
                    <a:pt x="3233" y="25131"/>
                  </a:lnTo>
                  <a:lnTo>
                    <a:pt x="12051" y="12051"/>
                  </a:lnTo>
                  <a:lnTo>
                    <a:pt x="25131" y="3233"/>
                  </a:lnTo>
                  <a:lnTo>
                    <a:pt x="41147" y="0"/>
                  </a:lnTo>
                  <a:lnTo>
                    <a:pt x="1241297" y="0"/>
                  </a:lnTo>
                  <a:lnTo>
                    <a:pt x="1275532" y="18319"/>
                  </a:lnTo>
                  <a:lnTo>
                    <a:pt x="1282445" y="41147"/>
                  </a:lnTo>
                  <a:lnTo>
                    <a:pt x="1282445" y="987551"/>
                  </a:lnTo>
                  <a:lnTo>
                    <a:pt x="1279212" y="1003568"/>
                  </a:lnTo>
                  <a:lnTo>
                    <a:pt x="1270393" y="1016648"/>
                  </a:lnTo>
                  <a:lnTo>
                    <a:pt x="1257314" y="1025466"/>
                  </a:lnTo>
                  <a:lnTo>
                    <a:pt x="1241297" y="1028699"/>
                  </a:lnTo>
                  <a:close/>
                </a:path>
              </a:pathLst>
            </a:custGeom>
            <a:solidFill>
              <a:srgbClr val="F4F4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11480" y="1474469"/>
              <a:ext cx="1282700" cy="1028700"/>
            </a:xfrm>
            <a:custGeom>
              <a:avLst/>
              <a:gdLst/>
              <a:ahLst/>
              <a:cxnLst/>
              <a:rect l="l" t="t" r="r" b="b"/>
              <a:pathLst>
                <a:path w="1282700" h="1028700">
                  <a:moveTo>
                    <a:pt x="0" y="41147"/>
                  </a:moveTo>
                  <a:lnTo>
                    <a:pt x="3233" y="25131"/>
                  </a:lnTo>
                  <a:lnTo>
                    <a:pt x="12051" y="12051"/>
                  </a:lnTo>
                  <a:lnTo>
                    <a:pt x="25131" y="3233"/>
                  </a:lnTo>
                  <a:lnTo>
                    <a:pt x="41147" y="0"/>
                  </a:lnTo>
                  <a:lnTo>
                    <a:pt x="1241297" y="0"/>
                  </a:lnTo>
                  <a:lnTo>
                    <a:pt x="1275532" y="18319"/>
                  </a:lnTo>
                  <a:lnTo>
                    <a:pt x="1282445" y="41147"/>
                  </a:lnTo>
                  <a:lnTo>
                    <a:pt x="1282445" y="987551"/>
                  </a:lnTo>
                  <a:lnTo>
                    <a:pt x="1279212" y="1003568"/>
                  </a:lnTo>
                  <a:lnTo>
                    <a:pt x="1270393" y="1016648"/>
                  </a:lnTo>
                  <a:lnTo>
                    <a:pt x="1257314" y="1025466"/>
                  </a:lnTo>
                  <a:lnTo>
                    <a:pt x="1241297" y="1028699"/>
                  </a:lnTo>
                  <a:lnTo>
                    <a:pt x="41147" y="1028699"/>
                  </a:lnTo>
                  <a:lnTo>
                    <a:pt x="25131" y="1025466"/>
                  </a:lnTo>
                  <a:lnTo>
                    <a:pt x="12051" y="1016648"/>
                  </a:lnTo>
                  <a:lnTo>
                    <a:pt x="3233" y="1003568"/>
                  </a:lnTo>
                  <a:lnTo>
                    <a:pt x="0" y="987551"/>
                  </a:lnTo>
                  <a:lnTo>
                    <a:pt x="0" y="41147"/>
                  </a:lnTo>
                  <a:close/>
                </a:path>
              </a:pathLst>
            </a:custGeom>
            <a:ln w="9524">
              <a:solidFill>
                <a:srgbClr val="E3E4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781990" y="1680083"/>
            <a:ext cx="5410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1A1F2B"/>
                </a:solidFill>
                <a:latin typeface="Calibri"/>
                <a:cs typeface="Calibri"/>
              </a:rPr>
              <a:t>Instruction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4404" y="1903476"/>
            <a:ext cx="51689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59055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6B7280"/>
                </a:solidFill>
                <a:latin typeface="Calibri"/>
                <a:cs typeface="Calibri"/>
              </a:rPr>
              <a:t>"rotate </a:t>
            </a:r>
            <a:r>
              <a:rPr dirty="0" sz="800" spc="-25">
                <a:solidFill>
                  <a:srgbClr val="6B7280"/>
                </a:solidFill>
                <a:latin typeface="Calibri"/>
                <a:cs typeface="Calibri"/>
              </a:rPr>
              <a:t>it</a:t>
            </a:r>
            <a:r>
              <a:rPr dirty="0" sz="800" spc="50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6B7280"/>
                </a:solidFill>
                <a:latin typeface="Calibri"/>
                <a:cs typeface="Calibri"/>
              </a:rPr>
              <a:t>slightly</a:t>
            </a:r>
            <a:r>
              <a:rPr dirty="0" sz="800" spc="2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6B7280"/>
                </a:solidFill>
                <a:latin typeface="Calibri"/>
                <a:cs typeface="Calibri"/>
              </a:rPr>
              <a:t>left"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01038" y="1878583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 b="1">
                <a:solidFill>
                  <a:srgbClr val="E17039"/>
                </a:solidFill>
                <a:latin typeface="Arial"/>
                <a:cs typeface="Arial"/>
              </a:rPr>
              <a:t>→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881187" y="1469707"/>
            <a:ext cx="1292225" cy="1038225"/>
            <a:chOff x="1881187" y="1469707"/>
            <a:chExt cx="1292225" cy="1038225"/>
          </a:xfrm>
        </p:grpSpPr>
        <p:sp>
          <p:nvSpPr>
            <p:cNvPr id="12" name="object 12"/>
            <p:cNvSpPr/>
            <p:nvPr/>
          </p:nvSpPr>
          <p:spPr>
            <a:xfrm>
              <a:off x="1885950" y="1474469"/>
              <a:ext cx="1282700" cy="1028700"/>
            </a:xfrm>
            <a:custGeom>
              <a:avLst/>
              <a:gdLst/>
              <a:ahLst/>
              <a:cxnLst/>
              <a:rect l="l" t="t" r="r" b="b"/>
              <a:pathLst>
                <a:path w="1282700" h="1028700">
                  <a:moveTo>
                    <a:pt x="1241297" y="1028699"/>
                  </a:moveTo>
                  <a:lnTo>
                    <a:pt x="41147" y="1028699"/>
                  </a:lnTo>
                  <a:lnTo>
                    <a:pt x="25131" y="1025466"/>
                  </a:lnTo>
                  <a:lnTo>
                    <a:pt x="12052" y="1016648"/>
                  </a:lnTo>
                  <a:lnTo>
                    <a:pt x="3233" y="1003568"/>
                  </a:lnTo>
                  <a:lnTo>
                    <a:pt x="0" y="987551"/>
                  </a:lnTo>
                  <a:lnTo>
                    <a:pt x="0" y="41147"/>
                  </a:lnTo>
                  <a:lnTo>
                    <a:pt x="3233" y="25131"/>
                  </a:lnTo>
                  <a:lnTo>
                    <a:pt x="12052" y="12051"/>
                  </a:lnTo>
                  <a:lnTo>
                    <a:pt x="25131" y="3233"/>
                  </a:lnTo>
                  <a:lnTo>
                    <a:pt x="41147" y="0"/>
                  </a:lnTo>
                  <a:lnTo>
                    <a:pt x="1241297" y="0"/>
                  </a:lnTo>
                  <a:lnTo>
                    <a:pt x="1275532" y="18319"/>
                  </a:lnTo>
                  <a:lnTo>
                    <a:pt x="1282445" y="41147"/>
                  </a:lnTo>
                  <a:lnTo>
                    <a:pt x="1282445" y="987551"/>
                  </a:lnTo>
                  <a:lnTo>
                    <a:pt x="1279212" y="1003568"/>
                  </a:lnTo>
                  <a:lnTo>
                    <a:pt x="1270394" y="1016648"/>
                  </a:lnTo>
                  <a:lnTo>
                    <a:pt x="1257314" y="1025466"/>
                  </a:lnTo>
                  <a:lnTo>
                    <a:pt x="1241297" y="1028699"/>
                  </a:lnTo>
                  <a:close/>
                </a:path>
              </a:pathLst>
            </a:custGeom>
            <a:solidFill>
              <a:srgbClr val="F4F4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885950" y="1474469"/>
              <a:ext cx="1282700" cy="1028700"/>
            </a:xfrm>
            <a:custGeom>
              <a:avLst/>
              <a:gdLst/>
              <a:ahLst/>
              <a:cxnLst/>
              <a:rect l="l" t="t" r="r" b="b"/>
              <a:pathLst>
                <a:path w="1282700" h="1028700">
                  <a:moveTo>
                    <a:pt x="0" y="41147"/>
                  </a:moveTo>
                  <a:lnTo>
                    <a:pt x="3233" y="25131"/>
                  </a:lnTo>
                  <a:lnTo>
                    <a:pt x="12052" y="12051"/>
                  </a:lnTo>
                  <a:lnTo>
                    <a:pt x="25131" y="3233"/>
                  </a:lnTo>
                  <a:lnTo>
                    <a:pt x="41147" y="0"/>
                  </a:lnTo>
                  <a:lnTo>
                    <a:pt x="1241297" y="0"/>
                  </a:lnTo>
                  <a:lnTo>
                    <a:pt x="1275532" y="18319"/>
                  </a:lnTo>
                  <a:lnTo>
                    <a:pt x="1282445" y="41147"/>
                  </a:lnTo>
                  <a:lnTo>
                    <a:pt x="1282445" y="987551"/>
                  </a:lnTo>
                  <a:lnTo>
                    <a:pt x="1279212" y="1003568"/>
                  </a:lnTo>
                  <a:lnTo>
                    <a:pt x="1270394" y="1016648"/>
                  </a:lnTo>
                  <a:lnTo>
                    <a:pt x="1257314" y="1025466"/>
                  </a:lnTo>
                  <a:lnTo>
                    <a:pt x="1241297" y="1028699"/>
                  </a:lnTo>
                  <a:lnTo>
                    <a:pt x="41147" y="1028699"/>
                  </a:lnTo>
                  <a:lnTo>
                    <a:pt x="25131" y="1025466"/>
                  </a:lnTo>
                  <a:lnTo>
                    <a:pt x="12052" y="1016648"/>
                  </a:lnTo>
                  <a:lnTo>
                    <a:pt x="3233" y="1003568"/>
                  </a:lnTo>
                  <a:lnTo>
                    <a:pt x="0" y="987551"/>
                  </a:lnTo>
                  <a:lnTo>
                    <a:pt x="0" y="41147"/>
                  </a:lnTo>
                  <a:close/>
                </a:path>
              </a:pathLst>
            </a:custGeom>
            <a:ln w="9524">
              <a:solidFill>
                <a:srgbClr val="E3E4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2210696" y="1680083"/>
            <a:ext cx="63309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 b="1">
                <a:solidFill>
                  <a:srgbClr val="1A1F2B"/>
                </a:solidFill>
                <a:latin typeface="Calibri"/>
                <a:cs typeface="Calibri"/>
              </a:rPr>
              <a:t>Text</a:t>
            </a:r>
            <a:r>
              <a:rPr dirty="0" sz="900" spc="-30" b="1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 b="1">
                <a:solidFill>
                  <a:srgbClr val="1A1F2B"/>
                </a:solidFill>
                <a:latin typeface="Calibri"/>
                <a:cs typeface="Calibri"/>
              </a:rPr>
              <a:t>encoder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297644" y="1903476"/>
            <a:ext cx="45910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1115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6B7280"/>
                </a:solidFill>
                <a:latin typeface="Calibri"/>
                <a:cs typeface="Calibri"/>
              </a:rPr>
              <a:t>frozen</a:t>
            </a:r>
            <a:r>
              <a:rPr dirty="0" sz="800" spc="-2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spc="-35">
                <a:solidFill>
                  <a:srgbClr val="6B7280"/>
                </a:solidFill>
                <a:latin typeface="Calibri"/>
                <a:cs typeface="Calibri"/>
              </a:rPr>
              <a:t>or</a:t>
            </a:r>
            <a:r>
              <a:rPr dirty="0" sz="800" spc="50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6B7280"/>
                </a:solidFill>
                <a:latin typeface="Calibri"/>
                <a:cs typeface="Calibri"/>
              </a:rPr>
              <a:t>fine-tuned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175508" y="1878583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 b="1">
                <a:solidFill>
                  <a:srgbClr val="E17039"/>
                </a:solidFill>
                <a:latin typeface="Arial"/>
                <a:cs typeface="Arial"/>
              </a:rPr>
              <a:t>→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355657" y="1469707"/>
            <a:ext cx="1292225" cy="1038225"/>
            <a:chOff x="3355657" y="1469707"/>
            <a:chExt cx="1292225" cy="1038225"/>
          </a:xfrm>
        </p:grpSpPr>
        <p:sp>
          <p:nvSpPr>
            <p:cNvPr id="18" name="object 18"/>
            <p:cNvSpPr/>
            <p:nvPr/>
          </p:nvSpPr>
          <p:spPr>
            <a:xfrm>
              <a:off x="3360420" y="1474469"/>
              <a:ext cx="1282700" cy="1028700"/>
            </a:xfrm>
            <a:custGeom>
              <a:avLst/>
              <a:gdLst/>
              <a:ahLst/>
              <a:cxnLst/>
              <a:rect l="l" t="t" r="r" b="b"/>
              <a:pathLst>
                <a:path w="1282700" h="1028700">
                  <a:moveTo>
                    <a:pt x="1241297" y="1028699"/>
                  </a:moveTo>
                  <a:lnTo>
                    <a:pt x="41147" y="1028699"/>
                  </a:lnTo>
                  <a:lnTo>
                    <a:pt x="25131" y="1025466"/>
                  </a:lnTo>
                  <a:lnTo>
                    <a:pt x="12051" y="1016648"/>
                  </a:lnTo>
                  <a:lnTo>
                    <a:pt x="3233" y="1003568"/>
                  </a:lnTo>
                  <a:lnTo>
                    <a:pt x="0" y="987551"/>
                  </a:lnTo>
                  <a:lnTo>
                    <a:pt x="0" y="41147"/>
                  </a:lnTo>
                  <a:lnTo>
                    <a:pt x="3233" y="25131"/>
                  </a:lnTo>
                  <a:lnTo>
                    <a:pt x="12051" y="12051"/>
                  </a:lnTo>
                  <a:lnTo>
                    <a:pt x="25131" y="3233"/>
                  </a:lnTo>
                  <a:lnTo>
                    <a:pt x="41147" y="0"/>
                  </a:lnTo>
                  <a:lnTo>
                    <a:pt x="1241297" y="0"/>
                  </a:lnTo>
                  <a:lnTo>
                    <a:pt x="1275532" y="18319"/>
                  </a:lnTo>
                  <a:lnTo>
                    <a:pt x="1282445" y="41147"/>
                  </a:lnTo>
                  <a:lnTo>
                    <a:pt x="1282445" y="987551"/>
                  </a:lnTo>
                  <a:lnTo>
                    <a:pt x="1279212" y="1003568"/>
                  </a:lnTo>
                  <a:lnTo>
                    <a:pt x="1270393" y="1016648"/>
                  </a:lnTo>
                  <a:lnTo>
                    <a:pt x="1257314" y="1025466"/>
                  </a:lnTo>
                  <a:lnTo>
                    <a:pt x="1241297" y="1028699"/>
                  </a:lnTo>
                  <a:close/>
                </a:path>
              </a:pathLst>
            </a:custGeom>
            <a:solidFill>
              <a:srgbClr val="FCF1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3360420" y="1474469"/>
              <a:ext cx="1282700" cy="1028700"/>
            </a:xfrm>
            <a:custGeom>
              <a:avLst/>
              <a:gdLst/>
              <a:ahLst/>
              <a:cxnLst/>
              <a:rect l="l" t="t" r="r" b="b"/>
              <a:pathLst>
                <a:path w="1282700" h="1028700">
                  <a:moveTo>
                    <a:pt x="0" y="41147"/>
                  </a:moveTo>
                  <a:lnTo>
                    <a:pt x="3233" y="25131"/>
                  </a:lnTo>
                  <a:lnTo>
                    <a:pt x="12051" y="12051"/>
                  </a:lnTo>
                  <a:lnTo>
                    <a:pt x="25131" y="3233"/>
                  </a:lnTo>
                  <a:lnTo>
                    <a:pt x="41147" y="0"/>
                  </a:lnTo>
                  <a:lnTo>
                    <a:pt x="1241297" y="0"/>
                  </a:lnTo>
                  <a:lnTo>
                    <a:pt x="1275532" y="18319"/>
                  </a:lnTo>
                  <a:lnTo>
                    <a:pt x="1282445" y="41147"/>
                  </a:lnTo>
                  <a:lnTo>
                    <a:pt x="1282445" y="987551"/>
                  </a:lnTo>
                  <a:lnTo>
                    <a:pt x="1279212" y="1003568"/>
                  </a:lnTo>
                  <a:lnTo>
                    <a:pt x="1270393" y="1016648"/>
                  </a:lnTo>
                  <a:lnTo>
                    <a:pt x="1257314" y="1025466"/>
                  </a:lnTo>
                  <a:lnTo>
                    <a:pt x="1241297" y="1028699"/>
                  </a:lnTo>
                  <a:lnTo>
                    <a:pt x="41147" y="1028699"/>
                  </a:lnTo>
                  <a:lnTo>
                    <a:pt x="25131" y="1025466"/>
                  </a:lnTo>
                  <a:lnTo>
                    <a:pt x="12051" y="1016648"/>
                  </a:lnTo>
                  <a:lnTo>
                    <a:pt x="3233" y="1003568"/>
                  </a:lnTo>
                  <a:lnTo>
                    <a:pt x="0" y="987551"/>
                  </a:lnTo>
                  <a:lnTo>
                    <a:pt x="0" y="41147"/>
                  </a:lnTo>
                  <a:close/>
                </a:path>
              </a:pathLst>
            </a:custGeom>
            <a:ln w="9524">
              <a:solidFill>
                <a:srgbClr val="E3E4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3601031" y="1680083"/>
            <a:ext cx="8007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E17039"/>
                </a:solidFill>
                <a:latin typeface="Calibri"/>
                <a:cs typeface="Calibri"/>
              </a:rPr>
              <a:t>Regression</a:t>
            </a:r>
            <a:r>
              <a:rPr dirty="0" sz="900" spc="-20" b="1">
                <a:solidFill>
                  <a:srgbClr val="E17039"/>
                </a:solidFill>
                <a:latin typeface="Calibri"/>
                <a:cs typeface="Calibri"/>
              </a:rPr>
              <a:t> head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778532" y="1903476"/>
            <a:ext cx="44640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6B7280"/>
                </a:solidFill>
                <a:latin typeface="Calibri"/>
                <a:cs typeface="Calibri"/>
              </a:rPr>
              <a:t>small</a:t>
            </a:r>
            <a:r>
              <a:rPr dirty="0" sz="800" spc="-4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spc="-25">
                <a:solidFill>
                  <a:srgbClr val="6B7280"/>
                </a:solidFill>
                <a:latin typeface="Calibri"/>
                <a:cs typeface="Calibri"/>
              </a:rPr>
              <a:t>MLP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49978" y="1878583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 b="1">
                <a:solidFill>
                  <a:srgbClr val="E17039"/>
                </a:solidFill>
                <a:latin typeface="Arial"/>
                <a:cs typeface="Arial"/>
              </a:rPr>
              <a:t>→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830127" y="1469707"/>
            <a:ext cx="1292225" cy="1038225"/>
            <a:chOff x="4830127" y="1469707"/>
            <a:chExt cx="1292225" cy="1038225"/>
          </a:xfrm>
        </p:grpSpPr>
        <p:sp>
          <p:nvSpPr>
            <p:cNvPr id="24" name="object 24"/>
            <p:cNvSpPr/>
            <p:nvPr/>
          </p:nvSpPr>
          <p:spPr>
            <a:xfrm>
              <a:off x="4834890" y="1474469"/>
              <a:ext cx="1282700" cy="1028700"/>
            </a:xfrm>
            <a:custGeom>
              <a:avLst/>
              <a:gdLst/>
              <a:ahLst/>
              <a:cxnLst/>
              <a:rect l="l" t="t" r="r" b="b"/>
              <a:pathLst>
                <a:path w="1282700" h="1028700">
                  <a:moveTo>
                    <a:pt x="1241297" y="1028699"/>
                  </a:moveTo>
                  <a:lnTo>
                    <a:pt x="41147" y="1028699"/>
                  </a:lnTo>
                  <a:lnTo>
                    <a:pt x="25131" y="1025466"/>
                  </a:lnTo>
                  <a:lnTo>
                    <a:pt x="12051" y="1016648"/>
                  </a:lnTo>
                  <a:lnTo>
                    <a:pt x="3233" y="1003568"/>
                  </a:lnTo>
                  <a:lnTo>
                    <a:pt x="0" y="987551"/>
                  </a:lnTo>
                  <a:lnTo>
                    <a:pt x="0" y="41147"/>
                  </a:lnTo>
                  <a:lnTo>
                    <a:pt x="3233" y="25131"/>
                  </a:lnTo>
                  <a:lnTo>
                    <a:pt x="12051" y="12051"/>
                  </a:lnTo>
                  <a:lnTo>
                    <a:pt x="25131" y="3233"/>
                  </a:lnTo>
                  <a:lnTo>
                    <a:pt x="41147" y="0"/>
                  </a:lnTo>
                  <a:lnTo>
                    <a:pt x="1241297" y="0"/>
                  </a:lnTo>
                  <a:lnTo>
                    <a:pt x="1275532" y="18319"/>
                  </a:lnTo>
                  <a:lnTo>
                    <a:pt x="1282445" y="41147"/>
                  </a:lnTo>
                  <a:lnTo>
                    <a:pt x="1282445" y="987551"/>
                  </a:lnTo>
                  <a:lnTo>
                    <a:pt x="1279212" y="1003568"/>
                  </a:lnTo>
                  <a:lnTo>
                    <a:pt x="1270393" y="1016648"/>
                  </a:lnTo>
                  <a:lnTo>
                    <a:pt x="1257314" y="1025466"/>
                  </a:lnTo>
                  <a:lnTo>
                    <a:pt x="1241297" y="1028699"/>
                  </a:lnTo>
                  <a:close/>
                </a:path>
              </a:pathLst>
            </a:custGeom>
            <a:solidFill>
              <a:srgbClr val="FCF1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4834890" y="1474469"/>
              <a:ext cx="1282700" cy="1028700"/>
            </a:xfrm>
            <a:custGeom>
              <a:avLst/>
              <a:gdLst/>
              <a:ahLst/>
              <a:cxnLst/>
              <a:rect l="l" t="t" r="r" b="b"/>
              <a:pathLst>
                <a:path w="1282700" h="1028700">
                  <a:moveTo>
                    <a:pt x="0" y="41147"/>
                  </a:moveTo>
                  <a:lnTo>
                    <a:pt x="3233" y="25131"/>
                  </a:lnTo>
                  <a:lnTo>
                    <a:pt x="12051" y="12051"/>
                  </a:lnTo>
                  <a:lnTo>
                    <a:pt x="25131" y="3233"/>
                  </a:lnTo>
                  <a:lnTo>
                    <a:pt x="41147" y="0"/>
                  </a:lnTo>
                  <a:lnTo>
                    <a:pt x="1241297" y="0"/>
                  </a:lnTo>
                  <a:lnTo>
                    <a:pt x="1275532" y="18319"/>
                  </a:lnTo>
                  <a:lnTo>
                    <a:pt x="1282445" y="41147"/>
                  </a:lnTo>
                  <a:lnTo>
                    <a:pt x="1282445" y="987551"/>
                  </a:lnTo>
                  <a:lnTo>
                    <a:pt x="1279212" y="1003568"/>
                  </a:lnTo>
                  <a:lnTo>
                    <a:pt x="1270393" y="1016648"/>
                  </a:lnTo>
                  <a:lnTo>
                    <a:pt x="1257314" y="1025466"/>
                  </a:lnTo>
                  <a:lnTo>
                    <a:pt x="1241297" y="1028699"/>
                  </a:lnTo>
                  <a:lnTo>
                    <a:pt x="41147" y="1028699"/>
                  </a:lnTo>
                  <a:lnTo>
                    <a:pt x="25131" y="1025466"/>
                  </a:lnTo>
                  <a:lnTo>
                    <a:pt x="12051" y="1016648"/>
                  </a:lnTo>
                  <a:lnTo>
                    <a:pt x="3233" y="1003568"/>
                  </a:lnTo>
                  <a:lnTo>
                    <a:pt x="0" y="987551"/>
                  </a:lnTo>
                  <a:lnTo>
                    <a:pt x="0" y="41147"/>
                  </a:lnTo>
                  <a:close/>
                </a:path>
              </a:pathLst>
            </a:custGeom>
            <a:ln w="9524">
              <a:solidFill>
                <a:srgbClr val="E3E4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5193457" y="1680083"/>
            <a:ext cx="565785" cy="370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E17039"/>
                </a:solidFill>
                <a:latin typeface="Calibri"/>
                <a:cs typeface="Calibri"/>
              </a:rPr>
              <a:t>Parameters</a:t>
            </a:r>
            <a:endParaRPr sz="9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675"/>
              </a:spcBef>
            </a:pPr>
            <a:r>
              <a:rPr dirty="0" sz="800">
                <a:solidFill>
                  <a:srgbClr val="6B7280"/>
                </a:solidFill>
                <a:latin typeface="Calibri"/>
                <a:cs typeface="Calibri"/>
              </a:rPr>
              <a:t>tx,</a:t>
            </a:r>
            <a:r>
              <a:rPr dirty="0" sz="800" spc="-20">
                <a:solidFill>
                  <a:srgbClr val="6B7280"/>
                </a:solidFill>
                <a:latin typeface="Calibri"/>
                <a:cs typeface="Calibri"/>
              </a:rPr>
              <a:t> ty,</a:t>
            </a:r>
            <a:r>
              <a:rPr dirty="0" sz="800" spc="-1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6B7280"/>
                </a:solidFill>
                <a:latin typeface="Microsoft Sans Serif"/>
                <a:cs typeface="Microsoft Sans Serif"/>
              </a:rPr>
              <a:t>θ</a:t>
            </a:r>
            <a:r>
              <a:rPr dirty="0" sz="800">
                <a:solidFill>
                  <a:srgbClr val="6B7280"/>
                </a:solidFill>
                <a:latin typeface="Calibri"/>
                <a:cs typeface="Calibri"/>
              </a:rPr>
              <a:t>,</a:t>
            </a:r>
            <a:r>
              <a:rPr dirty="0" sz="800" spc="-1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spc="-50">
                <a:solidFill>
                  <a:srgbClr val="6B7280"/>
                </a:solidFill>
                <a:latin typeface="Calibri"/>
                <a:cs typeface="Calibri"/>
              </a:rPr>
              <a:t>s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124448" y="1878583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 b="1">
                <a:solidFill>
                  <a:srgbClr val="E17039"/>
                </a:solidFill>
                <a:latin typeface="Arial"/>
                <a:cs typeface="Arial"/>
              </a:rPr>
              <a:t>→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304597" y="1469707"/>
            <a:ext cx="1292225" cy="1038225"/>
            <a:chOff x="6304597" y="1469707"/>
            <a:chExt cx="1292225" cy="1038225"/>
          </a:xfrm>
        </p:grpSpPr>
        <p:sp>
          <p:nvSpPr>
            <p:cNvPr id="29" name="object 29"/>
            <p:cNvSpPr/>
            <p:nvPr/>
          </p:nvSpPr>
          <p:spPr>
            <a:xfrm>
              <a:off x="6309359" y="1474469"/>
              <a:ext cx="1282700" cy="1028700"/>
            </a:xfrm>
            <a:custGeom>
              <a:avLst/>
              <a:gdLst/>
              <a:ahLst/>
              <a:cxnLst/>
              <a:rect l="l" t="t" r="r" b="b"/>
              <a:pathLst>
                <a:path w="1282700" h="1028700">
                  <a:moveTo>
                    <a:pt x="1241297" y="1028699"/>
                  </a:moveTo>
                  <a:lnTo>
                    <a:pt x="41147" y="1028699"/>
                  </a:lnTo>
                  <a:lnTo>
                    <a:pt x="25131" y="1025466"/>
                  </a:lnTo>
                  <a:lnTo>
                    <a:pt x="12051" y="1016648"/>
                  </a:lnTo>
                  <a:lnTo>
                    <a:pt x="3233" y="1003568"/>
                  </a:lnTo>
                  <a:lnTo>
                    <a:pt x="0" y="987551"/>
                  </a:lnTo>
                  <a:lnTo>
                    <a:pt x="0" y="41147"/>
                  </a:lnTo>
                  <a:lnTo>
                    <a:pt x="3233" y="25131"/>
                  </a:lnTo>
                  <a:lnTo>
                    <a:pt x="12051" y="12051"/>
                  </a:lnTo>
                  <a:lnTo>
                    <a:pt x="25131" y="3233"/>
                  </a:lnTo>
                  <a:lnTo>
                    <a:pt x="41147" y="0"/>
                  </a:lnTo>
                  <a:lnTo>
                    <a:pt x="1241297" y="0"/>
                  </a:lnTo>
                  <a:lnTo>
                    <a:pt x="1275532" y="18319"/>
                  </a:lnTo>
                  <a:lnTo>
                    <a:pt x="1282446" y="41147"/>
                  </a:lnTo>
                  <a:lnTo>
                    <a:pt x="1282446" y="987551"/>
                  </a:lnTo>
                  <a:lnTo>
                    <a:pt x="1279212" y="1003568"/>
                  </a:lnTo>
                  <a:lnTo>
                    <a:pt x="1270394" y="1016648"/>
                  </a:lnTo>
                  <a:lnTo>
                    <a:pt x="1257314" y="1025466"/>
                  </a:lnTo>
                  <a:lnTo>
                    <a:pt x="1241297" y="1028699"/>
                  </a:lnTo>
                  <a:close/>
                </a:path>
              </a:pathLst>
            </a:custGeom>
            <a:solidFill>
              <a:srgbClr val="F4F4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6309359" y="1474469"/>
              <a:ext cx="1282700" cy="1028700"/>
            </a:xfrm>
            <a:custGeom>
              <a:avLst/>
              <a:gdLst/>
              <a:ahLst/>
              <a:cxnLst/>
              <a:rect l="l" t="t" r="r" b="b"/>
              <a:pathLst>
                <a:path w="1282700" h="1028700">
                  <a:moveTo>
                    <a:pt x="0" y="41147"/>
                  </a:moveTo>
                  <a:lnTo>
                    <a:pt x="3233" y="25131"/>
                  </a:lnTo>
                  <a:lnTo>
                    <a:pt x="12051" y="12051"/>
                  </a:lnTo>
                  <a:lnTo>
                    <a:pt x="25131" y="3233"/>
                  </a:lnTo>
                  <a:lnTo>
                    <a:pt x="41147" y="0"/>
                  </a:lnTo>
                  <a:lnTo>
                    <a:pt x="1241297" y="0"/>
                  </a:lnTo>
                  <a:lnTo>
                    <a:pt x="1275532" y="18319"/>
                  </a:lnTo>
                  <a:lnTo>
                    <a:pt x="1282446" y="41147"/>
                  </a:lnTo>
                  <a:lnTo>
                    <a:pt x="1282446" y="987551"/>
                  </a:lnTo>
                  <a:lnTo>
                    <a:pt x="1279212" y="1003568"/>
                  </a:lnTo>
                  <a:lnTo>
                    <a:pt x="1270394" y="1016648"/>
                  </a:lnTo>
                  <a:lnTo>
                    <a:pt x="1257314" y="1025466"/>
                  </a:lnTo>
                  <a:lnTo>
                    <a:pt x="1241297" y="1028699"/>
                  </a:lnTo>
                  <a:lnTo>
                    <a:pt x="41147" y="1028699"/>
                  </a:lnTo>
                  <a:lnTo>
                    <a:pt x="25131" y="1025466"/>
                  </a:lnTo>
                  <a:lnTo>
                    <a:pt x="12051" y="1016648"/>
                  </a:lnTo>
                  <a:lnTo>
                    <a:pt x="3233" y="1003568"/>
                  </a:lnTo>
                  <a:lnTo>
                    <a:pt x="0" y="987551"/>
                  </a:lnTo>
                  <a:lnTo>
                    <a:pt x="0" y="41147"/>
                  </a:lnTo>
                  <a:close/>
                </a:path>
              </a:pathLst>
            </a:custGeom>
            <a:ln w="9524">
              <a:solidFill>
                <a:srgbClr val="E3E4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6529992" y="1680083"/>
            <a:ext cx="84074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 b="1">
                <a:solidFill>
                  <a:srgbClr val="2E6171"/>
                </a:solidFill>
                <a:latin typeface="Calibri"/>
                <a:cs typeface="Calibri"/>
              </a:rPr>
              <a:t>Transform</a:t>
            </a:r>
            <a:r>
              <a:rPr dirty="0" sz="900" b="1">
                <a:solidFill>
                  <a:srgbClr val="2E6171"/>
                </a:solidFill>
                <a:latin typeface="Calibri"/>
                <a:cs typeface="Calibri"/>
              </a:rPr>
              <a:t> </a:t>
            </a:r>
            <a:r>
              <a:rPr dirty="0" sz="900" spc="-10" b="1">
                <a:solidFill>
                  <a:srgbClr val="2E6171"/>
                </a:solidFill>
                <a:latin typeface="Calibri"/>
                <a:cs typeface="Calibri"/>
              </a:rPr>
              <a:t>matrix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643244" y="1903476"/>
            <a:ext cx="61531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6B7280"/>
                </a:solidFill>
                <a:latin typeface="Calibri"/>
                <a:cs typeface="Calibri"/>
              </a:rPr>
              <a:t>3</a:t>
            </a:r>
            <a:r>
              <a:rPr dirty="0" sz="800" spc="-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6B7280"/>
                </a:solidFill>
                <a:latin typeface="Calibri"/>
                <a:cs typeface="Calibri"/>
              </a:rPr>
              <a:t>×</a:t>
            </a:r>
            <a:r>
              <a:rPr dirty="0" sz="800" spc="-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spc="-50">
                <a:solidFill>
                  <a:srgbClr val="6B7280"/>
                </a:solidFill>
                <a:latin typeface="Calibri"/>
                <a:cs typeface="Calibri"/>
              </a:rPr>
              <a:t>3</a:t>
            </a:r>
            <a:endParaRPr sz="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800" spc="-10">
                <a:solidFill>
                  <a:srgbClr val="6B7280"/>
                </a:solidFill>
                <a:latin typeface="Calibri"/>
                <a:cs typeface="Calibri"/>
              </a:rPr>
              <a:t>homogeneous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598918" y="1878583"/>
            <a:ext cx="177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 b="1">
                <a:solidFill>
                  <a:srgbClr val="E17039"/>
                </a:solidFill>
                <a:latin typeface="Arial"/>
                <a:cs typeface="Arial"/>
              </a:rPr>
              <a:t>→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7779067" y="1469707"/>
            <a:ext cx="1292225" cy="1038225"/>
            <a:chOff x="7779067" y="1469707"/>
            <a:chExt cx="1292225" cy="1038225"/>
          </a:xfrm>
        </p:grpSpPr>
        <p:sp>
          <p:nvSpPr>
            <p:cNvPr id="35" name="object 35"/>
            <p:cNvSpPr/>
            <p:nvPr/>
          </p:nvSpPr>
          <p:spPr>
            <a:xfrm>
              <a:off x="7783830" y="1474469"/>
              <a:ext cx="1282700" cy="1028700"/>
            </a:xfrm>
            <a:custGeom>
              <a:avLst/>
              <a:gdLst/>
              <a:ahLst/>
              <a:cxnLst/>
              <a:rect l="l" t="t" r="r" b="b"/>
              <a:pathLst>
                <a:path w="1282700" h="1028700">
                  <a:moveTo>
                    <a:pt x="1241297" y="1028699"/>
                  </a:moveTo>
                  <a:lnTo>
                    <a:pt x="41147" y="1028699"/>
                  </a:lnTo>
                  <a:lnTo>
                    <a:pt x="25131" y="1025466"/>
                  </a:lnTo>
                  <a:lnTo>
                    <a:pt x="12051" y="1016648"/>
                  </a:lnTo>
                  <a:lnTo>
                    <a:pt x="3233" y="1003568"/>
                  </a:lnTo>
                  <a:lnTo>
                    <a:pt x="0" y="987551"/>
                  </a:lnTo>
                  <a:lnTo>
                    <a:pt x="0" y="41147"/>
                  </a:lnTo>
                  <a:lnTo>
                    <a:pt x="3233" y="25131"/>
                  </a:lnTo>
                  <a:lnTo>
                    <a:pt x="12051" y="12051"/>
                  </a:lnTo>
                  <a:lnTo>
                    <a:pt x="25131" y="3233"/>
                  </a:lnTo>
                  <a:lnTo>
                    <a:pt x="41147" y="0"/>
                  </a:lnTo>
                  <a:lnTo>
                    <a:pt x="1241297" y="0"/>
                  </a:lnTo>
                  <a:lnTo>
                    <a:pt x="1275532" y="18319"/>
                  </a:lnTo>
                  <a:lnTo>
                    <a:pt x="1282445" y="41147"/>
                  </a:lnTo>
                  <a:lnTo>
                    <a:pt x="1282445" y="987551"/>
                  </a:lnTo>
                  <a:lnTo>
                    <a:pt x="1279212" y="1003568"/>
                  </a:lnTo>
                  <a:lnTo>
                    <a:pt x="1270393" y="1016648"/>
                  </a:lnTo>
                  <a:lnTo>
                    <a:pt x="1257314" y="1025466"/>
                  </a:lnTo>
                  <a:lnTo>
                    <a:pt x="1241297" y="1028699"/>
                  </a:lnTo>
                  <a:close/>
                </a:path>
              </a:pathLst>
            </a:custGeom>
            <a:solidFill>
              <a:srgbClr val="F4F4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7783830" y="1474469"/>
              <a:ext cx="1282700" cy="1028700"/>
            </a:xfrm>
            <a:custGeom>
              <a:avLst/>
              <a:gdLst/>
              <a:ahLst/>
              <a:cxnLst/>
              <a:rect l="l" t="t" r="r" b="b"/>
              <a:pathLst>
                <a:path w="1282700" h="1028700">
                  <a:moveTo>
                    <a:pt x="0" y="41147"/>
                  </a:moveTo>
                  <a:lnTo>
                    <a:pt x="3233" y="25131"/>
                  </a:lnTo>
                  <a:lnTo>
                    <a:pt x="12051" y="12051"/>
                  </a:lnTo>
                  <a:lnTo>
                    <a:pt x="25131" y="3233"/>
                  </a:lnTo>
                  <a:lnTo>
                    <a:pt x="41147" y="0"/>
                  </a:lnTo>
                  <a:lnTo>
                    <a:pt x="1241297" y="0"/>
                  </a:lnTo>
                  <a:lnTo>
                    <a:pt x="1275532" y="18319"/>
                  </a:lnTo>
                  <a:lnTo>
                    <a:pt x="1282445" y="41147"/>
                  </a:lnTo>
                  <a:lnTo>
                    <a:pt x="1282445" y="987551"/>
                  </a:lnTo>
                  <a:lnTo>
                    <a:pt x="1279212" y="1003568"/>
                  </a:lnTo>
                  <a:lnTo>
                    <a:pt x="1270393" y="1016648"/>
                  </a:lnTo>
                  <a:lnTo>
                    <a:pt x="1257314" y="1025466"/>
                  </a:lnTo>
                  <a:lnTo>
                    <a:pt x="1241297" y="1028699"/>
                  </a:lnTo>
                  <a:lnTo>
                    <a:pt x="41147" y="1028699"/>
                  </a:lnTo>
                  <a:lnTo>
                    <a:pt x="25131" y="1025466"/>
                  </a:lnTo>
                  <a:lnTo>
                    <a:pt x="12051" y="1016648"/>
                  </a:lnTo>
                  <a:lnTo>
                    <a:pt x="3233" y="1003568"/>
                  </a:lnTo>
                  <a:lnTo>
                    <a:pt x="0" y="987551"/>
                  </a:lnTo>
                  <a:lnTo>
                    <a:pt x="0" y="41147"/>
                  </a:lnTo>
                  <a:close/>
                </a:path>
              </a:pathLst>
            </a:custGeom>
            <a:ln w="9524">
              <a:solidFill>
                <a:srgbClr val="E3E4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8048719" y="1680083"/>
            <a:ext cx="75184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2E6171"/>
                </a:solidFill>
                <a:latin typeface="Calibri"/>
                <a:cs typeface="Calibri"/>
              </a:rPr>
              <a:t>Warped</a:t>
            </a:r>
            <a:r>
              <a:rPr dirty="0" sz="900" spc="-25" b="1">
                <a:solidFill>
                  <a:srgbClr val="2E6171"/>
                </a:solidFill>
                <a:latin typeface="Calibri"/>
                <a:cs typeface="Calibri"/>
              </a:rPr>
              <a:t> </a:t>
            </a:r>
            <a:r>
              <a:rPr dirty="0" sz="900" spc="-10" b="1">
                <a:solidFill>
                  <a:srgbClr val="2E6171"/>
                </a:solidFill>
                <a:latin typeface="Calibri"/>
                <a:cs typeface="Calibri"/>
              </a:rPr>
              <a:t>output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136819" y="1903476"/>
            <a:ext cx="57658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6B7280"/>
                </a:solidFill>
                <a:latin typeface="Calibri"/>
                <a:cs typeface="Calibri"/>
              </a:rPr>
              <a:t>image </a:t>
            </a:r>
            <a:r>
              <a:rPr dirty="0" sz="800">
                <a:solidFill>
                  <a:srgbClr val="6B7280"/>
                </a:solidFill>
                <a:latin typeface="Calibri"/>
                <a:cs typeface="Calibri"/>
              </a:rPr>
              <a:t>/</a:t>
            </a:r>
            <a:r>
              <a:rPr dirty="0" sz="800" spc="-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6B7280"/>
                </a:solidFill>
                <a:latin typeface="Calibri"/>
                <a:cs typeface="Calibri"/>
              </a:rPr>
              <a:t>mask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781877" y="2665476"/>
            <a:ext cx="95123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E17039"/>
                </a:solidFill>
                <a:latin typeface="Calibri"/>
                <a:cs typeface="Calibri"/>
              </a:rPr>
              <a:t>Learned</a:t>
            </a:r>
            <a:r>
              <a:rPr dirty="0" sz="800" spc="12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E17039"/>
                </a:solidFill>
                <a:latin typeface="Calibri"/>
                <a:cs typeface="Calibri"/>
              </a:rPr>
              <a:t>(this</a:t>
            </a:r>
            <a:r>
              <a:rPr dirty="0" sz="800" spc="-2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800" spc="-10" b="1">
                <a:solidFill>
                  <a:srgbClr val="E17039"/>
                </a:solidFill>
                <a:latin typeface="Calibri"/>
                <a:cs typeface="Calibri"/>
              </a:rPr>
              <a:t>project)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093429" y="2665476"/>
            <a:ext cx="117475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2E6171"/>
                </a:solidFill>
                <a:latin typeface="Calibri"/>
                <a:cs typeface="Calibri"/>
              </a:rPr>
              <a:t>Deterministic</a:t>
            </a:r>
            <a:r>
              <a:rPr dirty="0" sz="800" spc="85" b="1">
                <a:solidFill>
                  <a:srgbClr val="2E6171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2E6171"/>
                </a:solidFill>
                <a:latin typeface="Calibri"/>
                <a:cs typeface="Calibri"/>
              </a:rPr>
              <a:t>(no</a:t>
            </a:r>
            <a:r>
              <a:rPr dirty="0" sz="800" spc="-45" b="1">
                <a:solidFill>
                  <a:srgbClr val="2E6171"/>
                </a:solidFill>
                <a:latin typeface="Calibri"/>
                <a:cs typeface="Calibri"/>
              </a:rPr>
              <a:t> </a:t>
            </a:r>
            <a:r>
              <a:rPr dirty="0" sz="800" spc="-10" b="1">
                <a:solidFill>
                  <a:srgbClr val="2E6171"/>
                </a:solidFill>
                <a:latin typeface="Calibri"/>
                <a:cs typeface="Calibri"/>
              </a:rPr>
              <a:t>learning)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406717" y="3047047"/>
            <a:ext cx="8328659" cy="1346835"/>
            <a:chOff x="406717" y="3047047"/>
            <a:chExt cx="8328659" cy="1346835"/>
          </a:xfrm>
        </p:grpSpPr>
        <p:sp>
          <p:nvSpPr>
            <p:cNvPr id="42" name="object 42"/>
            <p:cNvSpPr/>
            <p:nvPr/>
          </p:nvSpPr>
          <p:spPr>
            <a:xfrm>
              <a:off x="411480" y="3051810"/>
              <a:ext cx="8319134" cy="1337310"/>
            </a:xfrm>
            <a:custGeom>
              <a:avLst/>
              <a:gdLst/>
              <a:ahLst/>
              <a:cxnLst/>
              <a:rect l="l" t="t" r="r" b="b"/>
              <a:pathLst>
                <a:path w="8319134" h="1337310">
                  <a:moveTo>
                    <a:pt x="8277604" y="1337309"/>
                  </a:moveTo>
                  <a:lnTo>
                    <a:pt x="41149" y="1337309"/>
                  </a:lnTo>
                  <a:lnTo>
                    <a:pt x="25131" y="1334076"/>
                  </a:lnTo>
                  <a:lnTo>
                    <a:pt x="12052" y="1325257"/>
                  </a:lnTo>
                  <a:lnTo>
                    <a:pt x="3233" y="1312178"/>
                  </a:lnTo>
                  <a:lnTo>
                    <a:pt x="0" y="1296160"/>
                  </a:lnTo>
                  <a:lnTo>
                    <a:pt x="0" y="41148"/>
                  </a:lnTo>
                  <a:lnTo>
                    <a:pt x="3233" y="25131"/>
                  </a:lnTo>
                  <a:lnTo>
                    <a:pt x="12052" y="12052"/>
                  </a:lnTo>
                  <a:lnTo>
                    <a:pt x="25131" y="3233"/>
                  </a:lnTo>
                  <a:lnTo>
                    <a:pt x="41149" y="0"/>
                  </a:lnTo>
                  <a:lnTo>
                    <a:pt x="8277604" y="0"/>
                  </a:lnTo>
                  <a:lnTo>
                    <a:pt x="8311840" y="18319"/>
                  </a:lnTo>
                  <a:lnTo>
                    <a:pt x="8318754" y="41148"/>
                  </a:lnTo>
                  <a:lnTo>
                    <a:pt x="8318754" y="1296160"/>
                  </a:lnTo>
                  <a:lnTo>
                    <a:pt x="8315520" y="1312178"/>
                  </a:lnTo>
                  <a:lnTo>
                    <a:pt x="8306701" y="1325257"/>
                  </a:lnTo>
                  <a:lnTo>
                    <a:pt x="8293622" y="1334076"/>
                  </a:lnTo>
                  <a:lnTo>
                    <a:pt x="8277604" y="1337309"/>
                  </a:lnTo>
                  <a:close/>
                </a:path>
              </a:pathLst>
            </a:custGeom>
            <a:solidFill>
              <a:srgbClr val="F6F6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411480" y="3051810"/>
              <a:ext cx="8319134" cy="1337310"/>
            </a:xfrm>
            <a:custGeom>
              <a:avLst/>
              <a:gdLst/>
              <a:ahLst/>
              <a:cxnLst/>
              <a:rect l="l" t="t" r="r" b="b"/>
              <a:pathLst>
                <a:path w="8319134" h="1337310">
                  <a:moveTo>
                    <a:pt x="0" y="41148"/>
                  </a:moveTo>
                  <a:lnTo>
                    <a:pt x="3233" y="25131"/>
                  </a:lnTo>
                  <a:lnTo>
                    <a:pt x="12052" y="12052"/>
                  </a:lnTo>
                  <a:lnTo>
                    <a:pt x="25131" y="3233"/>
                  </a:lnTo>
                  <a:lnTo>
                    <a:pt x="41149" y="0"/>
                  </a:lnTo>
                  <a:lnTo>
                    <a:pt x="8277604" y="0"/>
                  </a:lnTo>
                  <a:lnTo>
                    <a:pt x="8311840" y="18319"/>
                  </a:lnTo>
                  <a:lnTo>
                    <a:pt x="8318754" y="41148"/>
                  </a:lnTo>
                  <a:lnTo>
                    <a:pt x="8318754" y="1296160"/>
                  </a:lnTo>
                  <a:lnTo>
                    <a:pt x="8315520" y="1312178"/>
                  </a:lnTo>
                  <a:lnTo>
                    <a:pt x="8306701" y="1325257"/>
                  </a:lnTo>
                  <a:lnTo>
                    <a:pt x="8293622" y="1334076"/>
                  </a:lnTo>
                  <a:lnTo>
                    <a:pt x="8277604" y="1337309"/>
                  </a:lnTo>
                  <a:lnTo>
                    <a:pt x="41149" y="1337309"/>
                  </a:lnTo>
                  <a:lnTo>
                    <a:pt x="25131" y="1334076"/>
                  </a:lnTo>
                  <a:lnTo>
                    <a:pt x="12052" y="1325257"/>
                  </a:lnTo>
                  <a:lnTo>
                    <a:pt x="3233" y="1312178"/>
                  </a:lnTo>
                  <a:lnTo>
                    <a:pt x="0" y="1296160"/>
                  </a:lnTo>
                  <a:lnTo>
                    <a:pt x="0" y="41148"/>
                  </a:lnTo>
                  <a:close/>
                </a:path>
              </a:pathLst>
            </a:custGeom>
            <a:ln w="9524">
              <a:solidFill>
                <a:srgbClr val="E3E4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 txBox="1"/>
          <p:nvPr/>
        </p:nvSpPr>
        <p:spPr>
          <a:xfrm>
            <a:off x="604520" y="3185414"/>
            <a:ext cx="64325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 b="1">
                <a:solidFill>
                  <a:srgbClr val="6B7280"/>
                </a:solidFill>
                <a:latin typeface="Calibri"/>
                <a:cs typeface="Calibri"/>
              </a:rPr>
              <a:t>Target </a:t>
            </a:r>
            <a:r>
              <a:rPr dirty="0" sz="900" spc="-10" b="1">
                <a:solidFill>
                  <a:srgbClr val="6B7280"/>
                </a:solidFill>
                <a:latin typeface="Calibri"/>
                <a:cs typeface="Calibri"/>
              </a:rPr>
              <a:t>vector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04520" y="3446017"/>
            <a:ext cx="31121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1A1F2B"/>
                </a:solidFill>
                <a:latin typeface="Courier New"/>
                <a:cs typeface="Courier New"/>
              </a:rPr>
              <a:t>y</a:t>
            </a:r>
            <a:r>
              <a:rPr dirty="0" sz="900" spc="-10" b="1">
                <a:solidFill>
                  <a:srgbClr val="1A1F2B"/>
                </a:solidFill>
                <a:latin typeface="Courier New"/>
                <a:cs typeface="Courier New"/>
              </a:rPr>
              <a:t>  </a:t>
            </a:r>
            <a:r>
              <a:rPr dirty="0" sz="900" b="1">
                <a:solidFill>
                  <a:srgbClr val="1A1F2B"/>
                </a:solidFill>
                <a:latin typeface="Courier New"/>
                <a:cs typeface="Courier New"/>
              </a:rPr>
              <a:t>=</a:t>
            </a:r>
            <a:r>
              <a:rPr dirty="0" sz="900" spc="-5" b="1">
                <a:solidFill>
                  <a:srgbClr val="1A1F2B"/>
                </a:solidFill>
                <a:latin typeface="Courier New"/>
                <a:cs typeface="Courier New"/>
              </a:rPr>
              <a:t>  </a:t>
            </a:r>
            <a:r>
              <a:rPr dirty="0" sz="900" b="1">
                <a:solidFill>
                  <a:srgbClr val="1A1F2B"/>
                </a:solidFill>
                <a:latin typeface="Courier New"/>
                <a:cs typeface="Courier New"/>
              </a:rPr>
              <a:t>[ tx</a:t>
            </a:r>
            <a:r>
              <a:rPr dirty="0" sz="900" spc="-10" b="1">
                <a:solidFill>
                  <a:srgbClr val="1A1F2B"/>
                </a:solidFill>
                <a:latin typeface="Courier New"/>
                <a:cs typeface="Courier New"/>
              </a:rPr>
              <a:t> </a:t>
            </a:r>
            <a:r>
              <a:rPr dirty="0" sz="900" b="1">
                <a:solidFill>
                  <a:srgbClr val="1A1F2B"/>
                </a:solidFill>
                <a:latin typeface="Courier New"/>
                <a:cs typeface="Courier New"/>
              </a:rPr>
              <a:t>,</a:t>
            </a:r>
            <a:r>
              <a:rPr dirty="0" sz="900" spc="-5" b="1">
                <a:solidFill>
                  <a:srgbClr val="1A1F2B"/>
                </a:solidFill>
                <a:latin typeface="Courier New"/>
                <a:cs typeface="Courier New"/>
              </a:rPr>
              <a:t>  </a:t>
            </a:r>
            <a:r>
              <a:rPr dirty="0" sz="900" b="1">
                <a:solidFill>
                  <a:srgbClr val="1A1F2B"/>
                </a:solidFill>
                <a:latin typeface="Courier New"/>
                <a:cs typeface="Courier New"/>
              </a:rPr>
              <a:t>ty</a:t>
            </a:r>
            <a:r>
              <a:rPr dirty="0" sz="900" spc="-5" b="1">
                <a:solidFill>
                  <a:srgbClr val="1A1F2B"/>
                </a:solidFill>
                <a:latin typeface="Courier New"/>
                <a:cs typeface="Courier New"/>
              </a:rPr>
              <a:t> </a:t>
            </a:r>
            <a:r>
              <a:rPr dirty="0" sz="900" b="1">
                <a:solidFill>
                  <a:srgbClr val="1A1F2B"/>
                </a:solidFill>
                <a:latin typeface="Courier New"/>
                <a:cs typeface="Courier New"/>
              </a:rPr>
              <a:t>,</a:t>
            </a:r>
            <a:r>
              <a:rPr dirty="0" sz="900" spc="-10" b="1">
                <a:solidFill>
                  <a:srgbClr val="1A1F2B"/>
                </a:solidFill>
                <a:latin typeface="Courier New"/>
                <a:cs typeface="Courier New"/>
              </a:rPr>
              <a:t>  </a:t>
            </a:r>
            <a:r>
              <a:rPr dirty="0" sz="900" b="1">
                <a:solidFill>
                  <a:srgbClr val="1A1F2B"/>
                </a:solidFill>
                <a:latin typeface="Courier New"/>
                <a:cs typeface="Courier New"/>
              </a:rPr>
              <a:t>cos θ</a:t>
            </a:r>
            <a:r>
              <a:rPr dirty="0" sz="900" spc="-5" b="1">
                <a:solidFill>
                  <a:srgbClr val="1A1F2B"/>
                </a:solidFill>
                <a:latin typeface="Courier New"/>
                <a:cs typeface="Courier New"/>
              </a:rPr>
              <a:t> </a:t>
            </a:r>
            <a:r>
              <a:rPr dirty="0" sz="900" b="1">
                <a:solidFill>
                  <a:srgbClr val="1A1F2B"/>
                </a:solidFill>
                <a:latin typeface="Courier New"/>
                <a:cs typeface="Courier New"/>
              </a:rPr>
              <a:t>,</a:t>
            </a:r>
            <a:r>
              <a:rPr dirty="0" sz="900" spc="-10" b="1">
                <a:solidFill>
                  <a:srgbClr val="1A1F2B"/>
                </a:solidFill>
                <a:latin typeface="Courier New"/>
                <a:cs typeface="Courier New"/>
              </a:rPr>
              <a:t>  </a:t>
            </a:r>
            <a:r>
              <a:rPr dirty="0" sz="900" b="1">
                <a:solidFill>
                  <a:srgbClr val="1A1F2B"/>
                </a:solidFill>
                <a:latin typeface="Courier New"/>
                <a:cs typeface="Courier New"/>
              </a:rPr>
              <a:t>sin θ</a:t>
            </a:r>
            <a:r>
              <a:rPr dirty="0" sz="900" spc="-5" b="1">
                <a:solidFill>
                  <a:srgbClr val="1A1F2B"/>
                </a:solidFill>
                <a:latin typeface="Courier New"/>
                <a:cs typeface="Courier New"/>
              </a:rPr>
              <a:t> </a:t>
            </a:r>
            <a:r>
              <a:rPr dirty="0" sz="900" b="1">
                <a:solidFill>
                  <a:srgbClr val="1A1F2B"/>
                </a:solidFill>
                <a:latin typeface="Courier New"/>
                <a:cs typeface="Courier New"/>
              </a:rPr>
              <a:t>,</a:t>
            </a:r>
            <a:r>
              <a:rPr dirty="0" sz="900" spc="-10" b="1">
                <a:solidFill>
                  <a:srgbClr val="1A1F2B"/>
                </a:solidFill>
                <a:latin typeface="Courier New"/>
                <a:cs typeface="Courier New"/>
              </a:rPr>
              <a:t>  </a:t>
            </a:r>
            <a:r>
              <a:rPr dirty="0" sz="900" b="1">
                <a:solidFill>
                  <a:srgbClr val="1A1F2B"/>
                </a:solidFill>
                <a:latin typeface="Courier New"/>
                <a:cs typeface="Courier New"/>
              </a:rPr>
              <a:t>log s</a:t>
            </a:r>
            <a:r>
              <a:rPr dirty="0" sz="900" spc="-5" b="1">
                <a:solidFill>
                  <a:srgbClr val="1A1F2B"/>
                </a:solidFill>
                <a:latin typeface="Courier New"/>
                <a:cs typeface="Courier New"/>
              </a:rPr>
              <a:t> </a:t>
            </a:r>
            <a:r>
              <a:rPr dirty="0" sz="900" spc="-50" b="1">
                <a:solidFill>
                  <a:srgbClr val="1A1F2B"/>
                </a:solidFill>
                <a:latin typeface="Courier New"/>
                <a:cs typeface="Courier New"/>
              </a:rPr>
              <a:t>]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239260" y="3446017"/>
            <a:ext cx="324929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1A1F2B"/>
                </a:solidFill>
                <a:latin typeface="Courier New"/>
                <a:cs typeface="Courier New"/>
              </a:rPr>
              <a:t>presence</a:t>
            </a:r>
            <a:r>
              <a:rPr dirty="0" sz="900" spc="-15" b="1">
                <a:solidFill>
                  <a:srgbClr val="1A1F2B"/>
                </a:solidFill>
                <a:latin typeface="Courier New"/>
                <a:cs typeface="Courier New"/>
              </a:rPr>
              <a:t> </a:t>
            </a:r>
            <a:r>
              <a:rPr dirty="0" sz="900" b="1">
                <a:solidFill>
                  <a:srgbClr val="1A1F2B"/>
                </a:solidFill>
                <a:latin typeface="Courier New"/>
                <a:cs typeface="Courier New"/>
              </a:rPr>
              <a:t>mask</a:t>
            </a:r>
            <a:r>
              <a:rPr dirty="0" sz="900" spc="-15" b="1">
                <a:solidFill>
                  <a:srgbClr val="1A1F2B"/>
                </a:solidFill>
                <a:latin typeface="Courier New"/>
                <a:cs typeface="Courier New"/>
              </a:rPr>
              <a:t>  </a:t>
            </a:r>
            <a:r>
              <a:rPr dirty="0" sz="900" b="1">
                <a:solidFill>
                  <a:srgbClr val="1A1F2B"/>
                </a:solidFill>
                <a:latin typeface="Courier New"/>
                <a:cs typeface="Courier New"/>
              </a:rPr>
              <a:t>p</a:t>
            </a:r>
            <a:r>
              <a:rPr dirty="0" sz="900" spc="-10" b="1">
                <a:solidFill>
                  <a:srgbClr val="1A1F2B"/>
                </a:solidFill>
                <a:latin typeface="Courier New"/>
                <a:cs typeface="Courier New"/>
              </a:rPr>
              <a:t>  </a:t>
            </a:r>
            <a:r>
              <a:rPr dirty="0" sz="900" b="1">
                <a:solidFill>
                  <a:srgbClr val="1A1F2B"/>
                </a:solidFill>
                <a:latin typeface="Courier New"/>
                <a:cs typeface="Courier New"/>
              </a:rPr>
              <a:t>=</a:t>
            </a:r>
            <a:r>
              <a:rPr dirty="0" sz="900" spc="-15" b="1">
                <a:solidFill>
                  <a:srgbClr val="1A1F2B"/>
                </a:solidFill>
                <a:latin typeface="Courier New"/>
                <a:cs typeface="Courier New"/>
              </a:rPr>
              <a:t>  </a:t>
            </a:r>
            <a:r>
              <a:rPr dirty="0" sz="900" b="1">
                <a:solidFill>
                  <a:srgbClr val="1A1F2B"/>
                </a:solidFill>
                <a:latin typeface="Courier New"/>
                <a:cs typeface="Courier New"/>
              </a:rPr>
              <a:t>[</a:t>
            </a:r>
            <a:r>
              <a:rPr dirty="0" sz="900" spc="-10" b="1">
                <a:solidFill>
                  <a:srgbClr val="1A1F2B"/>
                </a:solidFill>
                <a:latin typeface="Courier New"/>
                <a:cs typeface="Courier New"/>
              </a:rPr>
              <a:t> </a:t>
            </a:r>
            <a:r>
              <a:rPr dirty="0" sz="900" b="1">
                <a:solidFill>
                  <a:srgbClr val="1A1F2B"/>
                </a:solidFill>
                <a:latin typeface="Courier New"/>
                <a:cs typeface="Courier New"/>
              </a:rPr>
              <a:t>ptrans</a:t>
            </a:r>
            <a:r>
              <a:rPr dirty="0" sz="900" spc="-15" b="1">
                <a:solidFill>
                  <a:srgbClr val="1A1F2B"/>
                </a:solidFill>
                <a:latin typeface="Courier New"/>
                <a:cs typeface="Courier New"/>
              </a:rPr>
              <a:t> </a:t>
            </a:r>
            <a:r>
              <a:rPr dirty="0" sz="900" b="1">
                <a:solidFill>
                  <a:srgbClr val="1A1F2B"/>
                </a:solidFill>
                <a:latin typeface="Courier New"/>
                <a:cs typeface="Courier New"/>
              </a:rPr>
              <a:t>,</a:t>
            </a:r>
            <a:r>
              <a:rPr dirty="0" sz="900" spc="-15" b="1">
                <a:solidFill>
                  <a:srgbClr val="1A1F2B"/>
                </a:solidFill>
                <a:latin typeface="Courier New"/>
                <a:cs typeface="Courier New"/>
              </a:rPr>
              <a:t> </a:t>
            </a:r>
            <a:r>
              <a:rPr dirty="0" sz="900" b="1">
                <a:solidFill>
                  <a:srgbClr val="1A1F2B"/>
                </a:solidFill>
                <a:latin typeface="Courier New"/>
                <a:cs typeface="Courier New"/>
              </a:rPr>
              <a:t>prot</a:t>
            </a:r>
            <a:r>
              <a:rPr dirty="0" sz="900" spc="-10" b="1">
                <a:solidFill>
                  <a:srgbClr val="1A1F2B"/>
                </a:solidFill>
                <a:latin typeface="Courier New"/>
                <a:cs typeface="Courier New"/>
              </a:rPr>
              <a:t> </a:t>
            </a:r>
            <a:r>
              <a:rPr dirty="0" sz="900" b="1">
                <a:solidFill>
                  <a:srgbClr val="1A1F2B"/>
                </a:solidFill>
                <a:latin typeface="Courier New"/>
                <a:cs typeface="Courier New"/>
              </a:rPr>
              <a:t>,</a:t>
            </a:r>
            <a:r>
              <a:rPr dirty="0" sz="900" spc="-15" b="1">
                <a:solidFill>
                  <a:srgbClr val="1A1F2B"/>
                </a:solidFill>
                <a:latin typeface="Courier New"/>
                <a:cs typeface="Courier New"/>
              </a:rPr>
              <a:t> </a:t>
            </a:r>
            <a:r>
              <a:rPr dirty="0" sz="900" b="1">
                <a:solidFill>
                  <a:srgbClr val="1A1F2B"/>
                </a:solidFill>
                <a:latin typeface="Courier New"/>
                <a:cs typeface="Courier New"/>
              </a:rPr>
              <a:t>pscale</a:t>
            </a:r>
            <a:r>
              <a:rPr dirty="0" sz="900" spc="-15" b="1">
                <a:solidFill>
                  <a:srgbClr val="1A1F2B"/>
                </a:solidFill>
                <a:latin typeface="Courier New"/>
                <a:cs typeface="Courier New"/>
              </a:rPr>
              <a:t> </a:t>
            </a:r>
            <a:r>
              <a:rPr dirty="0" sz="900" spc="-50" b="1">
                <a:solidFill>
                  <a:srgbClr val="1A1F2B"/>
                </a:solidFill>
                <a:latin typeface="Courier New"/>
                <a:cs typeface="Courier New"/>
              </a:rPr>
              <a:t>]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04520" y="3926078"/>
            <a:ext cx="587184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The</a:t>
            </a:r>
            <a:r>
              <a:rPr dirty="0" sz="900" spc="-2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presence</a:t>
            </a:r>
            <a:r>
              <a:rPr dirty="0" sz="900" spc="-2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mask</a:t>
            </a:r>
            <a:r>
              <a:rPr dirty="0" sz="900" spc="-1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records</a:t>
            </a:r>
            <a:r>
              <a:rPr dirty="0" sz="900" spc="-2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which</a:t>
            </a:r>
            <a:r>
              <a:rPr dirty="0" sz="900" spc="-1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transform</a:t>
            </a:r>
            <a:r>
              <a:rPr dirty="0" sz="900" spc="-2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types</a:t>
            </a:r>
            <a:r>
              <a:rPr dirty="0" sz="900" spc="-2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the</a:t>
            </a:r>
            <a:r>
              <a:rPr dirty="0" sz="900" spc="-1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instruction</a:t>
            </a:r>
            <a:r>
              <a:rPr dirty="0" sz="900" spc="-2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actually</a:t>
            </a:r>
            <a:r>
              <a:rPr dirty="0" sz="900" spc="-1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mentions,</a:t>
            </a:r>
            <a:r>
              <a:rPr dirty="0" sz="900" spc="-2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so</a:t>
            </a:r>
            <a:r>
              <a:rPr dirty="0" sz="900" spc="-2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the</a:t>
            </a:r>
            <a:r>
              <a:rPr dirty="0" sz="900" spc="-1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regression</a:t>
            </a:r>
            <a:r>
              <a:rPr dirty="0" sz="900" spc="-2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loss</a:t>
            </a:r>
            <a:r>
              <a:rPr dirty="0" sz="900" spc="-1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can</a:t>
            </a:r>
            <a:r>
              <a:rPr dirty="0" sz="900" spc="-2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ignore</a:t>
            </a:r>
            <a:r>
              <a:rPr dirty="0" sz="900" spc="-2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the</a:t>
            </a:r>
            <a:r>
              <a:rPr dirty="0" sz="900" spc="-1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rest.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48" name="object 4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65"/>
              </a:lnSpc>
            </a:pPr>
            <a:r>
              <a:rPr dirty="0"/>
              <a:t>IE</a:t>
            </a:r>
            <a:r>
              <a:rPr dirty="0" spc="-15"/>
              <a:t> </a:t>
            </a:r>
            <a:r>
              <a:rPr dirty="0"/>
              <a:t>643</a:t>
            </a:r>
            <a:r>
              <a:rPr dirty="0" spc="-15"/>
              <a:t> </a:t>
            </a:r>
            <a:r>
              <a:rPr dirty="0" spc="-10"/>
              <a:t>Course </a:t>
            </a:r>
            <a:r>
              <a:rPr dirty="0"/>
              <a:t>Project</a:t>
            </a:r>
            <a:r>
              <a:rPr dirty="0" spc="135"/>
              <a:t> </a:t>
            </a:r>
            <a:r>
              <a:rPr dirty="0"/>
              <a:t>·</a:t>
            </a:r>
            <a:r>
              <a:rPr dirty="0" spc="140"/>
              <a:t> </a:t>
            </a:r>
            <a:r>
              <a:rPr dirty="0" spc="-20"/>
              <a:t>Team</a:t>
            </a:r>
            <a:r>
              <a:rPr dirty="0" spc="-10"/>
              <a:t> DyoOptix</a:t>
            </a:r>
          </a:p>
        </p:txBody>
      </p:sp>
      <p:sp>
        <p:nvSpPr>
          <p:cNvPr id="49" name="object 4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65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8780" y="244602"/>
            <a:ext cx="110871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E17039"/>
                </a:solidFill>
                <a:latin typeface="Calibri"/>
                <a:cs typeface="Calibri"/>
              </a:rPr>
              <a:t>BLOCK</a:t>
            </a:r>
            <a:r>
              <a:rPr dirty="0" sz="800" spc="-20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E17039"/>
                </a:solidFill>
                <a:latin typeface="Calibri"/>
                <a:cs typeface="Calibri"/>
              </a:rPr>
              <a:t>02</a:t>
            </a:r>
            <a:r>
              <a:rPr dirty="0" sz="800" spc="-1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E17039"/>
                </a:solidFill>
                <a:latin typeface="Calibri"/>
                <a:cs typeface="Calibri"/>
              </a:rPr>
              <a:t>·</a:t>
            </a:r>
            <a:r>
              <a:rPr dirty="0" sz="800" spc="-1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800" spc="-10" b="1">
                <a:solidFill>
                  <a:srgbClr val="E17039"/>
                </a:solidFill>
                <a:latin typeface="Calibri"/>
                <a:cs typeface="Calibri"/>
              </a:rPr>
              <a:t>BACKGROUND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4398" y="507268"/>
            <a:ext cx="158180" cy="158180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Affine</a:t>
            </a:r>
            <a:r>
              <a:rPr dirty="0" spc="-55"/>
              <a:t> </a:t>
            </a:r>
            <a:r>
              <a:rPr dirty="0" spc="-10"/>
              <a:t>Geometry</a:t>
            </a:r>
            <a:r>
              <a:rPr dirty="0" spc="-55"/>
              <a:t> </a:t>
            </a:r>
            <a:r>
              <a:rPr dirty="0"/>
              <a:t>&amp;</a:t>
            </a:r>
            <a:r>
              <a:rPr dirty="0" spc="-50"/>
              <a:t> </a:t>
            </a:r>
            <a:r>
              <a:rPr dirty="0"/>
              <a:t>the</a:t>
            </a:r>
            <a:r>
              <a:rPr dirty="0" spc="-55"/>
              <a:t> </a:t>
            </a:r>
            <a:r>
              <a:rPr dirty="0" spc="-10"/>
              <a:t>Similarity</a:t>
            </a:r>
            <a:r>
              <a:rPr dirty="0" spc="-55"/>
              <a:t> </a:t>
            </a:r>
            <a:r>
              <a:rPr dirty="0" spc="-10"/>
              <a:t>Subgroup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406717" y="1058227"/>
            <a:ext cx="4192904" cy="1621155"/>
            <a:chOff x="406717" y="1058227"/>
            <a:chExt cx="4192904" cy="1621155"/>
          </a:xfrm>
        </p:grpSpPr>
        <p:sp>
          <p:nvSpPr>
            <p:cNvPr id="6" name="object 6"/>
            <p:cNvSpPr/>
            <p:nvPr/>
          </p:nvSpPr>
          <p:spPr>
            <a:xfrm>
              <a:off x="411480" y="1062989"/>
              <a:ext cx="4183379" cy="1611630"/>
            </a:xfrm>
            <a:custGeom>
              <a:avLst/>
              <a:gdLst/>
              <a:ahLst/>
              <a:cxnLst/>
              <a:rect l="l" t="t" r="r" b="b"/>
              <a:pathLst>
                <a:path w="4183379" h="1611630">
                  <a:moveTo>
                    <a:pt x="4142235" y="1611629"/>
                  </a:moveTo>
                  <a:lnTo>
                    <a:pt x="41144" y="1611629"/>
                  </a:lnTo>
                  <a:lnTo>
                    <a:pt x="25129" y="1608396"/>
                  </a:lnTo>
                  <a:lnTo>
                    <a:pt x="12051" y="1599578"/>
                  </a:lnTo>
                  <a:lnTo>
                    <a:pt x="3233" y="1586500"/>
                  </a:lnTo>
                  <a:lnTo>
                    <a:pt x="0" y="1570484"/>
                  </a:lnTo>
                  <a:lnTo>
                    <a:pt x="0" y="41144"/>
                  </a:lnTo>
                  <a:lnTo>
                    <a:pt x="3233" y="25129"/>
                  </a:lnTo>
                  <a:lnTo>
                    <a:pt x="12051" y="12051"/>
                  </a:lnTo>
                  <a:lnTo>
                    <a:pt x="25129" y="3233"/>
                  </a:lnTo>
                  <a:lnTo>
                    <a:pt x="41144" y="0"/>
                  </a:lnTo>
                  <a:lnTo>
                    <a:pt x="4142235" y="0"/>
                  </a:lnTo>
                  <a:lnTo>
                    <a:pt x="4176467" y="18317"/>
                  </a:lnTo>
                  <a:lnTo>
                    <a:pt x="4183379" y="41144"/>
                  </a:lnTo>
                  <a:lnTo>
                    <a:pt x="4183379" y="1570484"/>
                  </a:lnTo>
                  <a:lnTo>
                    <a:pt x="4180146" y="1586500"/>
                  </a:lnTo>
                  <a:lnTo>
                    <a:pt x="4171328" y="1599578"/>
                  </a:lnTo>
                  <a:lnTo>
                    <a:pt x="4158250" y="1608396"/>
                  </a:lnTo>
                  <a:lnTo>
                    <a:pt x="4142235" y="1611629"/>
                  </a:lnTo>
                  <a:close/>
                </a:path>
              </a:pathLst>
            </a:custGeom>
            <a:solidFill>
              <a:srgbClr val="F4F4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11480" y="1062989"/>
              <a:ext cx="4183379" cy="1611630"/>
            </a:xfrm>
            <a:custGeom>
              <a:avLst/>
              <a:gdLst/>
              <a:ahLst/>
              <a:cxnLst/>
              <a:rect l="l" t="t" r="r" b="b"/>
              <a:pathLst>
                <a:path w="4183379" h="1611630">
                  <a:moveTo>
                    <a:pt x="0" y="41144"/>
                  </a:moveTo>
                  <a:lnTo>
                    <a:pt x="3233" y="25129"/>
                  </a:lnTo>
                  <a:lnTo>
                    <a:pt x="12051" y="12051"/>
                  </a:lnTo>
                  <a:lnTo>
                    <a:pt x="25129" y="3233"/>
                  </a:lnTo>
                  <a:lnTo>
                    <a:pt x="41144" y="0"/>
                  </a:lnTo>
                  <a:lnTo>
                    <a:pt x="4142235" y="0"/>
                  </a:lnTo>
                  <a:lnTo>
                    <a:pt x="4176467" y="18317"/>
                  </a:lnTo>
                  <a:lnTo>
                    <a:pt x="4183379" y="41144"/>
                  </a:lnTo>
                  <a:lnTo>
                    <a:pt x="4183379" y="1570484"/>
                  </a:lnTo>
                  <a:lnTo>
                    <a:pt x="4180146" y="1586500"/>
                  </a:lnTo>
                  <a:lnTo>
                    <a:pt x="4171328" y="1599578"/>
                  </a:lnTo>
                  <a:lnTo>
                    <a:pt x="4158250" y="1608396"/>
                  </a:lnTo>
                  <a:lnTo>
                    <a:pt x="4142235" y="1611629"/>
                  </a:lnTo>
                  <a:lnTo>
                    <a:pt x="41144" y="1611629"/>
                  </a:lnTo>
                  <a:lnTo>
                    <a:pt x="25129" y="1608396"/>
                  </a:lnTo>
                  <a:lnTo>
                    <a:pt x="12051" y="1599578"/>
                  </a:lnTo>
                  <a:lnTo>
                    <a:pt x="3233" y="1586500"/>
                  </a:lnTo>
                  <a:lnTo>
                    <a:pt x="0" y="1570484"/>
                  </a:lnTo>
                  <a:lnTo>
                    <a:pt x="0" y="41144"/>
                  </a:lnTo>
                  <a:close/>
                </a:path>
              </a:pathLst>
            </a:custGeom>
            <a:ln w="9524">
              <a:solidFill>
                <a:srgbClr val="E3E4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590804" y="1195323"/>
            <a:ext cx="146621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1A1F2B"/>
                </a:solidFill>
                <a:latin typeface="Calibri"/>
                <a:cs typeface="Calibri"/>
              </a:rPr>
              <a:t>Why</a:t>
            </a:r>
            <a:r>
              <a:rPr dirty="0" sz="1000" spc="-30" b="1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1A1F2B"/>
                </a:solidFill>
                <a:latin typeface="Calibri"/>
                <a:cs typeface="Calibri"/>
              </a:rPr>
              <a:t>2D</a:t>
            </a:r>
            <a:r>
              <a:rPr dirty="0" sz="1000" spc="-25" b="1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1A1F2B"/>
                </a:solidFill>
                <a:latin typeface="Calibri"/>
                <a:cs typeface="Calibri"/>
              </a:rPr>
              <a:t>needs</a:t>
            </a:r>
            <a:r>
              <a:rPr dirty="0" sz="1000" spc="-25" b="1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1A1F2B"/>
                </a:solidFill>
                <a:latin typeface="Calibri"/>
                <a:cs typeface="Calibri"/>
              </a:rPr>
              <a:t>a</a:t>
            </a:r>
            <a:r>
              <a:rPr dirty="0" sz="1000" spc="-25" b="1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1A1F2B"/>
                </a:solidFill>
                <a:latin typeface="Calibri"/>
                <a:cs typeface="Calibri"/>
              </a:rPr>
              <a:t>3×3</a:t>
            </a:r>
            <a:r>
              <a:rPr dirty="0" sz="1000" spc="-25" b="1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 b="1">
                <a:solidFill>
                  <a:srgbClr val="1A1F2B"/>
                </a:solidFill>
                <a:latin typeface="Calibri"/>
                <a:cs typeface="Calibri"/>
              </a:rPr>
              <a:t>matrix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0804" y="1752091"/>
            <a:ext cx="372872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A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2×2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matrix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always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maps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origin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to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origin,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so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translation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cannot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1A1F2B"/>
                </a:solidFill>
                <a:latin typeface="Calibri"/>
                <a:cs typeface="Calibri"/>
              </a:rPr>
              <a:t>be</a:t>
            </a:r>
            <a:r>
              <a:rPr dirty="0" sz="900" spc="50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expressed.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Lifting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point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(x,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y)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to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(x,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35">
                <a:solidFill>
                  <a:srgbClr val="1A1F2B"/>
                </a:solidFill>
                <a:latin typeface="Calibri"/>
                <a:cs typeface="Calibri"/>
              </a:rPr>
              <a:t>y,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1)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lets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third column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inject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50">
                <a:solidFill>
                  <a:srgbClr val="1A1F2B"/>
                </a:solidFill>
                <a:latin typeface="Calibri"/>
                <a:cs typeface="Calibri"/>
              </a:rPr>
              <a:t>a</a:t>
            </a:r>
            <a:r>
              <a:rPr dirty="0" sz="900" spc="50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constant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offset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—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translation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becomes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a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multiplication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like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any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other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transform.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795837" y="1058227"/>
            <a:ext cx="3939540" cy="1621155"/>
            <a:chOff x="4795837" y="1058227"/>
            <a:chExt cx="3939540" cy="1621155"/>
          </a:xfrm>
        </p:grpSpPr>
        <p:sp>
          <p:nvSpPr>
            <p:cNvPr id="11" name="object 11"/>
            <p:cNvSpPr/>
            <p:nvPr/>
          </p:nvSpPr>
          <p:spPr>
            <a:xfrm>
              <a:off x="4800600" y="1062989"/>
              <a:ext cx="3930015" cy="1611630"/>
            </a:xfrm>
            <a:custGeom>
              <a:avLst/>
              <a:gdLst/>
              <a:ahLst/>
              <a:cxnLst/>
              <a:rect l="l" t="t" r="r" b="b"/>
              <a:pathLst>
                <a:path w="3930015" h="1611630">
                  <a:moveTo>
                    <a:pt x="3888488" y="1611629"/>
                  </a:moveTo>
                  <a:lnTo>
                    <a:pt x="41144" y="1611629"/>
                  </a:lnTo>
                  <a:lnTo>
                    <a:pt x="25129" y="1608396"/>
                  </a:lnTo>
                  <a:lnTo>
                    <a:pt x="12050" y="1599578"/>
                  </a:lnTo>
                  <a:lnTo>
                    <a:pt x="3233" y="1586500"/>
                  </a:lnTo>
                  <a:lnTo>
                    <a:pt x="0" y="1570484"/>
                  </a:lnTo>
                  <a:lnTo>
                    <a:pt x="0" y="41144"/>
                  </a:lnTo>
                  <a:lnTo>
                    <a:pt x="3233" y="25129"/>
                  </a:lnTo>
                  <a:lnTo>
                    <a:pt x="12050" y="12051"/>
                  </a:lnTo>
                  <a:lnTo>
                    <a:pt x="25129" y="3233"/>
                  </a:lnTo>
                  <a:lnTo>
                    <a:pt x="41144" y="0"/>
                  </a:lnTo>
                  <a:lnTo>
                    <a:pt x="3888488" y="0"/>
                  </a:lnTo>
                  <a:lnTo>
                    <a:pt x="3922721" y="18317"/>
                  </a:lnTo>
                  <a:lnTo>
                    <a:pt x="3929634" y="41144"/>
                  </a:lnTo>
                  <a:lnTo>
                    <a:pt x="3929634" y="1570484"/>
                  </a:lnTo>
                  <a:lnTo>
                    <a:pt x="3926400" y="1586500"/>
                  </a:lnTo>
                  <a:lnTo>
                    <a:pt x="3917583" y="1599578"/>
                  </a:lnTo>
                  <a:lnTo>
                    <a:pt x="3904504" y="1608396"/>
                  </a:lnTo>
                  <a:lnTo>
                    <a:pt x="3888488" y="1611629"/>
                  </a:lnTo>
                  <a:close/>
                </a:path>
              </a:pathLst>
            </a:custGeom>
            <a:solidFill>
              <a:srgbClr val="F6F1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800600" y="1062989"/>
              <a:ext cx="3930015" cy="1611630"/>
            </a:xfrm>
            <a:custGeom>
              <a:avLst/>
              <a:gdLst/>
              <a:ahLst/>
              <a:cxnLst/>
              <a:rect l="l" t="t" r="r" b="b"/>
              <a:pathLst>
                <a:path w="3930015" h="1611630">
                  <a:moveTo>
                    <a:pt x="0" y="41144"/>
                  </a:moveTo>
                  <a:lnTo>
                    <a:pt x="3233" y="25129"/>
                  </a:lnTo>
                  <a:lnTo>
                    <a:pt x="12050" y="12051"/>
                  </a:lnTo>
                  <a:lnTo>
                    <a:pt x="25129" y="3233"/>
                  </a:lnTo>
                  <a:lnTo>
                    <a:pt x="41144" y="0"/>
                  </a:lnTo>
                  <a:lnTo>
                    <a:pt x="3888488" y="0"/>
                  </a:lnTo>
                  <a:lnTo>
                    <a:pt x="3922721" y="18317"/>
                  </a:lnTo>
                  <a:lnTo>
                    <a:pt x="3929634" y="41144"/>
                  </a:lnTo>
                  <a:lnTo>
                    <a:pt x="3929634" y="1570484"/>
                  </a:lnTo>
                  <a:lnTo>
                    <a:pt x="3926400" y="1586500"/>
                  </a:lnTo>
                  <a:lnTo>
                    <a:pt x="3917583" y="1599578"/>
                  </a:lnTo>
                  <a:lnTo>
                    <a:pt x="3904504" y="1608396"/>
                  </a:lnTo>
                  <a:lnTo>
                    <a:pt x="3888488" y="1611629"/>
                  </a:lnTo>
                  <a:lnTo>
                    <a:pt x="41144" y="1611629"/>
                  </a:lnTo>
                  <a:lnTo>
                    <a:pt x="25129" y="1608396"/>
                  </a:lnTo>
                  <a:lnTo>
                    <a:pt x="12050" y="1599578"/>
                  </a:lnTo>
                  <a:lnTo>
                    <a:pt x="3233" y="1586500"/>
                  </a:lnTo>
                  <a:lnTo>
                    <a:pt x="0" y="1570484"/>
                  </a:lnTo>
                  <a:lnTo>
                    <a:pt x="0" y="41144"/>
                  </a:lnTo>
                  <a:close/>
                </a:path>
              </a:pathLst>
            </a:custGeom>
            <a:ln w="9524">
              <a:solidFill>
                <a:srgbClr val="E3E4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4979924" y="1195323"/>
            <a:ext cx="107505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solidFill>
                  <a:srgbClr val="1A1F2B"/>
                </a:solidFill>
                <a:latin typeface="Calibri"/>
                <a:cs typeface="Calibri"/>
              </a:rPr>
              <a:t>Payoff:</a:t>
            </a:r>
            <a:r>
              <a:rPr dirty="0" sz="1000" spc="-15" b="1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 b="1">
                <a:solidFill>
                  <a:srgbClr val="1A1F2B"/>
                </a:solidFill>
                <a:latin typeface="Calibri"/>
                <a:cs typeface="Calibri"/>
              </a:rPr>
              <a:t>composition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979924" y="1477772"/>
            <a:ext cx="3498850" cy="1064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524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Several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transforms compose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by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matrix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product rather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than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by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tracking </a:t>
            </a:r>
            <a:r>
              <a:rPr dirty="0" sz="900" spc="-60">
                <a:solidFill>
                  <a:srgbClr val="1A1F2B"/>
                </a:solidFill>
                <a:latin typeface="Calibri"/>
                <a:cs typeface="Calibri"/>
              </a:rPr>
              <a:t>a</a:t>
            </a:r>
            <a:r>
              <a:rPr dirty="0" sz="900" spc="50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matrix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plus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a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separate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offset: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25"/>
              </a:spcBef>
            </a:pP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100" b="1">
                <a:solidFill>
                  <a:srgbClr val="2E6171"/>
                </a:solidFill>
                <a:latin typeface="Courier New"/>
                <a:cs typeface="Courier New"/>
              </a:rPr>
              <a:t>M</a:t>
            </a:r>
            <a:r>
              <a:rPr dirty="0" sz="1100" spc="-25" b="1">
                <a:solidFill>
                  <a:srgbClr val="2E6171"/>
                </a:solidFill>
                <a:latin typeface="Courier New"/>
                <a:cs typeface="Courier New"/>
              </a:rPr>
              <a:t>  </a:t>
            </a:r>
            <a:r>
              <a:rPr dirty="0" sz="1100" b="1">
                <a:solidFill>
                  <a:srgbClr val="2E6171"/>
                </a:solidFill>
                <a:latin typeface="Courier New"/>
                <a:cs typeface="Courier New"/>
              </a:rPr>
              <a:t>=</a:t>
            </a:r>
            <a:r>
              <a:rPr dirty="0" sz="1100" spc="-20" b="1">
                <a:solidFill>
                  <a:srgbClr val="2E6171"/>
                </a:solidFill>
                <a:latin typeface="Courier New"/>
                <a:cs typeface="Courier New"/>
              </a:rPr>
              <a:t>  </a:t>
            </a:r>
            <a:r>
              <a:rPr dirty="0" sz="1100" b="1">
                <a:solidFill>
                  <a:srgbClr val="2E6171"/>
                </a:solidFill>
                <a:latin typeface="Courier New"/>
                <a:cs typeface="Courier New"/>
              </a:rPr>
              <a:t>T(c)</a:t>
            </a:r>
            <a:r>
              <a:rPr dirty="0" sz="1100" spc="-20" b="1">
                <a:solidFill>
                  <a:srgbClr val="2E6171"/>
                </a:solidFill>
                <a:latin typeface="Courier New"/>
                <a:cs typeface="Courier New"/>
              </a:rPr>
              <a:t> </a:t>
            </a:r>
            <a:r>
              <a:rPr dirty="0" sz="1100" b="1">
                <a:solidFill>
                  <a:srgbClr val="2E6171"/>
                </a:solidFill>
                <a:latin typeface="Courier New"/>
                <a:cs typeface="Courier New"/>
              </a:rPr>
              <a:t>·</a:t>
            </a:r>
            <a:r>
              <a:rPr dirty="0" sz="1100" spc="-20" b="1">
                <a:solidFill>
                  <a:srgbClr val="2E6171"/>
                </a:solidFill>
                <a:latin typeface="Courier New"/>
                <a:cs typeface="Courier New"/>
              </a:rPr>
              <a:t> </a:t>
            </a:r>
            <a:r>
              <a:rPr dirty="0" sz="1100" b="1">
                <a:solidFill>
                  <a:srgbClr val="2E6171"/>
                </a:solidFill>
                <a:latin typeface="Courier New"/>
                <a:cs typeface="Courier New"/>
              </a:rPr>
              <a:t>T(t)</a:t>
            </a:r>
            <a:r>
              <a:rPr dirty="0" sz="1100" spc="-25" b="1">
                <a:solidFill>
                  <a:srgbClr val="2E6171"/>
                </a:solidFill>
                <a:latin typeface="Courier New"/>
                <a:cs typeface="Courier New"/>
              </a:rPr>
              <a:t> </a:t>
            </a:r>
            <a:r>
              <a:rPr dirty="0" sz="1100" b="1">
                <a:solidFill>
                  <a:srgbClr val="2E6171"/>
                </a:solidFill>
                <a:latin typeface="Courier New"/>
                <a:cs typeface="Courier New"/>
              </a:rPr>
              <a:t>·</a:t>
            </a:r>
            <a:r>
              <a:rPr dirty="0" sz="1100" spc="-20" b="1">
                <a:solidFill>
                  <a:srgbClr val="2E6171"/>
                </a:solidFill>
                <a:latin typeface="Courier New"/>
                <a:cs typeface="Courier New"/>
              </a:rPr>
              <a:t> </a:t>
            </a:r>
            <a:r>
              <a:rPr dirty="0" sz="1100" b="1">
                <a:solidFill>
                  <a:srgbClr val="2E6171"/>
                </a:solidFill>
                <a:latin typeface="Courier New"/>
                <a:cs typeface="Courier New"/>
              </a:rPr>
              <a:t>R(θ)</a:t>
            </a:r>
            <a:r>
              <a:rPr dirty="0" sz="1100" spc="-20" b="1">
                <a:solidFill>
                  <a:srgbClr val="2E6171"/>
                </a:solidFill>
                <a:latin typeface="Courier New"/>
                <a:cs typeface="Courier New"/>
              </a:rPr>
              <a:t> </a:t>
            </a:r>
            <a:r>
              <a:rPr dirty="0" sz="1100" b="1">
                <a:solidFill>
                  <a:srgbClr val="2E6171"/>
                </a:solidFill>
                <a:latin typeface="Courier New"/>
                <a:cs typeface="Courier New"/>
              </a:rPr>
              <a:t>·</a:t>
            </a:r>
            <a:r>
              <a:rPr dirty="0" sz="1100" spc="-25" b="1">
                <a:solidFill>
                  <a:srgbClr val="2E6171"/>
                </a:solidFill>
                <a:latin typeface="Courier New"/>
                <a:cs typeface="Courier New"/>
              </a:rPr>
              <a:t> </a:t>
            </a:r>
            <a:r>
              <a:rPr dirty="0" sz="1100" b="1">
                <a:solidFill>
                  <a:srgbClr val="2E6171"/>
                </a:solidFill>
                <a:latin typeface="Courier New"/>
                <a:cs typeface="Courier New"/>
              </a:rPr>
              <a:t>S(s)</a:t>
            </a:r>
            <a:r>
              <a:rPr dirty="0" sz="1100" spc="-20" b="1">
                <a:solidFill>
                  <a:srgbClr val="2E6171"/>
                </a:solidFill>
                <a:latin typeface="Courier New"/>
                <a:cs typeface="Courier New"/>
              </a:rPr>
              <a:t> </a:t>
            </a:r>
            <a:r>
              <a:rPr dirty="0" sz="1100" b="1">
                <a:solidFill>
                  <a:srgbClr val="2E6171"/>
                </a:solidFill>
                <a:latin typeface="Courier New"/>
                <a:cs typeface="Courier New"/>
              </a:rPr>
              <a:t>·</a:t>
            </a:r>
            <a:r>
              <a:rPr dirty="0" sz="1100" spc="-25" b="1">
                <a:solidFill>
                  <a:srgbClr val="2E6171"/>
                </a:solidFill>
                <a:latin typeface="Courier New"/>
                <a:cs typeface="Courier New"/>
              </a:rPr>
              <a:t> </a:t>
            </a:r>
            <a:r>
              <a:rPr dirty="0" sz="1100" spc="-10" b="1">
                <a:solidFill>
                  <a:srgbClr val="2E6171"/>
                </a:solidFill>
                <a:latin typeface="Courier New"/>
                <a:cs typeface="Courier New"/>
              </a:rPr>
              <a:t>T(−c)</a:t>
            </a:r>
            <a:endParaRPr sz="1100">
              <a:latin typeface="Courier New"/>
              <a:cs typeface="Courier New"/>
            </a:endParaRPr>
          </a:p>
          <a:p>
            <a:pPr marL="12700" marR="5080">
              <a:lnSpc>
                <a:spcPct val="100000"/>
              </a:lnSpc>
              <a:spcBef>
                <a:spcPts val="915"/>
              </a:spcBef>
            </a:pP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Centring</a:t>
            </a:r>
            <a:r>
              <a:rPr dirty="0" sz="900" spc="-1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at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the</a:t>
            </a:r>
            <a:r>
              <a:rPr dirty="0" sz="900" spc="-1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object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 centroid</a:t>
            </a:r>
            <a:r>
              <a:rPr dirty="0" sz="900" spc="-1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c,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so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 rotation</a:t>
            </a:r>
            <a:r>
              <a:rPr dirty="0" sz="900" spc="-1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and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scale</a:t>
            </a:r>
            <a:r>
              <a:rPr dirty="0" sz="900" spc="-1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act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about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the</a:t>
            </a:r>
            <a:r>
              <a:rPr dirty="0" sz="900" spc="-1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object</a:t>
            </a:r>
            <a:r>
              <a:rPr dirty="0" sz="900" spc="50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rather</a:t>
            </a:r>
            <a:r>
              <a:rPr dirty="0" sz="900" spc="-1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than</a:t>
            </a:r>
            <a:r>
              <a:rPr dirty="0" sz="900" spc="-1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the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 image</a:t>
            </a:r>
            <a:r>
              <a:rPr dirty="0" sz="900" spc="-1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origin.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06717" y="2841307"/>
            <a:ext cx="8328659" cy="1038225"/>
            <a:chOff x="406717" y="2841307"/>
            <a:chExt cx="8328659" cy="1038225"/>
          </a:xfrm>
        </p:grpSpPr>
        <p:sp>
          <p:nvSpPr>
            <p:cNvPr id="16" name="object 16"/>
            <p:cNvSpPr/>
            <p:nvPr/>
          </p:nvSpPr>
          <p:spPr>
            <a:xfrm>
              <a:off x="411480" y="2846070"/>
              <a:ext cx="8319134" cy="1028700"/>
            </a:xfrm>
            <a:custGeom>
              <a:avLst/>
              <a:gdLst/>
              <a:ahLst/>
              <a:cxnLst/>
              <a:rect l="l" t="t" r="r" b="b"/>
              <a:pathLst>
                <a:path w="8319134" h="1028700">
                  <a:moveTo>
                    <a:pt x="8277605" y="1028699"/>
                  </a:moveTo>
                  <a:lnTo>
                    <a:pt x="41147" y="1028699"/>
                  </a:lnTo>
                  <a:lnTo>
                    <a:pt x="25131" y="1025466"/>
                  </a:lnTo>
                  <a:lnTo>
                    <a:pt x="12051" y="1016647"/>
                  </a:lnTo>
                  <a:lnTo>
                    <a:pt x="3233" y="1003568"/>
                  </a:lnTo>
                  <a:lnTo>
                    <a:pt x="0" y="987551"/>
                  </a:lnTo>
                  <a:lnTo>
                    <a:pt x="0" y="41147"/>
                  </a:lnTo>
                  <a:lnTo>
                    <a:pt x="3233" y="25131"/>
                  </a:lnTo>
                  <a:lnTo>
                    <a:pt x="12051" y="12051"/>
                  </a:lnTo>
                  <a:lnTo>
                    <a:pt x="25131" y="3233"/>
                  </a:lnTo>
                  <a:lnTo>
                    <a:pt x="41147" y="0"/>
                  </a:lnTo>
                  <a:lnTo>
                    <a:pt x="8277605" y="0"/>
                  </a:lnTo>
                  <a:lnTo>
                    <a:pt x="8311840" y="18319"/>
                  </a:lnTo>
                  <a:lnTo>
                    <a:pt x="8318754" y="41147"/>
                  </a:lnTo>
                  <a:lnTo>
                    <a:pt x="8318754" y="987551"/>
                  </a:lnTo>
                  <a:lnTo>
                    <a:pt x="8315520" y="1003568"/>
                  </a:lnTo>
                  <a:lnTo>
                    <a:pt x="8306702" y="1016647"/>
                  </a:lnTo>
                  <a:lnTo>
                    <a:pt x="8293622" y="1025466"/>
                  </a:lnTo>
                  <a:lnTo>
                    <a:pt x="8277605" y="1028699"/>
                  </a:lnTo>
                  <a:close/>
                </a:path>
              </a:pathLst>
            </a:custGeom>
            <a:solidFill>
              <a:srgbClr val="FCF1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11480" y="2846070"/>
              <a:ext cx="8319134" cy="1028700"/>
            </a:xfrm>
            <a:custGeom>
              <a:avLst/>
              <a:gdLst/>
              <a:ahLst/>
              <a:cxnLst/>
              <a:rect l="l" t="t" r="r" b="b"/>
              <a:pathLst>
                <a:path w="8319134" h="1028700">
                  <a:moveTo>
                    <a:pt x="0" y="41147"/>
                  </a:moveTo>
                  <a:lnTo>
                    <a:pt x="3233" y="25131"/>
                  </a:lnTo>
                  <a:lnTo>
                    <a:pt x="12051" y="12051"/>
                  </a:lnTo>
                  <a:lnTo>
                    <a:pt x="25131" y="3233"/>
                  </a:lnTo>
                  <a:lnTo>
                    <a:pt x="41147" y="0"/>
                  </a:lnTo>
                  <a:lnTo>
                    <a:pt x="8277605" y="0"/>
                  </a:lnTo>
                  <a:lnTo>
                    <a:pt x="8311840" y="18319"/>
                  </a:lnTo>
                  <a:lnTo>
                    <a:pt x="8318754" y="41147"/>
                  </a:lnTo>
                  <a:lnTo>
                    <a:pt x="8318754" y="987551"/>
                  </a:lnTo>
                  <a:lnTo>
                    <a:pt x="8315520" y="1003568"/>
                  </a:lnTo>
                  <a:lnTo>
                    <a:pt x="8306702" y="1016647"/>
                  </a:lnTo>
                  <a:lnTo>
                    <a:pt x="8293622" y="1025466"/>
                  </a:lnTo>
                  <a:lnTo>
                    <a:pt x="8277605" y="1028699"/>
                  </a:lnTo>
                  <a:lnTo>
                    <a:pt x="41147" y="1028699"/>
                  </a:lnTo>
                  <a:lnTo>
                    <a:pt x="25131" y="1025466"/>
                  </a:lnTo>
                  <a:lnTo>
                    <a:pt x="12051" y="1016647"/>
                  </a:lnTo>
                  <a:lnTo>
                    <a:pt x="3233" y="1003568"/>
                  </a:lnTo>
                  <a:lnTo>
                    <a:pt x="0" y="987551"/>
                  </a:lnTo>
                  <a:lnTo>
                    <a:pt x="0" y="41147"/>
                  </a:lnTo>
                  <a:close/>
                </a:path>
              </a:pathLst>
            </a:custGeom>
            <a:ln w="9524">
              <a:solidFill>
                <a:srgbClr val="E3E4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604520" y="2964688"/>
            <a:ext cx="7087870" cy="6680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solidFill>
                  <a:srgbClr val="E17039"/>
                </a:solidFill>
                <a:latin typeface="Calibri"/>
                <a:cs typeface="Calibri"/>
              </a:rPr>
              <a:t>Implementation</a:t>
            </a:r>
            <a:r>
              <a:rPr dirty="0" sz="1000" spc="-1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E17039"/>
                </a:solidFill>
                <a:latin typeface="Calibri"/>
                <a:cs typeface="Calibri"/>
              </a:rPr>
              <a:t>trap:</a:t>
            </a:r>
            <a:r>
              <a:rPr dirty="0" sz="1000" spc="-1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E17039"/>
                </a:solidFill>
                <a:latin typeface="Calibri"/>
                <a:cs typeface="Calibri"/>
              </a:rPr>
              <a:t>the</a:t>
            </a:r>
            <a:r>
              <a:rPr dirty="0" sz="1000" spc="-1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E17039"/>
                </a:solidFill>
                <a:latin typeface="Calibri"/>
                <a:cs typeface="Calibri"/>
              </a:rPr>
              <a:t>image</a:t>
            </a:r>
            <a:r>
              <a:rPr dirty="0" sz="1000" spc="-1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1000" spc="-20" b="1">
                <a:solidFill>
                  <a:srgbClr val="E17039"/>
                </a:solidFill>
                <a:latin typeface="Calibri"/>
                <a:cs typeface="Calibri"/>
              </a:rPr>
              <a:t>y-</a:t>
            </a:r>
            <a:r>
              <a:rPr dirty="0" sz="1000" b="1">
                <a:solidFill>
                  <a:srgbClr val="E17039"/>
                </a:solidFill>
                <a:latin typeface="Calibri"/>
                <a:cs typeface="Calibri"/>
              </a:rPr>
              <a:t>axis</a:t>
            </a:r>
            <a:r>
              <a:rPr dirty="0" sz="1000" spc="-1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1000" spc="-10" b="1">
                <a:solidFill>
                  <a:srgbClr val="E17039"/>
                </a:solidFill>
                <a:latin typeface="Calibri"/>
                <a:cs typeface="Calibri"/>
              </a:rPr>
              <a:t>points</a:t>
            </a:r>
            <a:r>
              <a:rPr dirty="0" sz="1000" spc="-1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1000" spc="-20" b="1">
                <a:solidFill>
                  <a:srgbClr val="E17039"/>
                </a:solidFill>
                <a:latin typeface="Calibri"/>
                <a:cs typeface="Calibri"/>
              </a:rPr>
              <a:t>down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75"/>
              </a:spcBef>
            </a:pPr>
            <a:endParaRPr sz="10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Substituting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y </a:t>
            </a:r>
            <a:r>
              <a:rPr dirty="0" sz="900">
                <a:solidFill>
                  <a:srgbClr val="1A1F2B"/>
                </a:solidFill>
                <a:latin typeface="Microsoft Sans Serif"/>
                <a:cs typeface="Microsoft Sans Serif"/>
              </a:rPr>
              <a:t>→</a:t>
            </a:r>
            <a:r>
              <a:rPr dirty="0" sz="900" spc="-45">
                <a:solidFill>
                  <a:srgbClr val="1A1F2B"/>
                </a:solidFill>
                <a:latin typeface="Microsoft Sans Serif"/>
                <a:cs typeface="Microsoft Sans Serif"/>
              </a:rPr>
              <a:t> </a:t>
            </a:r>
            <a:r>
              <a:rPr dirty="0" sz="900">
                <a:solidFill>
                  <a:srgbClr val="1A1F2B"/>
                </a:solidFill>
                <a:latin typeface="Microsoft Sans Serif"/>
                <a:cs typeface="Microsoft Sans Serif"/>
              </a:rPr>
              <a:t>−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y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into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standard 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counter-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clockwise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rotation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gives</a:t>
            </a:r>
            <a:r>
              <a:rPr dirty="0" sz="900" spc="18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R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=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[[cos</a:t>
            </a:r>
            <a:r>
              <a:rPr dirty="0" sz="900" spc="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Microsoft Sans Serif"/>
                <a:cs typeface="Microsoft Sans Serif"/>
              </a:rPr>
              <a:t>θ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,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sin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Microsoft Sans Serif"/>
                <a:cs typeface="Microsoft Sans Serif"/>
              </a:rPr>
              <a:t>θ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],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[</a:t>
            </a:r>
            <a:r>
              <a:rPr dirty="0" sz="900">
                <a:solidFill>
                  <a:srgbClr val="1A1F2B"/>
                </a:solidFill>
                <a:latin typeface="Microsoft Sans Serif"/>
                <a:cs typeface="Microsoft Sans Serif"/>
              </a:rPr>
              <a:t>−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sin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Microsoft Sans Serif"/>
                <a:cs typeface="Microsoft Sans Serif"/>
              </a:rPr>
              <a:t>θ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,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cos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Microsoft Sans Serif"/>
                <a:cs typeface="Microsoft Sans Serif"/>
              </a:rPr>
              <a:t>θ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]]</a:t>
            </a:r>
            <a:r>
              <a:rPr dirty="0" sz="900" spc="18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—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transpose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of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textbook form. "Rotate</a:t>
            </a:r>
            <a:r>
              <a:rPr dirty="0" sz="900" spc="50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counter-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clockwise"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therefore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carries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opposite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sign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to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one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written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from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memory.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05129" y="4005579"/>
            <a:ext cx="8331834" cy="664210"/>
            <a:chOff x="405129" y="4005579"/>
            <a:chExt cx="8331834" cy="664210"/>
          </a:xfrm>
        </p:grpSpPr>
        <p:sp>
          <p:nvSpPr>
            <p:cNvPr id="20" name="object 20"/>
            <p:cNvSpPr/>
            <p:nvPr/>
          </p:nvSpPr>
          <p:spPr>
            <a:xfrm>
              <a:off x="411479" y="4011929"/>
              <a:ext cx="8319134" cy="651510"/>
            </a:xfrm>
            <a:custGeom>
              <a:avLst/>
              <a:gdLst/>
              <a:ahLst/>
              <a:cxnLst/>
              <a:rect l="l" t="t" r="r" b="b"/>
              <a:pathLst>
                <a:path w="8319134" h="651510">
                  <a:moveTo>
                    <a:pt x="8277604" y="651509"/>
                  </a:moveTo>
                  <a:lnTo>
                    <a:pt x="41149" y="651509"/>
                  </a:lnTo>
                  <a:lnTo>
                    <a:pt x="25132" y="648276"/>
                  </a:lnTo>
                  <a:lnTo>
                    <a:pt x="12052" y="639457"/>
                  </a:lnTo>
                  <a:lnTo>
                    <a:pt x="3233" y="626377"/>
                  </a:lnTo>
                  <a:lnTo>
                    <a:pt x="0" y="610360"/>
                  </a:lnTo>
                  <a:lnTo>
                    <a:pt x="0" y="41149"/>
                  </a:lnTo>
                  <a:lnTo>
                    <a:pt x="3233" y="25132"/>
                  </a:lnTo>
                  <a:lnTo>
                    <a:pt x="12052" y="12052"/>
                  </a:lnTo>
                  <a:lnTo>
                    <a:pt x="25132" y="3233"/>
                  </a:lnTo>
                  <a:lnTo>
                    <a:pt x="41149" y="0"/>
                  </a:lnTo>
                  <a:lnTo>
                    <a:pt x="8277604" y="0"/>
                  </a:lnTo>
                  <a:lnTo>
                    <a:pt x="8311840" y="18319"/>
                  </a:lnTo>
                  <a:lnTo>
                    <a:pt x="8318754" y="41149"/>
                  </a:lnTo>
                  <a:lnTo>
                    <a:pt x="8318754" y="610360"/>
                  </a:lnTo>
                  <a:lnTo>
                    <a:pt x="8315520" y="626377"/>
                  </a:lnTo>
                  <a:lnTo>
                    <a:pt x="8306701" y="639457"/>
                  </a:lnTo>
                  <a:lnTo>
                    <a:pt x="8293621" y="648276"/>
                  </a:lnTo>
                  <a:lnTo>
                    <a:pt x="8277604" y="651509"/>
                  </a:lnTo>
                  <a:close/>
                </a:path>
              </a:pathLst>
            </a:custGeom>
            <a:solidFill>
              <a:srgbClr val="FCF1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11479" y="4011929"/>
              <a:ext cx="8319134" cy="651510"/>
            </a:xfrm>
            <a:custGeom>
              <a:avLst/>
              <a:gdLst/>
              <a:ahLst/>
              <a:cxnLst/>
              <a:rect l="l" t="t" r="r" b="b"/>
              <a:pathLst>
                <a:path w="8319134" h="651510">
                  <a:moveTo>
                    <a:pt x="0" y="41149"/>
                  </a:moveTo>
                  <a:lnTo>
                    <a:pt x="3233" y="25132"/>
                  </a:lnTo>
                  <a:lnTo>
                    <a:pt x="12052" y="12052"/>
                  </a:lnTo>
                  <a:lnTo>
                    <a:pt x="25132" y="3233"/>
                  </a:lnTo>
                  <a:lnTo>
                    <a:pt x="41149" y="0"/>
                  </a:lnTo>
                  <a:lnTo>
                    <a:pt x="8277604" y="0"/>
                  </a:lnTo>
                  <a:lnTo>
                    <a:pt x="8311840" y="18319"/>
                  </a:lnTo>
                  <a:lnTo>
                    <a:pt x="8318754" y="41149"/>
                  </a:lnTo>
                  <a:lnTo>
                    <a:pt x="8318754" y="610360"/>
                  </a:lnTo>
                  <a:lnTo>
                    <a:pt x="8315520" y="626377"/>
                  </a:lnTo>
                  <a:lnTo>
                    <a:pt x="8306701" y="639457"/>
                  </a:lnTo>
                  <a:lnTo>
                    <a:pt x="8293621" y="648276"/>
                  </a:lnTo>
                  <a:lnTo>
                    <a:pt x="8277604" y="651509"/>
                  </a:lnTo>
                  <a:lnTo>
                    <a:pt x="41149" y="651509"/>
                  </a:lnTo>
                  <a:lnTo>
                    <a:pt x="25132" y="648276"/>
                  </a:lnTo>
                  <a:lnTo>
                    <a:pt x="12052" y="639457"/>
                  </a:lnTo>
                  <a:lnTo>
                    <a:pt x="3233" y="626377"/>
                  </a:lnTo>
                  <a:lnTo>
                    <a:pt x="0" y="610360"/>
                  </a:lnTo>
                  <a:lnTo>
                    <a:pt x="0" y="41149"/>
                  </a:lnTo>
                  <a:close/>
                </a:path>
              </a:pathLst>
            </a:custGeom>
            <a:ln w="12699">
              <a:solidFill>
                <a:srgbClr val="E1703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549656" y="4167504"/>
            <a:ext cx="794321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E17039"/>
                </a:solidFill>
                <a:latin typeface="Calibri"/>
                <a:cs typeface="Calibri"/>
              </a:rPr>
              <a:t>What</a:t>
            </a:r>
            <a:r>
              <a:rPr dirty="0" sz="900" spc="-1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E17039"/>
                </a:solidFill>
                <a:latin typeface="Calibri"/>
                <a:cs typeface="Calibri"/>
              </a:rPr>
              <a:t>we</a:t>
            </a:r>
            <a:r>
              <a:rPr dirty="0" sz="900" spc="-1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900" spc="-10" b="1">
                <a:solidFill>
                  <a:srgbClr val="E17039"/>
                </a:solidFill>
                <a:latin typeface="Calibri"/>
                <a:cs typeface="Calibri"/>
              </a:rPr>
              <a:t>take</a:t>
            </a:r>
            <a:r>
              <a:rPr dirty="0" sz="900" spc="-1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900" spc="-10" b="1">
                <a:solidFill>
                  <a:srgbClr val="E17039"/>
                </a:solidFill>
                <a:latin typeface="Calibri"/>
                <a:cs typeface="Calibri"/>
              </a:rPr>
              <a:t>from</a:t>
            </a:r>
            <a:r>
              <a:rPr dirty="0" sz="900" spc="-1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E17039"/>
                </a:solidFill>
                <a:latin typeface="Calibri"/>
                <a:cs typeface="Calibri"/>
              </a:rPr>
              <a:t>it</a:t>
            </a:r>
            <a:r>
              <a:rPr dirty="0" sz="900" spc="380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Our</a:t>
            </a:r>
            <a:r>
              <a:rPr dirty="0" sz="10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output</a:t>
            </a:r>
            <a:r>
              <a:rPr dirty="0" sz="10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is</a:t>
            </a:r>
            <a:r>
              <a:rPr dirty="0" sz="10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10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similarity</a:t>
            </a:r>
            <a:r>
              <a:rPr dirty="0" sz="10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subgroup</a:t>
            </a:r>
            <a:r>
              <a:rPr dirty="0" sz="10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—</a:t>
            </a:r>
            <a:r>
              <a:rPr dirty="0" sz="10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translation,</a:t>
            </a:r>
            <a:r>
              <a:rPr dirty="0" sz="10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rotation,</a:t>
            </a:r>
            <a:r>
              <a:rPr dirty="0" sz="10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uniform</a:t>
            </a:r>
            <a:r>
              <a:rPr dirty="0" sz="10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scale:</a:t>
            </a:r>
            <a:r>
              <a:rPr dirty="0" sz="10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4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of</a:t>
            </a:r>
            <a:r>
              <a:rPr dirty="0" sz="10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affine's</a:t>
            </a:r>
            <a:r>
              <a:rPr dirty="0" sz="10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6</a:t>
            </a:r>
            <a:r>
              <a:rPr dirty="0" sz="10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degrees</a:t>
            </a:r>
            <a:r>
              <a:rPr dirty="0" sz="10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of</a:t>
            </a:r>
            <a:r>
              <a:rPr dirty="0" sz="10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freedom.</a:t>
            </a:r>
            <a:r>
              <a:rPr dirty="0" sz="10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Shear</a:t>
            </a:r>
            <a:r>
              <a:rPr dirty="0" sz="10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and</a:t>
            </a:r>
            <a:r>
              <a:rPr dirty="0" sz="10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anisotropic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scale</a:t>
            </a:r>
            <a:r>
              <a:rPr dirty="0" sz="10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are</a:t>
            </a:r>
            <a:r>
              <a:rPr dirty="0" sz="10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outside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10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scope</a:t>
            </a:r>
            <a:r>
              <a:rPr dirty="0" sz="10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of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10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allotted</a:t>
            </a:r>
            <a:r>
              <a:rPr dirty="0" sz="10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task.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65"/>
              </a:lnSpc>
            </a:pPr>
            <a:r>
              <a:rPr dirty="0"/>
              <a:t>IE</a:t>
            </a:r>
            <a:r>
              <a:rPr dirty="0" spc="-15"/>
              <a:t> </a:t>
            </a:r>
            <a:r>
              <a:rPr dirty="0"/>
              <a:t>643</a:t>
            </a:r>
            <a:r>
              <a:rPr dirty="0" spc="-15"/>
              <a:t> </a:t>
            </a:r>
            <a:r>
              <a:rPr dirty="0" spc="-10"/>
              <a:t>Course </a:t>
            </a:r>
            <a:r>
              <a:rPr dirty="0"/>
              <a:t>Project</a:t>
            </a:r>
            <a:r>
              <a:rPr dirty="0" spc="135"/>
              <a:t> </a:t>
            </a:r>
            <a:r>
              <a:rPr dirty="0"/>
              <a:t>·</a:t>
            </a:r>
            <a:r>
              <a:rPr dirty="0" spc="140"/>
              <a:t> </a:t>
            </a:r>
            <a:r>
              <a:rPr dirty="0" spc="-20"/>
              <a:t>Team</a:t>
            </a:r>
            <a:r>
              <a:rPr dirty="0" spc="-10"/>
              <a:t> DyoOptix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65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8780" y="244602"/>
            <a:ext cx="110871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E17039"/>
                </a:solidFill>
                <a:latin typeface="Calibri"/>
                <a:cs typeface="Calibri"/>
              </a:rPr>
              <a:t>BLOCK</a:t>
            </a:r>
            <a:r>
              <a:rPr dirty="0" sz="800" spc="-20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E17039"/>
                </a:solidFill>
                <a:latin typeface="Calibri"/>
                <a:cs typeface="Calibri"/>
              </a:rPr>
              <a:t>02</a:t>
            </a:r>
            <a:r>
              <a:rPr dirty="0" sz="800" spc="-1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E17039"/>
                </a:solidFill>
                <a:latin typeface="Calibri"/>
                <a:cs typeface="Calibri"/>
              </a:rPr>
              <a:t>·</a:t>
            </a:r>
            <a:r>
              <a:rPr dirty="0" sz="800" spc="-1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800" spc="-10" b="1">
                <a:solidFill>
                  <a:srgbClr val="E17039"/>
                </a:solidFill>
                <a:latin typeface="Calibri"/>
                <a:cs typeface="Calibri"/>
              </a:rPr>
              <a:t>BACKGROUND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4398" y="507268"/>
            <a:ext cx="158180" cy="158180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Spatial</a:t>
            </a:r>
            <a:r>
              <a:rPr dirty="0" spc="-35"/>
              <a:t> </a:t>
            </a:r>
            <a:r>
              <a:rPr dirty="0" spc="-25"/>
              <a:t>Transformer</a:t>
            </a:r>
            <a:r>
              <a:rPr dirty="0" spc="-40"/>
              <a:t> </a:t>
            </a:r>
            <a:r>
              <a:rPr dirty="0" spc="-10"/>
              <a:t>Networks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406717" y="1263967"/>
            <a:ext cx="8328659" cy="661035"/>
            <a:chOff x="406717" y="1263967"/>
            <a:chExt cx="8328659" cy="661035"/>
          </a:xfrm>
        </p:grpSpPr>
        <p:sp>
          <p:nvSpPr>
            <p:cNvPr id="6" name="object 6"/>
            <p:cNvSpPr/>
            <p:nvPr/>
          </p:nvSpPr>
          <p:spPr>
            <a:xfrm>
              <a:off x="411480" y="1268730"/>
              <a:ext cx="8319134" cy="651510"/>
            </a:xfrm>
            <a:custGeom>
              <a:avLst/>
              <a:gdLst/>
              <a:ahLst/>
              <a:cxnLst/>
              <a:rect l="l" t="t" r="r" b="b"/>
              <a:pathLst>
                <a:path w="8319134" h="651510">
                  <a:moveTo>
                    <a:pt x="8277604" y="651509"/>
                  </a:moveTo>
                  <a:lnTo>
                    <a:pt x="41149" y="651509"/>
                  </a:lnTo>
                  <a:lnTo>
                    <a:pt x="25132" y="648276"/>
                  </a:lnTo>
                  <a:lnTo>
                    <a:pt x="12052" y="639457"/>
                  </a:lnTo>
                  <a:lnTo>
                    <a:pt x="3233" y="626377"/>
                  </a:lnTo>
                  <a:lnTo>
                    <a:pt x="0" y="610360"/>
                  </a:lnTo>
                  <a:lnTo>
                    <a:pt x="0" y="41149"/>
                  </a:lnTo>
                  <a:lnTo>
                    <a:pt x="3233" y="25132"/>
                  </a:lnTo>
                  <a:lnTo>
                    <a:pt x="12052" y="12052"/>
                  </a:lnTo>
                  <a:lnTo>
                    <a:pt x="25132" y="3233"/>
                  </a:lnTo>
                  <a:lnTo>
                    <a:pt x="41149" y="0"/>
                  </a:lnTo>
                  <a:lnTo>
                    <a:pt x="8277604" y="0"/>
                  </a:lnTo>
                  <a:lnTo>
                    <a:pt x="8311840" y="18319"/>
                  </a:lnTo>
                  <a:lnTo>
                    <a:pt x="8318754" y="41149"/>
                  </a:lnTo>
                  <a:lnTo>
                    <a:pt x="8318754" y="610360"/>
                  </a:lnTo>
                  <a:lnTo>
                    <a:pt x="8315520" y="626377"/>
                  </a:lnTo>
                  <a:lnTo>
                    <a:pt x="8306701" y="639457"/>
                  </a:lnTo>
                  <a:lnTo>
                    <a:pt x="8293621" y="648276"/>
                  </a:lnTo>
                  <a:lnTo>
                    <a:pt x="8277604" y="651509"/>
                  </a:lnTo>
                  <a:close/>
                </a:path>
              </a:pathLst>
            </a:custGeom>
            <a:solidFill>
              <a:srgbClr val="F4F4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11480" y="1268730"/>
              <a:ext cx="8319134" cy="651510"/>
            </a:xfrm>
            <a:custGeom>
              <a:avLst/>
              <a:gdLst/>
              <a:ahLst/>
              <a:cxnLst/>
              <a:rect l="l" t="t" r="r" b="b"/>
              <a:pathLst>
                <a:path w="8319134" h="651510">
                  <a:moveTo>
                    <a:pt x="0" y="41149"/>
                  </a:moveTo>
                  <a:lnTo>
                    <a:pt x="3233" y="25132"/>
                  </a:lnTo>
                  <a:lnTo>
                    <a:pt x="12052" y="12052"/>
                  </a:lnTo>
                  <a:lnTo>
                    <a:pt x="25132" y="3233"/>
                  </a:lnTo>
                  <a:lnTo>
                    <a:pt x="41149" y="0"/>
                  </a:lnTo>
                  <a:lnTo>
                    <a:pt x="8277604" y="0"/>
                  </a:lnTo>
                  <a:lnTo>
                    <a:pt x="8311840" y="18319"/>
                  </a:lnTo>
                  <a:lnTo>
                    <a:pt x="8318754" y="41149"/>
                  </a:lnTo>
                  <a:lnTo>
                    <a:pt x="8318754" y="610360"/>
                  </a:lnTo>
                  <a:lnTo>
                    <a:pt x="8315520" y="626377"/>
                  </a:lnTo>
                  <a:lnTo>
                    <a:pt x="8306701" y="639457"/>
                  </a:lnTo>
                  <a:lnTo>
                    <a:pt x="8293621" y="648276"/>
                  </a:lnTo>
                  <a:lnTo>
                    <a:pt x="8277604" y="651509"/>
                  </a:lnTo>
                  <a:lnTo>
                    <a:pt x="41149" y="651509"/>
                  </a:lnTo>
                  <a:lnTo>
                    <a:pt x="25132" y="648276"/>
                  </a:lnTo>
                  <a:lnTo>
                    <a:pt x="12052" y="639457"/>
                  </a:lnTo>
                  <a:lnTo>
                    <a:pt x="3233" y="626377"/>
                  </a:lnTo>
                  <a:lnTo>
                    <a:pt x="0" y="610360"/>
                  </a:lnTo>
                  <a:lnTo>
                    <a:pt x="0" y="41149"/>
                  </a:lnTo>
                  <a:close/>
                </a:path>
              </a:pathLst>
            </a:custGeom>
            <a:ln w="9524">
              <a:solidFill>
                <a:srgbClr val="E3E4E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82930" y="1433322"/>
              <a:ext cx="322580" cy="322580"/>
            </a:xfrm>
            <a:custGeom>
              <a:avLst/>
              <a:gdLst/>
              <a:ahLst/>
              <a:cxnLst/>
              <a:rect l="l" t="t" r="r" b="b"/>
              <a:pathLst>
                <a:path w="322580" h="322580">
                  <a:moveTo>
                    <a:pt x="161162" y="322325"/>
                  </a:moveTo>
                  <a:lnTo>
                    <a:pt x="118319" y="316569"/>
                  </a:lnTo>
                  <a:lnTo>
                    <a:pt x="79820" y="300322"/>
                  </a:lnTo>
                  <a:lnTo>
                    <a:pt x="47203" y="275122"/>
                  </a:lnTo>
                  <a:lnTo>
                    <a:pt x="22003" y="242504"/>
                  </a:lnTo>
                  <a:lnTo>
                    <a:pt x="5756" y="204006"/>
                  </a:lnTo>
                  <a:lnTo>
                    <a:pt x="0" y="161162"/>
                  </a:lnTo>
                  <a:lnTo>
                    <a:pt x="5756" y="118319"/>
                  </a:lnTo>
                  <a:lnTo>
                    <a:pt x="22003" y="79820"/>
                  </a:lnTo>
                  <a:lnTo>
                    <a:pt x="47203" y="47203"/>
                  </a:lnTo>
                  <a:lnTo>
                    <a:pt x="79820" y="22003"/>
                  </a:lnTo>
                  <a:lnTo>
                    <a:pt x="118319" y="5756"/>
                  </a:lnTo>
                  <a:lnTo>
                    <a:pt x="161162" y="0"/>
                  </a:lnTo>
                  <a:lnTo>
                    <a:pt x="192751" y="3125"/>
                  </a:lnTo>
                  <a:lnTo>
                    <a:pt x="250576" y="27077"/>
                  </a:lnTo>
                  <a:lnTo>
                    <a:pt x="295248" y="71749"/>
                  </a:lnTo>
                  <a:lnTo>
                    <a:pt x="319200" y="129574"/>
                  </a:lnTo>
                  <a:lnTo>
                    <a:pt x="322325" y="161162"/>
                  </a:lnTo>
                  <a:lnTo>
                    <a:pt x="316569" y="204006"/>
                  </a:lnTo>
                  <a:lnTo>
                    <a:pt x="300322" y="242504"/>
                  </a:lnTo>
                  <a:lnTo>
                    <a:pt x="275122" y="275122"/>
                  </a:lnTo>
                  <a:lnTo>
                    <a:pt x="242505" y="300322"/>
                  </a:lnTo>
                  <a:lnTo>
                    <a:pt x="204006" y="316569"/>
                  </a:lnTo>
                  <a:lnTo>
                    <a:pt x="161162" y="322325"/>
                  </a:lnTo>
                  <a:close/>
                </a:path>
              </a:pathLst>
            </a:custGeom>
            <a:solidFill>
              <a:srgbClr val="2E617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82930" y="1433322"/>
              <a:ext cx="322580" cy="322580"/>
            </a:xfrm>
            <a:custGeom>
              <a:avLst/>
              <a:gdLst/>
              <a:ahLst/>
              <a:cxnLst/>
              <a:rect l="l" t="t" r="r" b="b"/>
              <a:pathLst>
                <a:path w="322580" h="322580">
                  <a:moveTo>
                    <a:pt x="0" y="161162"/>
                  </a:moveTo>
                  <a:lnTo>
                    <a:pt x="5756" y="118319"/>
                  </a:lnTo>
                  <a:lnTo>
                    <a:pt x="22003" y="79820"/>
                  </a:lnTo>
                  <a:lnTo>
                    <a:pt x="47203" y="47203"/>
                  </a:lnTo>
                  <a:lnTo>
                    <a:pt x="79820" y="22003"/>
                  </a:lnTo>
                  <a:lnTo>
                    <a:pt x="118319" y="5756"/>
                  </a:lnTo>
                  <a:lnTo>
                    <a:pt x="161162" y="0"/>
                  </a:lnTo>
                  <a:lnTo>
                    <a:pt x="192751" y="3125"/>
                  </a:lnTo>
                  <a:lnTo>
                    <a:pt x="250576" y="27077"/>
                  </a:lnTo>
                  <a:lnTo>
                    <a:pt x="295248" y="71749"/>
                  </a:lnTo>
                  <a:lnTo>
                    <a:pt x="319200" y="129574"/>
                  </a:lnTo>
                  <a:lnTo>
                    <a:pt x="322325" y="161162"/>
                  </a:lnTo>
                  <a:lnTo>
                    <a:pt x="316569" y="204006"/>
                  </a:lnTo>
                  <a:lnTo>
                    <a:pt x="300322" y="242504"/>
                  </a:lnTo>
                  <a:lnTo>
                    <a:pt x="275122" y="275122"/>
                  </a:lnTo>
                  <a:lnTo>
                    <a:pt x="242505" y="300322"/>
                  </a:lnTo>
                  <a:lnTo>
                    <a:pt x="204006" y="316569"/>
                  </a:lnTo>
                  <a:lnTo>
                    <a:pt x="161162" y="322325"/>
                  </a:lnTo>
                  <a:lnTo>
                    <a:pt x="118319" y="316569"/>
                  </a:lnTo>
                  <a:lnTo>
                    <a:pt x="79820" y="300322"/>
                  </a:lnTo>
                  <a:lnTo>
                    <a:pt x="47203" y="275122"/>
                  </a:lnTo>
                  <a:lnTo>
                    <a:pt x="22003" y="242504"/>
                  </a:lnTo>
                  <a:lnTo>
                    <a:pt x="5756" y="204006"/>
                  </a:lnTo>
                  <a:lnTo>
                    <a:pt x="0" y="161162"/>
                  </a:lnTo>
                  <a:close/>
                </a:path>
              </a:pathLst>
            </a:custGeom>
            <a:ln w="12699">
              <a:solidFill>
                <a:srgbClr val="2E617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/>
          <p:cNvGrpSpPr/>
          <p:nvPr/>
        </p:nvGrpSpPr>
        <p:grpSpPr>
          <a:xfrm>
            <a:off x="406717" y="1984057"/>
            <a:ext cx="8328659" cy="661035"/>
            <a:chOff x="406717" y="1984057"/>
            <a:chExt cx="8328659" cy="661035"/>
          </a:xfrm>
        </p:grpSpPr>
        <p:sp>
          <p:nvSpPr>
            <p:cNvPr id="11" name="object 11"/>
            <p:cNvSpPr/>
            <p:nvPr/>
          </p:nvSpPr>
          <p:spPr>
            <a:xfrm>
              <a:off x="411480" y="1988820"/>
              <a:ext cx="8319134" cy="651510"/>
            </a:xfrm>
            <a:custGeom>
              <a:avLst/>
              <a:gdLst/>
              <a:ahLst/>
              <a:cxnLst/>
              <a:rect l="l" t="t" r="r" b="b"/>
              <a:pathLst>
                <a:path w="8319134" h="651510">
                  <a:moveTo>
                    <a:pt x="8277604" y="651509"/>
                  </a:moveTo>
                  <a:lnTo>
                    <a:pt x="41149" y="651509"/>
                  </a:lnTo>
                  <a:lnTo>
                    <a:pt x="25132" y="648276"/>
                  </a:lnTo>
                  <a:lnTo>
                    <a:pt x="12052" y="639457"/>
                  </a:lnTo>
                  <a:lnTo>
                    <a:pt x="3233" y="626377"/>
                  </a:lnTo>
                  <a:lnTo>
                    <a:pt x="0" y="610360"/>
                  </a:lnTo>
                  <a:lnTo>
                    <a:pt x="0" y="41149"/>
                  </a:lnTo>
                  <a:lnTo>
                    <a:pt x="3233" y="25132"/>
                  </a:lnTo>
                  <a:lnTo>
                    <a:pt x="12052" y="12052"/>
                  </a:lnTo>
                  <a:lnTo>
                    <a:pt x="25132" y="3233"/>
                  </a:lnTo>
                  <a:lnTo>
                    <a:pt x="41149" y="0"/>
                  </a:lnTo>
                  <a:lnTo>
                    <a:pt x="8277604" y="0"/>
                  </a:lnTo>
                  <a:lnTo>
                    <a:pt x="8311840" y="18319"/>
                  </a:lnTo>
                  <a:lnTo>
                    <a:pt x="8318754" y="41149"/>
                  </a:lnTo>
                  <a:lnTo>
                    <a:pt x="8318754" y="610360"/>
                  </a:lnTo>
                  <a:lnTo>
                    <a:pt x="8315520" y="626377"/>
                  </a:lnTo>
                  <a:lnTo>
                    <a:pt x="8306701" y="639457"/>
                  </a:lnTo>
                  <a:lnTo>
                    <a:pt x="8293621" y="648276"/>
                  </a:lnTo>
                  <a:lnTo>
                    <a:pt x="8277604" y="651509"/>
                  </a:lnTo>
                  <a:close/>
                </a:path>
              </a:pathLst>
            </a:custGeom>
            <a:solidFill>
              <a:srgbClr val="F4F4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11480" y="1988820"/>
              <a:ext cx="8319134" cy="651510"/>
            </a:xfrm>
            <a:custGeom>
              <a:avLst/>
              <a:gdLst/>
              <a:ahLst/>
              <a:cxnLst/>
              <a:rect l="l" t="t" r="r" b="b"/>
              <a:pathLst>
                <a:path w="8319134" h="651510">
                  <a:moveTo>
                    <a:pt x="0" y="41149"/>
                  </a:moveTo>
                  <a:lnTo>
                    <a:pt x="3233" y="25132"/>
                  </a:lnTo>
                  <a:lnTo>
                    <a:pt x="12052" y="12052"/>
                  </a:lnTo>
                  <a:lnTo>
                    <a:pt x="25132" y="3233"/>
                  </a:lnTo>
                  <a:lnTo>
                    <a:pt x="41149" y="0"/>
                  </a:lnTo>
                  <a:lnTo>
                    <a:pt x="8277604" y="0"/>
                  </a:lnTo>
                  <a:lnTo>
                    <a:pt x="8311840" y="18319"/>
                  </a:lnTo>
                  <a:lnTo>
                    <a:pt x="8318754" y="41149"/>
                  </a:lnTo>
                  <a:lnTo>
                    <a:pt x="8318754" y="610360"/>
                  </a:lnTo>
                  <a:lnTo>
                    <a:pt x="8315520" y="626377"/>
                  </a:lnTo>
                  <a:lnTo>
                    <a:pt x="8306701" y="639457"/>
                  </a:lnTo>
                  <a:lnTo>
                    <a:pt x="8293621" y="648276"/>
                  </a:lnTo>
                  <a:lnTo>
                    <a:pt x="8277604" y="651509"/>
                  </a:lnTo>
                  <a:lnTo>
                    <a:pt x="41149" y="651509"/>
                  </a:lnTo>
                  <a:lnTo>
                    <a:pt x="25132" y="648276"/>
                  </a:lnTo>
                  <a:lnTo>
                    <a:pt x="12052" y="639457"/>
                  </a:lnTo>
                  <a:lnTo>
                    <a:pt x="3233" y="626377"/>
                  </a:lnTo>
                  <a:lnTo>
                    <a:pt x="0" y="610360"/>
                  </a:lnTo>
                  <a:lnTo>
                    <a:pt x="0" y="41149"/>
                  </a:lnTo>
                  <a:close/>
                </a:path>
              </a:pathLst>
            </a:custGeom>
            <a:ln w="9524">
              <a:solidFill>
                <a:srgbClr val="E3E4E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582930" y="2153412"/>
              <a:ext cx="322580" cy="322580"/>
            </a:xfrm>
            <a:custGeom>
              <a:avLst/>
              <a:gdLst/>
              <a:ahLst/>
              <a:cxnLst/>
              <a:rect l="l" t="t" r="r" b="b"/>
              <a:pathLst>
                <a:path w="322580" h="322580">
                  <a:moveTo>
                    <a:pt x="161162" y="322325"/>
                  </a:moveTo>
                  <a:lnTo>
                    <a:pt x="118319" y="316569"/>
                  </a:lnTo>
                  <a:lnTo>
                    <a:pt x="79820" y="300322"/>
                  </a:lnTo>
                  <a:lnTo>
                    <a:pt x="47203" y="275122"/>
                  </a:lnTo>
                  <a:lnTo>
                    <a:pt x="22003" y="242504"/>
                  </a:lnTo>
                  <a:lnTo>
                    <a:pt x="5756" y="204006"/>
                  </a:lnTo>
                  <a:lnTo>
                    <a:pt x="0" y="161162"/>
                  </a:lnTo>
                  <a:lnTo>
                    <a:pt x="5756" y="118319"/>
                  </a:lnTo>
                  <a:lnTo>
                    <a:pt x="22003" y="79820"/>
                  </a:lnTo>
                  <a:lnTo>
                    <a:pt x="47203" y="47203"/>
                  </a:lnTo>
                  <a:lnTo>
                    <a:pt x="79820" y="22003"/>
                  </a:lnTo>
                  <a:lnTo>
                    <a:pt x="118319" y="5756"/>
                  </a:lnTo>
                  <a:lnTo>
                    <a:pt x="161162" y="0"/>
                  </a:lnTo>
                  <a:lnTo>
                    <a:pt x="192751" y="3125"/>
                  </a:lnTo>
                  <a:lnTo>
                    <a:pt x="250576" y="27077"/>
                  </a:lnTo>
                  <a:lnTo>
                    <a:pt x="295248" y="71749"/>
                  </a:lnTo>
                  <a:lnTo>
                    <a:pt x="319200" y="129574"/>
                  </a:lnTo>
                  <a:lnTo>
                    <a:pt x="322325" y="161162"/>
                  </a:lnTo>
                  <a:lnTo>
                    <a:pt x="316569" y="204006"/>
                  </a:lnTo>
                  <a:lnTo>
                    <a:pt x="300322" y="242504"/>
                  </a:lnTo>
                  <a:lnTo>
                    <a:pt x="275122" y="275122"/>
                  </a:lnTo>
                  <a:lnTo>
                    <a:pt x="242505" y="300322"/>
                  </a:lnTo>
                  <a:lnTo>
                    <a:pt x="204006" y="316569"/>
                  </a:lnTo>
                  <a:lnTo>
                    <a:pt x="161162" y="322325"/>
                  </a:lnTo>
                  <a:close/>
                </a:path>
              </a:pathLst>
            </a:custGeom>
            <a:solidFill>
              <a:srgbClr val="2E617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582930" y="2153412"/>
              <a:ext cx="322580" cy="322580"/>
            </a:xfrm>
            <a:custGeom>
              <a:avLst/>
              <a:gdLst/>
              <a:ahLst/>
              <a:cxnLst/>
              <a:rect l="l" t="t" r="r" b="b"/>
              <a:pathLst>
                <a:path w="322580" h="322580">
                  <a:moveTo>
                    <a:pt x="0" y="161162"/>
                  </a:moveTo>
                  <a:lnTo>
                    <a:pt x="5756" y="118319"/>
                  </a:lnTo>
                  <a:lnTo>
                    <a:pt x="22003" y="79820"/>
                  </a:lnTo>
                  <a:lnTo>
                    <a:pt x="47203" y="47203"/>
                  </a:lnTo>
                  <a:lnTo>
                    <a:pt x="79820" y="22003"/>
                  </a:lnTo>
                  <a:lnTo>
                    <a:pt x="118319" y="5756"/>
                  </a:lnTo>
                  <a:lnTo>
                    <a:pt x="161162" y="0"/>
                  </a:lnTo>
                  <a:lnTo>
                    <a:pt x="192751" y="3125"/>
                  </a:lnTo>
                  <a:lnTo>
                    <a:pt x="250576" y="27077"/>
                  </a:lnTo>
                  <a:lnTo>
                    <a:pt x="295248" y="71749"/>
                  </a:lnTo>
                  <a:lnTo>
                    <a:pt x="319200" y="129574"/>
                  </a:lnTo>
                  <a:lnTo>
                    <a:pt x="322325" y="161162"/>
                  </a:lnTo>
                  <a:lnTo>
                    <a:pt x="316569" y="204006"/>
                  </a:lnTo>
                  <a:lnTo>
                    <a:pt x="300322" y="242504"/>
                  </a:lnTo>
                  <a:lnTo>
                    <a:pt x="275122" y="275122"/>
                  </a:lnTo>
                  <a:lnTo>
                    <a:pt x="242505" y="300322"/>
                  </a:lnTo>
                  <a:lnTo>
                    <a:pt x="204006" y="316569"/>
                  </a:lnTo>
                  <a:lnTo>
                    <a:pt x="161162" y="322325"/>
                  </a:lnTo>
                  <a:lnTo>
                    <a:pt x="118319" y="316569"/>
                  </a:lnTo>
                  <a:lnTo>
                    <a:pt x="79820" y="300322"/>
                  </a:lnTo>
                  <a:lnTo>
                    <a:pt x="47203" y="275122"/>
                  </a:lnTo>
                  <a:lnTo>
                    <a:pt x="22003" y="242504"/>
                  </a:lnTo>
                  <a:lnTo>
                    <a:pt x="5756" y="204006"/>
                  </a:lnTo>
                  <a:lnTo>
                    <a:pt x="0" y="161162"/>
                  </a:lnTo>
                  <a:close/>
                </a:path>
              </a:pathLst>
            </a:custGeom>
            <a:ln w="12699">
              <a:solidFill>
                <a:srgbClr val="2E617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" name="object 15"/>
          <p:cNvGrpSpPr/>
          <p:nvPr/>
        </p:nvGrpSpPr>
        <p:grpSpPr>
          <a:xfrm>
            <a:off x="406717" y="2704147"/>
            <a:ext cx="8328659" cy="661035"/>
            <a:chOff x="406717" y="2704147"/>
            <a:chExt cx="8328659" cy="661035"/>
          </a:xfrm>
        </p:grpSpPr>
        <p:sp>
          <p:nvSpPr>
            <p:cNvPr id="16" name="object 16"/>
            <p:cNvSpPr/>
            <p:nvPr/>
          </p:nvSpPr>
          <p:spPr>
            <a:xfrm>
              <a:off x="411480" y="2708910"/>
              <a:ext cx="8319134" cy="651510"/>
            </a:xfrm>
            <a:custGeom>
              <a:avLst/>
              <a:gdLst/>
              <a:ahLst/>
              <a:cxnLst/>
              <a:rect l="l" t="t" r="r" b="b"/>
              <a:pathLst>
                <a:path w="8319134" h="651510">
                  <a:moveTo>
                    <a:pt x="8277604" y="651509"/>
                  </a:moveTo>
                  <a:lnTo>
                    <a:pt x="41149" y="651509"/>
                  </a:lnTo>
                  <a:lnTo>
                    <a:pt x="25132" y="648276"/>
                  </a:lnTo>
                  <a:lnTo>
                    <a:pt x="12052" y="639457"/>
                  </a:lnTo>
                  <a:lnTo>
                    <a:pt x="3233" y="626377"/>
                  </a:lnTo>
                  <a:lnTo>
                    <a:pt x="0" y="610360"/>
                  </a:lnTo>
                  <a:lnTo>
                    <a:pt x="0" y="41149"/>
                  </a:lnTo>
                  <a:lnTo>
                    <a:pt x="3233" y="25132"/>
                  </a:lnTo>
                  <a:lnTo>
                    <a:pt x="12052" y="12052"/>
                  </a:lnTo>
                  <a:lnTo>
                    <a:pt x="25132" y="3233"/>
                  </a:lnTo>
                  <a:lnTo>
                    <a:pt x="41149" y="0"/>
                  </a:lnTo>
                  <a:lnTo>
                    <a:pt x="8277604" y="0"/>
                  </a:lnTo>
                  <a:lnTo>
                    <a:pt x="8311840" y="18319"/>
                  </a:lnTo>
                  <a:lnTo>
                    <a:pt x="8318754" y="41149"/>
                  </a:lnTo>
                  <a:lnTo>
                    <a:pt x="8318754" y="610360"/>
                  </a:lnTo>
                  <a:lnTo>
                    <a:pt x="8315520" y="626377"/>
                  </a:lnTo>
                  <a:lnTo>
                    <a:pt x="8306701" y="639457"/>
                  </a:lnTo>
                  <a:lnTo>
                    <a:pt x="8293621" y="648276"/>
                  </a:lnTo>
                  <a:lnTo>
                    <a:pt x="8277604" y="651509"/>
                  </a:lnTo>
                  <a:close/>
                </a:path>
              </a:pathLst>
            </a:custGeom>
            <a:solidFill>
              <a:srgbClr val="F4F4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11480" y="2708910"/>
              <a:ext cx="8319134" cy="651510"/>
            </a:xfrm>
            <a:custGeom>
              <a:avLst/>
              <a:gdLst/>
              <a:ahLst/>
              <a:cxnLst/>
              <a:rect l="l" t="t" r="r" b="b"/>
              <a:pathLst>
                <a:path w="8319134" h="651510">
                  <a:moveTo>
                    <a:pt x="0" y="41149"/>
                  </a:moveTo>
                  <a:lnTo>
                    <a:pt x="3233" y="25132"/>
                  </a:lnTo>
                  <a:lnTo>
                    <a:pt x="12052" y="12052"/>
                  </a:lnTo>
                  <a:lnTo>
                    <a:pt x="25132" y="3233"/>
                  </a:lnTo>
                  <a:lnTo>
                    <a:pt x="41149" y="0"/>
                  </a:lnTo>
                  <a:lnTo>
                    <a:pt x="8277604" y="0"/>
                  </a:lnTo>
                  <a:lnTo>
                    <a:pt x="8311840" y="18319"/>
                  </a:lnTo>
                  <a:lnTo>
                    <a:pt x="8318754" y="41149"/>
                  </a:lnTo>
                  <a:lnTo>
                    <a:pt x="8318754" y="610360"/>
                  </a:lnTo>
                  <a:lnTo>
                    <a:pt x="8315520" y="626377"/>
                  </a:lnTo>
                  <a:lnTo>
                    <a:pt x="8306701" y="639457"/>
                  </a:lnTo>
                  <a:lnTo>
                    <a:pt x="8293621" y="648276"/>
                  </a:lnTo>
                  <a:lnTo>
                    <a:pt x="8277604" y="651509"/>
                  </a:lnTo>
                  <a:lnTo>
                    <a:pt x="41149" y="651509"/>
                  </a:lnTo>
                  <a:lnTo>
                    <a:pt x="25132" y="648276"/>
                  </a:lnTo>
                  <a:lnTo>
                    <a:pt x="12052" y="639457"/>
                  </a:lnTo>
                  <a:lnTo>
                    <a:pt x="3233" y="626377"/>
                  </a:lnTo>
                  <a:lnTo>
                    <a:pt x="0" y="610360"/>
                  </a:lnTo>
                  <a:lnTo>
                    <a:pt x="0" y="41149"/>
                  </a:lnTo>
                  <a:close/>
                </a:path>
              </a:pathLst>
            </a:custGeom>
            <a:ln w="9524">
              <a:solidFill>
                <a:srgbClr val="E3E4E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582930" y="2873502"/>
              <a:ext cx="322580" cy="322580"/>
            </a:xfrm>
            <a:custGeom>
              <a:avLst/>
              <a:gdLst/>
              <a:ahLst/>
              <a:cxnLst/>
              <a:rect l="l" t="t" r="r" b="b"/>
              <a:pathLst>
                <a:path w="322580" h="322580">
                  <a:moveTo>
                    <a:pt x="161162" y="322325"/>
                  </a:moveTo>
                  <a:lnTo>
                    <a:pt x="118319" y="316569"/>
                  </a:lnTo>
                  <a:lnTo>
                    <a:pt x="79820" y="300322"/>
                  </a:lnTo>
                  <a:lnTo>
                    <a:pt x="47203" y="275122"/>
                  </a:lnTo>
                  <a:lnTo>
                    <a:pt x="22003" y="242505"/>
                  </a:lnTo>
                  <a:lnTo>
                    <a:pt x="5756" y="204006"/>
                  </a:lnTo>
                  <a:lnTo>
                    <a:pt x="0" y="161162"/>
                  </a:lnTo>
                  <a:lnTo>
                    <a:pt x="5756" y="118319"/>
                  </a:lnTo>
                  <a:lnTo>
                    <a:pt x="22003" y="79820"/>
                  </a:lnTo>
                  <a:lnTo>
                    <a:pt x="47203" y="47203"/>
                  </a:lnTo>
                  <a:lnTo>
                    <a:pt x="79820" y="22003"/>
                  </a:lnTo>
                  <a:lnTo>
                    <a:pt x="118319" y="5756"/>
                  </a:lnTo>
                  <a:lnTo>
                    <a:pt x="161162" y="0"/>
                  </a:lnTo>
                  <a:lnTo>
                    <a:pt x="192751" y="3125"/>
                  </a:lnTo>
                  <a:lnTo>
                    <a:pt x="250576" y="27077"/>
                  </a:lnTo>
                  <a:lnTo>
                    <a:pt x="295248" y="71749"/>
                  </a:lnTo>
                  <a:lnTo>
                    <a:pt x="319200" y="129574"/>
                  </a:lnTo>
                  <a:lnTo>
                    <a:pt x="322325" y="161162"/>
                  </a:lnTo>
                  <a:lnTo>
                    <a:pt x="316569" y="204006"/>
                  </a:lnTo>
                  <a:lnTo>
                    <a:pt x="300322" y="242505"/>
                  </a:lnTo>
                  <a:lnTo>
                    <a:pt x="275122" y="275122"/>
                  </a:lnTo>
                  <a:lnTo>
                    <a:pt x="242505" y="300322"/>
                  </a:lnTo>
                  <a:lnTo>
                    <a:pt x="204006" y="316569"/>
                  </a:lnTo>
                  <a:lnTo>
                    <a:pt x="161162" y="322325"/>
                  </a:lnTo>
                  <a:close/>
                </a:path>
              </a:pathLst>
            </a:custGeom>
            <a:solidFill>
              <a:srgbClr val="2E617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582930" y="2873502"/>
              <a:ext cx="322580" cy="322580"/>
            </a:xfrm>
            <a:custGeom>
              <a:avLst/>
              <a:gdLst/>
              <a:ahLst/>
              <a:cxnLst/>
              <a:rect l="l" t="t" r="r" b="b"/>
              <a:pathLst>
                <a:path w="322580" h="322580">
                  <a:moveTo>
                    <a:pt x="0" y="161162"/>
                  </a:moveTo>
                  <a:lnTo>
                    <a:pt x="5756" y="118319"/>
                  </a:lnTo>
                  <a:lnTo>
                    <a:pt x="22003" y="79820"/>
                  </a:lnTo>
                  <a:lnTo>
                    <a:pt x="47203" y="47203"/>
                  </a:lnTo>
                  <a:lnTo>
                    <a:pt x="79820" y="22003"/>
                  </a:lnTo>
                  <a:lnTo>
                    <a:pt x="118319" y="5756"/>
                  </a:lnTo>
                  <a:lnTo>
                    <a:pt x="161162" y="0"/>
                  </a:lnTo>
                  <a:lnTo>
                    <a:pt x="192751" y="3125"/>
                  </a:lnTo>
                  <a:lnTo>
                    <a:pt x="250576" y="27077"/>
                  </a:lnTo>
                  <a:lnTo>
                    <a:pt x="295248" y="71749"/>
                  </a:lnTo>
                  <a:lnTo>
                    <a:pt x="319200" y="129574"/>
                  </a:lnTo>
                  <a:lnTo>
                    <a:pt x="322325" y="161162"/>
                  </a:lnTo>
                  <a:lnTo>
                    <a:pt x="316569" y="204006"/>
                  </a:lnTo>
                  <a:lnTo>
                    <a:pt x="300322" y="242505"/>
                  </a:lnTo>
                  <a:lnTo>
                    <a:pt x="275122" y="275122"/>
                  </a:lnTo>
                  <a:lnTo>
                    <a:pt x="242505" y="300322"/>
                  </a:lnTo>
                  <a:lnTo>
                    <a:pt x="204006" y="316569"/>
                  </a:lnTo>
                  <a:lnTo>
                    <a:pt x="161162" y="322325"/>
                  </a:lnTo>
                  <a:lnTo>
                    <a:pt x="118319" y="316569"/>
                  </a:lnTo>
                  <a:lnTo>
                    <a:pt x="79820" y="300322"/>
                  </a:lnTo>
                  <a:lnTo>
                    <a:pt x="47203" y="275122"/>
                  </a:lnTo>
                  <a:lnTo>
                    <a:pt x="22003" y="242505"/>
                  </a:lnTo>
                  <a:lnTo>
                    <a:pt x="5756" y="204006"/>
                  </a:lnTo>
                  <a:lnTo>
                    <a:pt x="0" y="161162"/>
                  </a:lnTo>
                  <a:close/>
                </a:path>
              </a:pathLst>
            </a:custGeom>
            <a:ln w="12699">
              <a:solidFill>
                <a:srgbClr val="2E617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398780" y="929132"/>
            <a:ext cx="4335780" cy="2309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i="1">
                <a:solidFill>
                  <a:srgbClr val="6B7280"/>
                </a:solidFill>
                <a:latin typeface="Calibri"/>
                <a:cs typeface="Calibri"/>
              </a:rPr>
              <a:t>Jaderberg,</a:t>
            </a:r>
            <a:r>
              <a:rPr dirty="0" sz="900" spc="-1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10" i="1">
                <a:solidFill>
                  <a:srgbClr val="6B7280"/>
                </a:solidFill>
                <a:latin typeface="Calibri"/>
                <a:cs typeface="Calibri"/>
              </a:rPr>
              <a:t>Simonyan, Zisserman </a:t>
            </a:r>
            <a:r>
              <a:rPr dirty="0" sz="900" i="1">
                <a:solidFill>
                  <a:srgbClr val="6B7280"/>
                </a:solidFill>
                <a:latin typeface="Calibri"/>
                <a:cs typeface="Calibri"/>
              </a:rPr>
              <a:t>&amp;</a:t>
            </a:r>
            <a:r>
              <a:rPr dirty="0" sz="900" spc="-10" i="1">
                <a:solidFill>
                  <a:srgbClr val="6B7280"/>
                </a:solidFill>
                <a:latin typeface="Calibri"/>
                <a:cs typeface="Calibri"/>
              </a:rPr>
              <a:t> Kavukcuoglu </a:t>
            </a:r>
            <a:r>
              <a:rPr dirty="0" sz="900" i="1">
                <a:solidFill>
                  <a:srgbClr val="6B7280"/>
                </a:solidFill>
                <a:latin typeface="Calibri"/>
                <a:cs typeface="Calibri"/>
              </a:rPr>
              <a:t>—</a:t>
            </a:r>
            <a:r>
              <a:rPr dirty="0" sz="900" spc="-10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6B7280"/>
                </a:solidFill>
                <a:latin typeface="Calibri"/>
                <a:cs typeface="Calibri"/>
              </a:rPr>
              <a:t>NeurIPS</a:t>
            </a:r>
            <a:r>
              <a:rPr dirty="0" sz="900" spc="-1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6B7280"/>
                </a:solidFill>
                <a:latin typeface="Calibri"/>
                <a:cs typeface="Calibri"/>
              </a:rPr>
              <a:t>2015</a:t>
            </a:r>
            <a:r>
              <a:rPr dirty="0" sz="900" spc="18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6B7280"/>
                </a:solidFill>
                <a:latin typeface="Calibri"/>
                <a:cs typeface="Calibri"/>
              </a:rPr>
              <a:t>·</a:t>
            </a:r>
            <a:r>
              <a:rPr dirty="0" sz="900" spc="18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10" i="1">
                <a:solidFill>
                  <a:srgbClr val="6B7280"/>
                </a:solidFill>
                <a:latin typeface="Calibri"/>
                <a:cs typeface="Calibri"/>
              </a:rPr>
              <a:t>arXiv:1506.02025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900">
              <a:latin typeface="Calibri"/>
              <a:cs typeface="Calibri"/>
            </a:endParaRPr>
          </a:p>
          <a:p>
            <a:pPr marL="643255">
              <a:lnSpc>
                <a:spcPts val="1100"/>
              </a:lnSpc>
            </a:pPr>
            <a:r>
              <a:rPr dirty="0" sz="1000" spc="-10" b="1">
                <a:solidFill>
                  <a:srgbClr val="1A1F2B"/>
                </a:solidFill>
                <a:latin typeface="Calibri"/>
                <a:cs typeface="Calibri"/>
              </a:rPr>
              <a:t>Localisation</a:t>
            </a:r>
            <a:r>
              <a:rPr dirty="0" sz="1000" spc="30" b="1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 b="1">
                <a:solidFill>
                  <a:srgbClr val="1A1F2B"/>
                </a:solidFill>
                <a:latin typeface="Calibri"/>
                <a:cs typeface="Calibri"/>
              </a:rPr>
              <a:t>network</a:t>
            </a:r>
            <a:endParaRPr sz="1000">
              <a:latin typeface="Calibri"/>
              <a:cs typeface="Calibri"/>
            </a:endParaRPr>
          </a:p>
          <a:p>
            <a:pPr marL="313055">
              <a:lnSpc>
                <a:spcPts val="1030"/>
              </a:lnSpc>
            </a:pPr>
            <a:r>
              <a:rPr dirty="0" sz="1000" spc="-5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000">
              <a:latin typeface="Calibri"/>
              <a:cs typeface="Calibri"/>
            </a:endParaRPr>
          </a:p>
          <a:p>
            <a:pPr marL="643255">
              <a:lnSpc>
                <a:spcPts val="1010"/>
              </a:lnSpc>
            </a:pP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Predicts</a:t>
            </a:r>
            <a:r>
              <a:rPr dirty="0" sz="900" spc="-2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the</a:t>
            </a:r>
            <a:r>
              <a:rPr dirty="0" sz="900" spc="-1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parameters</a:t>
            </a:r>
            <a:r>
              <a:rPr dirty="0" sz="900" spc="-2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of</a:t>
            </a:r>
            <a:r>
              <a:rPr dirty="0" sz="900" spc="-1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an</a:t>
            </a:r>
            <a:r>
              <a:rPr dirty="0" sz="900" spc="-2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affine</a:t>
            </a:r>
            <a:r>
              <a:rPr dirty="0" sz="900" spc="-1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transformation</a:t>
            </a:r>
            <a:r>
              <a:rPr dirty="0" sz="900" spc="-2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from</a:t>
            </a:r>
            <a:r>
              <a:rPr dirty="0" sz="900" spc="-1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the</a:t>
            </a:r>
            <a:r>
              <a:rPr dirty="0" sz="900" spc="-2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input</a:t>
            </a:r>
            <a:r>
              <a:rPr dirty="0" sz="900" spc="-1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feature</a:t>
            </a:r>
            <a:r>
              <a:rPr dirty="0" sz="900" spc="-2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6B7280"/>
                </a:solidFill>
                <a:latin typeface="Calibri"/>
                <a:cs typeface="Calibri"/>
              </a:rPr>
              <a:t>map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900">
              <a:latin typeface="Calibri"/>
              <a:cs typeface="Calibri"/>
            </a:endParaRPr>
          </a:p>
          <a:p>
            <a:pPr marL="643255">
              <a:lnSpc>
                <a:spcPts val="1100"/>
              </a:lnSpc>
            </a:pPr>
            <a:r>
              <a:rPr dirty="0" sz="1000" b="1">
                <a:solidFill>
                  <a:srgbClr val="1A1F2B"/>
                </a:solidFill>
                <a:latin typeface="Calibri"/>
                <a:cs typeface="Calibri"/>
              </a:rPr>
              <a:t>Grid</a:t>
            </a:r>
            <a:r>
              <a:rPr dirty="0" sz="1000" spc="-40" b="1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 b="1">
                <a:solidFill>
                  <a:srgbClr val="1A1F2B"/>
                </a:solidFill>
                <a:latin typeface="Calibri"/>
                <a:cs typeface="Calibri"/>
              </a:rPr>
              <a:t>generator</a:t>
            </a:r>
            <a:endParaRPr sz="1000">
              <a:latin typeface="Calibri"/>
              <a:cs typeface="Calibri"/>
            </a:endParaRPr>
          </a:p>
          <a:p>
            <a:pPr marL="313055">
              <a:lnSpc>
                <a:spcPts val="1030"/>
              </a:lnSpc>
            </a:pPr>
            <a:r>
              <a:rPr dirty="0" sz="1000" spc="-5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00">
              <a:latin typeface="Calibri"/>
              <a:cs typeface="Calibri"/>
            </a:endParaRPr>
          </a:p>
          <a:p>
            <a:pPr marL="643255">
              <a:lnSpc>
                <a:spcPts val="1010"/>
              </a:lnSpc>
            </a:pP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Builds</a:t>
            </a:r>
            <a:r>
              <a:rPr dirty="0" sz="900" spc="-2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the</a:t>
            </a:r>
            <a:r>
              <a:rPr dirty="0" sz="900" spc="-2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sampling</a:t>
            </a:r>
            <a:r>
              <a:rPr dirty="0" sz="900" spc="-2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grid</a:t>
            </a:r>
            <a:r>
              <a:rPr dirty="0" sz="900" spc="-2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implied</a:t>
            </a:r>
            <a:r>
              <a:rPr dirty="0" sz="900" spc="-2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by</a:t>
            </a:r>
            <a:r>
              <a:rPr dirty="0" sz="900" spc="-2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those</a:t>
            </a:r>
            <a:r>
              <a:rPr dirty="0" sz="900" spc="-2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parameters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900">
              <a:latin typeface="Calibri"/>
              <a:cs typeface="Calibri"/>
            </a:endParaRPr>
          </a:p>
          <a:p>
            <a:pPr marL="643255">
              <a:lnSpc>
                <a:spcPts val="1100"/>
              </a:lnSpc>
              <a:spcBef>
                <a:spcPts val="5"/>
              </a:spcBef>
            </a:pPr>
            <a:r>
              <a:rPr dirty="0" sz="1000" spc="-10" b="1">
                <a:solidFill>
                  <a:srgbClr val="1A1F2B"/>
                </a:solidFill>
                <a:latin typeface="Calibri"/>
                <a:cs typeface="Calibri"/>
              </a:rPr>
              <a:t>Differentiable</a:t>
            </a:r>
            <a:r>
              <a:rPr dirty="0" sz="1000" spc="20" b="1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 b="1">
                <a:solidFill>
                  <a:srgbClr val="1A1F2B"/>
                </a:solidFill>
                <a:latin typeface="Calibri"/>
                <a:cs typeface="Calibri"/>
              </a:rPr>
              <a:t>sampler</a:t>
            </a:r>
            <a:endParaRPr sz="1000">
              <a:latin typeface="Calibri"/>
              <a:cs typeface="Calibri"/>
            </a:endParaRPr>
          </a:p>
          <a:p>
            <a:pPr marL="313055">
              <a:lnSpc>
                <a:spcPts val="1030"/>
              </a:lnSpc>
            </a:pPr>
            <a:r>
              <a:rPr dirty="0" sz="1000" spc="-5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000">
              <a:latin typeface="Calibri"/>
              <a:cs typeface="Calibri"/>
            </a:endParaRPr>
          </a:p>
          <a:p>
            <a:pPr marL="643255">
              <a:lnSpc>
                <a:spcPts val="1010"/>
              </a:lnSpc>
            </a:pP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Interpolates</a:t>
            </a:r>
            <a:r>
              <a:rPr dirty="0" sz="900" spc="-1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the</a:t>
            </a:r>
            <a:r>
              <a:rPr dirty="0" sz="900" spc="-1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input</a:t>
            </a:r>
            <a:r>
              <a:rPr dirty="0" sz="900" spc="-1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at</a:t>
            </a:r>
            <a:r>
              <a:rPr dirty="0" sz="900" spc="-1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the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grid</a:t>
            </a:r>
            <a:r>
              <a:rPr dirty="0" sz="900" spc="-1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points,</a:t>
            </a:r>
            <a:r>
              <a:rPr dirty="0" sz="900" spc="-1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so</a:t>
            </a:r>
            <a:r>
              <a:rPr dirty="0" sz="900" spc="-1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gradients</a:t>
            </a:r>
            <a:r>
              <a:rPr dirty="0" sz="900" spc="-1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flow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 through</a:t>
            </a:r>
            <a:r>
              <a:rPr dirty="0" sz="900" spc="-1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the</a:t>
            </a:r>
            <a:r>
              <a:rPr dirty="0" sz="900" spc="-1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6B7280"/>
                </a:solidFill>
                <a:latin typeface="Calibri"/>
                <a:cs typeface="Calibri"/>
              </a:rPr>
              <a:t>warp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98780" y="3583178"/>
            <a:ext cx="57924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module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is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inserted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inside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a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CNN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and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trained end-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to-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end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from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class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labels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alone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—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no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supervision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on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transform itself.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05129" y="4005579"/>
            <a:ext cx="8331834" cy="664210"/>
            <a:chOff x="405129" y="4005579"/>
            <a:chExt cx="8331834" cy="664210"/>
          </a:xfrm>
        </p:grpSpPr>
        <p:sp>
          <p:nvSpPr>
            <p:cNvPr id="23" name="object 23"/>
            <p:cNvSpPr/>
            <p:nvPr/>
          </p:nvSpPr>
          <p:spPr>
            <a:xfrm>
              <a:off x="411479" y="4011929"/>
              <a:ext cx="8319134" cy="651510"/>
            </a:xfrm>
            <a:custGeom>
              <a:avLst/>
              <a:gdLst/>
              <a:ahLst/>
              <a:cxnLst/>
              <a:rect l="l" t="t" r="r" b="b"/>
              <a:pathLst>
                <a:path w="8319134" h="651510">
                  <a:moveTo>
                    <a:pt x="8277604" y="651509"/>
                  </a:moveTo>
                  <a:lnTo>
                    <a:pt x="41149" y="651509"/>
                  </a:lnTo>
                  <a:lnTo>
                    <a:pt x="25132" y="648276"/>
                  </a:lnTo>
                  <a:lnTo>
                    <a:pt x="12052" y="639457"/>
                  </a:lnTo>
                  <a:lnTo>
                    <a:pt x="3233" y="626377"/>
                  </a:lnTo>
                  <a:lnTo>
                    <a:pt x="0" y="610360"/>
                  </a:lnTo>
                  <a:lnTo>
                    <a:pt x="0" y="41149"/>
                  </a:lnTo>
                  <a:lnTo>
                    <a:pt x="3233" y="25132"/>
                  </a:lnTo>
                  <a:lnTo>
                    <a:pt x="12052" y="12052"/>
                  </a:lnTo>
                  <a:lnTo>
                    <a:pt x="25132" y="3233"/>
                  </a:lnTo>
                  <a:lnTo>
                    <a:pt x="41149" y="0"/>
                  </a:lnTo>
                  <a:lnTo>
                    <a:pt x="8277604" y="0"/>
                  </a:lnTo>
                  <a:lnTo>
                    <a:pt x="8311840" y="18319"/>
                  </a:lnTo>
                  <a:lnTo>
                    <a:pt x="8318754" y="41149"/>
                  </a:lnTo>
                  <a:lnTo>
                    <a:pt x="8318754" y="610360"/>
                  </a:lnTo>
                  <a:lnTo>
                    <a:pt x="8315520" y="626377"/>
                  </a:lnTo>
                  <a:lnTo>
                    <a:pt x="8306701" y="639457"/>
                  </a:lnTo>
                  <a:lnTo>
                    <a:pt x="8293621" y="648276"/>
                  </a:lnTo>
                  <a:lnTo>
                    <a:pt x="8277604" y="651509"/>
                  </a:lnTo>
                  <a:close/>
                </a:path>
              </a:pathLst>
            </a:custGeom>
            <a:solidFill>
              <a:srgbClr val="FCF1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411479" y="4011929"/>
              <a:ext cx="8319134" cy="651510"/>
            </a:xfrm>
            <a:custGeom>
              <a:avLst/>
              <a:gdLst/>
              <a:ahLst/>
              <a:cxnLst/>
              <a:rect l="l" t="t" r="r" b="b"/>
              <a:pathLst>
                <a:path w="8319134" h="651510">
                  <a:moveTo>
                    <a:pt x="0" y="41149"/>
                  </a:moveTo>
                  <a:lnTo>
                    <a:pt x="3233" y="25132"/>
                  </a:lnTo>
                  <a:lnTo>
                    <a:pt x="12052" y="12052"/>
                  </a:lnTo>
                  <a:lnTo>
                    <a:pt x="25132" y="3233"/>
                  </a:lnTo>
                  <a:lnTo>
                    <a:pt x="41149" y="0"/>
                  </a:lnTo>
                  <a:lnTo>
                    <a:pt x="8277604" y="0"/>
                  </a:lnTo>
                  <a:lnTo>
                    <a:pt x="8311840" y="18319"/>
                  </a:lnTo>
                  <a:lnTo>
                    <a:pt x="8318754" y="41149"/>
                  </a:lnTo>
                  <a:lnTo>
                    <a:pt x="8318754" y="610360"/>
                  </a:lnTo>
                  <a:lnTo>
                    <a:pt x="8315520" y="626377"/>
                  </a:lnTo>
                  <a:lnTo>
                    <a:pt x="8306701" y="639457"/>
                  </a:lnTo>
                  <a:lnTo>
                    <a:pt x="8293621" y="648276"/>
                  </a:lnTo>
                  <a:lnTo>
                    <a:pt x="8277604" y="651509"/>
                  </a:lnTo>
                  <a:lnTo>
                    <a:pt x="41149" y="651509"/>
                  </a:lnTo>
                  <a:lnTo>
                    <a:pt x="25132" y="648276"/>
                  </a:lnTo>
                  <a:lnTo>
                    <a:pt x="12052" y="639457"/>
                  </a:lnTo>
                  <a:lnTo>
                    <a:pt x="3233" y="626377"/>
                  </a:lnTo>
                  <a:lnTo>
                    <a:pt x="0" y="610360"/>
                  </a:lnTo>
                  <a:lnTo>
                    <a:pt x="0" y="41149"/>
                  </a:lnTo>
                  <a:close/>
                </a:path>
              </a:pathLst>
            </a:custGeom>
            <a:ln w="12699">
              <a:solidFill>
                <a:srgbClr val="E1703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549656" y="4167504"/>
            <a:ext cx="789305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E17039"/>
                </a:solidFill>
                <a:latin typeface="Calibri"/>
                <a:cs typeface="Calibri"/>
              </a:rPr>
              <a:t>What</a:t>
            </a:r>
            <a:r>
              <a:rPr dirty="0" sz="900" spc="-1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E17039"/>
                </a:solidFill>
                <a:latin typeface="Calibri"/>
                <a:cs typeface="Calibri"/>
              </a:rPr>
              <a:t>we</a:t>
            </a:r>
            <a:r>
              <a:rPr dirty="0" sz="900" spc="-1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900" spc="-10" b="1">
                <a:solidFill>
                  <a:srgbClr val="E17039"/>
                </a:solidFill>
                <a:latin typeface="Calibri"/>
                <a:cs typeface="Calibri"/>
              </a:rPr>
              <a:t>take</a:t>
            </a:r>
            <a:r>
              <a:rPr dirty="0" sz="900" spc="-1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900" spc="-10" b="1">
                <a:solidFill>
                  <a:srgbClr val="E17039"/>
                </a:solidFill>
                <a:latin typeface="Calibri"/>
                <a:cs typeface="Calibri"/>
              </a:rPr>
              <a:t>from</a:t>
            </a:r>
            <a:r>
              <a:rPr dirty="0" sz="900" spc="-1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E17039"/>
                </a:solidFill>
                <a:latin typeface="Calibri"/>
                <a:cs typeface="Calibri"/>
              </a:rPr>
              <a:t>it</a:t>
            </a:r>
            <a:r>
              <a:rPr dirty="0" sz="900" spc="380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Closest</a:t>
            </a:r>
            <a:r>
              <a:rPr dirty="0" sz="10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architectural</a:t>
            </a:r>
            <a:r>
              <a:rPr dirty="0" sz="10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ancestor:</a:t>
            </a:r>
            <a:r>
              <a:rPr dirty="0" sz="10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a</a:t>
            </a:r>
            <a:r>
              <a:rPr dirty="0" sz="10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network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that</a:t>
            </a:r>
            <a:r>
              <a:rPr dirty="0" sz="10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emits</a:t>
            </a:r>
            <a:r>
              <a:rPr dirty="0" sz="10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affine</a:t>
            </a:r>
            <a:r>
              <a:rPr dirty="0" sz="10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parameters.</a:t>
            </a:r>
            <a:r>
              <a:rPr dirty="0" sz="10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It</a:t>
            </a:r>
            <a:r>
              <a:rPr dirty="0" sz="10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differs</a:t>
            </a:r>
            <a:r>
              <a:rPr dirty="0" sz="10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in</a:t>
            </a:r>
            <a:r>
              <a:rPr dirty="0" sz="10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two</a:t>
            </a:r>
            <a:r>
              <a:rPr dirty="0" sz="10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ways</a:t>
            </a:r>
            <a:r>
              <a:rPr dirty="0" sz="10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we</a:t>
            </a:r>
            <a:r>
              <a:rPr dirty="0" sz="10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exploit</a:t>
            </a:r>
            <a:r>
              <a:rPr dirty="0" sz="10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—</a:t>
            </a:r>
            <a:r>
              <a:rPr dirty="0" sz="10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it</a:t>
            </a:r>
            <a:r>
              <a:rPr dirty="0" sz="10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conditions</a:t>
            </a:r>
            <a:r>
              <a:rPr dirty="0" sz="10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on</a:t>
            </a:r>
            <a:r>
              <a:rPr dirty="0" sz="10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an</a:t>
            </a:r>
            <a:r>
              <a:rPr dirty="0" sz="10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image,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not</a:t>
            </a:r>
            <a:r>
              <a:rPr dirty="0" sz="10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text,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and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it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has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no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direct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parameter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supervision,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whereas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ours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has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exact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targets.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65"/>
              </a:lnSpc>
            </a:pPr>
            <a:r>
              <a:rPr dirty="0"/>
              <a:t>IE</a:t>
            </a:r>
            <a:r>
              <a:rPr dirty="0" spc="-15"/>
              <a:t> </a:t>
            </a:r>
            <a:r>
              <a:rPr dirty="0"/>
              <a:t>643</a:t>
            </a:r>
            <a:r>
              <a:rPr dirty="0" spc="-15"/>
              <a:t> </a:t>
            </a:r>
            <a:r>
              <a:rPr dirty="0" spc="-10"/>
              <a:t>Course </a:t>
            </a:r>
            <a:r>
              <a:rPr dirty="0"/>
              <a:t>Project</a:t>
            </a:r>
            <a:r>
              <a:rPr dirty="0" spc="135"/>
              <a:t> </a:t>
            </a:r>
            <a:r>
              <a:rPr dirty="0"/>
              <a:t>·</a:t>
            </a:r>
            <a:r>
              <a:rPr dirty="0" spc="140"/>
              <a:t> </a:t>
            </a:r>
            <a:r>
              <a:rPr dirty="0" spc="-20"/>
              <a:t>Team</a:t>
            </a:r>
            <a:r>
              <a:rPr dirty="0" spc="-10"/>
              <a:t> DyoOptix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65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8780" y="244602"/>
            <a:ext cx="110871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E17039"/>
                </a:solidFill>
                <a:latin typeface="Calibri"/>
                <a:cs typeface="Calibri"/>
              </a:rPr>
              <a:t>BLOCK</a:t>
            </a:r>
            <a:r>
              <a:rPr dirty="0" sz="800" spc="-20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E17039"/>
                </a:solidFill>
                <a:latin typeface="Calibri"/>
                <a:cs typeface="Calibri"/>
              </a:rPr>
              <a:t>02</a:t>
            </a:r>
            <a:r>
              <a:rPr dirty="0" sz="800" spc="-1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E17039"/>
                </a:solidFill>
                <a:latin typeface="Calibri"/>
                <a:cs typeface="Calibri"/>
              </a:rPr>
              <a:t>·</a:t>
            </a:r>
            <a:r>
              <a:rPr dirty="0" sz="800" spc="-1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800" spc="-10" b="1">
                <a:solidFill>
                  <a:srgbClr val="E17039"/>
                </a:solidFill>
                <a:latin typeface="Calibri"/>
                <a:cs typeface="Calibri"/>
              </a:rPr>
              <a:t>BACKGROUND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4398" y="507268"/>
            <a:ext cx="158180" cy="158180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CLIP</a:t>
            </a:r>
            <a:r>
              <a:rPr dirty="0" spc="-35"/>
              <a:t> </a:t>
            </a:r>
            <a:r>
              <a:rPr dirty="0"/>
              <a:t>—</a:t>
            </a:r>
            <a:r>
              <a:rPr dirty="0" spc="-30"/>
              <a:t> </a:t>
            </a:r>
            <a:r>
              <a:rPr dirty="0"/>
              <a:t>the</a:t>
            </a:r>
            <a:r>
              <a:rPr dirty="0" spc="-35"/>
              <a:t> </a:t>
            </a:r>
            <a:r>
              <a:rPr dirty="0" spc="-65"/>
              <a:t>Text</a:t>
            </a:r>
            <a:r>
              <a:rPr dirty="0" spc="-30"/>
              <a:t> </a:t>
            </a:r>
            <a:r>
              <a:rPr dirty="0" spc="-10"/>
              <a:t>Encoder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98780" y="929132"/>
            <a:ext cx="224536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i="1">
                <a:solidFill>
                  <a:srgbClr val="6B7280"/>
                </a:solidFill>
                <a:latin typeface="Calibri"/>
                <a:cs typeface="Calibri"/>
              </a:rPr>
              <a:t>Radford </a:t>
            </a:r>
            <a:r>
              <a:rPr dirty="0" sz="900" i="1">
                <a:solidFill>
                  <a:srgbClr val="6B7280"/>
                </a:solidFill>
                <a:latin typeface="Calibri"/>
                <a:cs typeface="Calibri"/>
              </a:rPr>
              <a:t>et</a:t>
            </a:r>
            <a:r>
              <a:rPr dirty="0" sz="900" spc="-10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6B7280"/>
                </a:solidFill>
                <a:latin typeface="Calibri"/>
                <a:cs typeface="Calibri"/>
              </a:rPr>
              <a:t>al.</a:t>
            </a:r>
            <a:r>
              <a:rPr dirty="0" sz="900" spc="-10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6B7280"/>
                </a:solidFill>
                <a:latin typeface="Calibri"/>
                <a:cs typeface="Calibri"/>
              </a:rPr>
              <a:t>—</a:t>
            </a:r>
            <a:r>
              <a:rPr dirty="0" sz="900" spc="-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6B7280"/>
                </a:solidFill>
                <a:latin typeface="Calibri"/>
                <a:cs typeface="Calibri"/>
              </a:rPr>
              <a:t>ICML</a:t>
            </a:r>
            <a:r>
              <a:rPr dirty="0" sz="900" spc="-10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6B7280"/>
                </a:solidFill>
                <a:latin typeface="Calibri"/>
                <a:cs typeface="Calibri"/>
              </a:rPr>
              <a:t>2021</a:t>
            </a:r>
            <a:r>
              <a:rPr dirty="0" sz="900" spc="18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6B7280"/>
                </a:solidFill>
                <a:latin typeface="Calibri"/>
                <a:cs typeface="Calibri"/>
              </a:rPr>
              <a:t>·</a:t>
            </a:r>
            <a:r>
              <a:rPr dirty="0" sz="900" spc="190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10" i="1">
                <a:solidFill>
                  <a:srgbClr val="6B7280"/>
                </a:solidFill>
                <a:latin typeface="Calibri"/>
                <a:cs typeface="Calibri"/>
              </a:rPr>
              <a:t>arXiv:2103.00020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06717" y="1263967"/>
            <a:ext cx="4192904" cy="2238375"/>
            <a:chOff x="406717" y="1263967"/>
            <a:chExt cx="4192904" cy="2238375"/>
          </a:xfrm>
        </p:grpSpPr>
        <p:sp>
          <p:nvSpPr>
            <p:cNvPr id="7" name="object 7"/>
            <p:cNvSpPr/>
            <p:nvPr/>
          </p:nvSpPr>
          <p:spPr>
            <a:xfrm>
              <a:off x="411480" y="1268730"/>
              <a:ext cx="4183379" cy="2228850"/>
            </a:xfrm>
            <a:custGeom>
              <a:avLst/>
              <a:gdLst/>
              <a:ahLst/>
              <a:cxnLst/>
              <a:rect l="l" t="t" r="r" b="b"/>
              <a:pathLst>
                <a:path w="4183379" h="2228850">
                  <a:moveTo>
                    <a:pt x="4142235" y="2228849"/>
                  </a:moveTo>
                  <a:lnTo>
                    <a:pt x="41144" y="2228849"/>
                  </a:lnTo>
                  <a:lnTo>
                    <a:pt x="25129" y="2225616"/>
                  </a:lnTo>
                  <a:lnTo>
                    <a:pt x="12050" y="2216799"/>
                  </a:lnTo>
                  <a:lnTo>
                    <a:pt x="3233" y="2203720"/>
                  </a:lnTo>
                  <a:lnTo>
                    <a:pt x="0" y="2187705"/>
                  </a:lnTo>
                  <a:lnTo>
                    <a:pt x="0" y="41144"/>
                  </a:lnTo>
                  <a:lnTo>
                    <a:pt x="3233" y="25129"/>
                  </a:lnTo>
                  <a:lnTo>
                    <a:pt x="12050" y="12050"/>
                  </a:lnTo>
                  <a:lnTo>
                    <a:pt x="25129" y="3233"/>
                  </a:lnTo>
                  <a:lnTo>
                    <a:pt x="41144" y="0"/>
                  </a:lnTo>
                  <a:lnTo>
                    <a:pt x="4142235" y="0"/>
                  </a:lnTo>
                  <a:lnTo>
                    <a:pt x="4176467" y="18317"/>
                  </a:lnTo>
                  <a:lnTo>
                    <a:pt x="4183379" y="41144"/>
                  </a:lnTo>
                  <a:lnTo>
                    <a:pt x="4183379" y="2187705"/>
                  </a:lnTo>
                  <a:lnTo>
                    <a:pt x="4180146" y="2203720"/>
                  </a:lnTo>
                  <a:lnTo>
                    <a:pt x="4171329" y="2216799"/>
                  </a:lnTo>
                  <a:lnTo>
                    <a:pt x="4158250" y="2225616"/>
                  </a:lnTo>
                  <a:lnTo>
                    <a:pt x="4142235" y="2228849"/>
                  </a:lnTo>
                  <a:close/>
                </a:path>
              </a:pathLst>
            </a:custGeom>
            <a:solidFill>
              <a:srgbClr val="F4F4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11480" y="1268730"/>
              <a:ext cx="4183379" cy="2228850"/>
            </a:xfrm>
            <a:custGeom>
              <a:avLst/>
              <a:gdLst/>
              <a:ahLst/>
              <a:cxnLst/>
              <a:rect l="l" t="t" r="r" b="b"/>
              <a:pathLst>
                <a:path w="4183379" h="2228850">
                  <a:moveTo>
                    <a:pt x="0" y="41144"/>
                  </a:moveTo>
                  <a:lnTo>
                    <a:pt x="3233" y="25129"/>
                  </a:lnTo>
                  <a:lnTo>
                    <a:pt x="12050" y="12050"/>
                  </a:lnTo>
                  <a:lnTo>
                    <a:pt x="25129" y="3233"/>
                  </a:lnTo>
                  <a:lnTo>
                    <a:pt x="41144" y="0"/>
                  </a:lnTo>
                  <a:lnTo>
                    <a:pt x="4142235" y="0"/>
                  </a:lnTo>
                  <a:lnTo>
                    <a:pt x="4176467" y="18317"/>
                  </a:lnTo>
                  <a:lnTo>
                    <a:pt x="4183379" y="41144"/>
                  </a:lnTo>
                  <a:lnTo>
                    <a:pt x="4183379" y="2187705"/>
                  </a:lnTo>
                  <a:lnTo>
                    <a:pt x="4180146" y="2203720"/>
                  </a:lnTo>
                  <a:lnTo>
                    <a:pt x="4171329" y="2216799"/>
                  </a:lnTo>
                  <a:lnTo>
                    <a:pt x="4158250" y="2225616"/>
                  </a:lnTo>
                  <a:lnTo>
                    <a:pt x="4142235" y="2228849"/>
                  </a:lnTo>
                  <a:lnTo>
                    <a:pt x="41144" y="2228849"/>
                  </a:lnTo>
                  <a:lnTo>
                    <a:pt x="25129" y="2225616"/>
                  </a:lnTo>
                  <a:lnTo>
                    <a:pt x="12050" y="2216799"/>
                  </a:lnTo>
                  <a:lnTo>
                    <a:pt x="3233" y="2203720"/>
                  </a:lnTo>
                  <a:lnTo>
                    <a:pt x="0" y="2187705"/>
                  </a:lnTo>
                  <a:lnTo>
                    <a:pt x="0" y="41144"/>
                  </a:lnTo>
                  <a:close/>
                </a:path>
              </a:pathLst>
            </a:custGeom>
            <a:ln w="9524">
              <a:solidFill>
                <a:srgbClr val="E3E4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590804" y="1401064"/>
            <a:ext cx="139636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1A1F2B"/>
                </a:solidFill>
                <a:latin typeface="Calibri"/>
                <a:cs typeface="Calibri"/>
              </a:rPr>
              <a:t>How</a:t>
            </a:r>
            <a:r>
              <a:rPr dirty="0" sz="1000" spc="-30" b="1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1000" spc="-25" b="1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 b="1">
                <a:solidFill>
                  <a:srgbClr val="1A1F2B"/>
                </a:solidFill>
                <a:latin typeface="Calibri"/>
                <a:cs typeface="Calibri"/>
              </a:rPr>
              <a:t>text</a:t>
            </a:r>
            <a:r>
              <a:rPr dirty="0" sz="1000" spc="-25" b="1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1A1F2B"/>
                </a:solidFill>
                <a:latin typeface="Calibri"/>
                <a:cs typeface="Calibri"/>
              </a:rPr>
              <a:t>tower</a:t>
            </a:r>
            <a:r>
              <a:rPr dirty="0" sz="1000" spc="-30" b="1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20" b="1">
                <a:solidFill>
                  <a:srgbClr val="1A1F2B"/>
                </a:solidFill>
                <a:latin typeface="Calibri"/>
                <a:cs typeface="Calibri"/>
              </a:rPr>
              <a:t>works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7377" y="1628647"/>
            <a:ext cx="24460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9715" indent="-247015">
              <a:lnSpc>
                <a:spcPct val="100000"/>
              </a:lnSpc>
              <a:spcBef>
                <a:spcPts val="100"/>
              </a:spcBef>
              <a:buChar char="•"/>
              <a:tabLst>
                <a:tab pos="259715" algn="l"/>
              </a:tabLst>
            </a:pP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Transformer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over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BPE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tokens, 77-token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context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7377" y="1854708"/>
            <a:ext cx="350901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9715" indent="-247015">
              <a:lnSpc>
                <a:spcPct val="100000"/>
              </a:lnSpc>
              <a:spcBef>
                <a:spcPts val="100"/>
              </a:spcBef>
              <a:buChar char="•"/>
              <a:tabLst>
                <a:tab pos="259715" algn="l"/>
              </a:tabLst>
            </a:pP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9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whole</a:t>
            </a:r>
            <a:r>
              <a:rPr dirty="0" sz="9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sentence</a:t>
            </a:r>
            <a:r>
              <a:rPr dirty="0" sz="9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is</a:t>
            </a:r>
            <a:r>
              <a:rPr dirty="0" sz="9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pooled</a:t>
            </a:r>
            <a:r>
              <a:rPr dirty="0" sz="9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into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one</a:t>
            </a:r>
            <a:r>
              <a:rPr dirty="0" sz="9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vector</a:t>
            </a:r>
            <a:r>
              <a:rPr dirty="0" sz="9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at</a:t>
            </a:r>
            <a:r>
              <a:rPr dirty="0" sz="9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9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end-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of-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text</a:t>
            </a:r>
            <a:r>
              <a:rPr dirty="0" sz="9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token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7377" y="2080767"/>
            <a:ext cx="373824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9715" indent="-247015">
              <a:lnSpc>
                <a:spcPct val="100000"/>
              </a:lnSpc>
              <a:spcBef>
                <a:spcPts val="100"/>
              </a:spcBef>
              <a:buChar char="•"/>
              <a:tabLst>
                <a:tab pos="259715" algn="l"/>
              </a:tabLst>
            </a:pP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Trained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contrastively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against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an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image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tower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on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400M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image–caption pairs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7377" y="2306827"/>
            <a:ext cx="23444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9715" indent="-247015">
              <a:lnSpc>
                <a:spcPct val="100000"/>
              </a:lnSpc>
              <a:spcBef>
                <a:spcPts val="100"/>
              </a:spcBef>
              <a:buChar char="•"/>
              <a:tabLst>
                <a:tab pos="259715" algn="l"/>
              </a:tabLst>
            </a:pP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Output:</a:t>
            </a:r>
            <a:r>
              <a:rPr dirty="0" sz="900" spc="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a</a:t>
            </a:r>
            <a:r>
              <a:rPr dirty="0" sz="900" spc="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single</a:t>
            </a:r>
            <a:r>
              <a:rPr dirty="0" sz="900" spc="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512-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d</a:t>
            </a:r>
            <a:r>
              <a:rPr dirty="0" sz="900" spc="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embedding</a:t>
            </a:r>
            <a:r>
              <a:rPr dirty="0" sz="900" spc="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30">
                <a:solidFill>
                  <a:srgbClr val="1A1F2B"/>
                </a:solidFill>
                <a:latin typeface="Calibri"/>
                <a:cs typeface="Calibri"/>
              </a:rPr>
              <a:t>(ViT-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B/32)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795837" y="1263967"/>
            <a:ext cx="3939540" cy="2238375"/>
            <a:chOff x="4795837" y="1263967"/>
            <a:chExt cx="3939540" cy="2238375"/>
          </a:xfrm>
        </p:grpSpPr>
        <p:sp>
          <p:nvSpPr>
            <p:cNvPr id="15" name="object 15"/>
            <p:cNvSpPr/>
            <p:nvPr/>
          </p:nvSpPr>
          <p:spPr>
            <a:xfrm>
              <a:off x="4800600" y="1268730"/>
              <a:ext cx="3930015" cy="2228850"/>
            </a:xfrm>
            <a:custGeom>
              <a:avLst/>
              <a:gdLst/>
              <a:ahLst/>
              <a:cxnLst/>
              <a:rect l="l" t="t" r="r" b="b"/>
              <a:pathLst>
                <a:path w="3930015" h="2228850">
                  <a:moveTo>
                    <a:pt x="3888488" y="2228849"/>
                  </a:moveTo>
                  <a:lnTo>
                    <a:pt x="41144" y="2228849"/>
                  </a:lnTo>
                  <a:lnTo>
                    <a:pt x="25129" y="2225616"/>
                  </a:lnTo>
                  <a:lnTo>
                    <a:pt x="12050" y="2216799"/>
                  </a:lnTo>
                  <a:lnTo>
                    <a:pt x="3233" y="2203720"/>
                  </a:lnTo>
                  <a:lnTo>
                    <a:pt x="0" y="2187705"/>
                  </a:lnTo>
                  <a:lnTo>
                    <a:pt x="0" y="41144"/>
                  </a:lnTo>
                  <a:lnTo>
                    <a:pt x="3233" y="25129"/>
                  </a:lnTo>
                  <a:lnTo>
                    <a:pt x="12050" y="12050"/>
                  </a:lnTo>
                  <a:lnTo>
                    <a:pt x="25129" y="3233"/>
                  </a:lnTo>
                  <a:lnTo>
                    <a:pt x="41144" y="0"/>
                  </a:lnTo>
                  <a:lnTo>
                    <a:pt x="3888488" y="0"/>
                  </a:lnTo>
                  <a:lnTo>
                    <a:pt x="3922721" y="18317"/>
                  </a:lnTo>
                  <a:lnTo>
                    <a:pt x="3929634" y="41144"/>
                  </a:lnTo>
                  <a:lnTo>
                    <a:pt x="3929634" y="2187705"/>
                  </a:lnTo>
                  <a:lnTo>
                    <a:pt x="3926401" y="2203720"/>
                  </a:lnTo>
                  <a:lnTo>
                    <a:pt x="3917583" y="2216799"/>
                  </a:lnTo>
                  <a:lnTo>
                    <a:pt x="3904504" y="2225616"/>
                  </a:lnTo>
                  <a:lnTo>
                    <a:pt x="3888488" y="2228849"/>
                  </a:lnTo>
                  <a:close/>
                </a:path>
              </a:pathLst>
            </a:custGeom>
            <a:solidFill>
              <a:srgbClr val="FCF1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800600" y="1268730"/>
              <a:ext cx="3930015" cy="2228850"/>
            </a:xfrm>
            <a:custGeom>
              <a:avLst/>
              <a:gdLst/>
              <a:ahLst/>
              <a:cxnLst/>
              <a:rect l="l" t="t" r="r" b="b"/>
              <a:pathLst>
                <a:path w="3930015" h="2228850">
                  <a:moveTo>
                    <a:pt x="0" y="41144"/>
                  </a:moveTo>
                  <a:lnTo>
                    <a:pt x="3233" y="25129"/>
                  </a:lnTo>
                  <a:lnTo>
                    <a:pt x="12050" y="12050"/>
                  </a:lnTo>
                  <a:lnTo>
                    <a:pt x="25129" y="3233"/>
                  </a:lnTo>
                  <a:lnTo>
                    <a:pt x="41144" y="0"/>
                  </a:lnTo>
                  <a:lnTo>
                    <a:pt x="3888488" y="0"/>
                  </a:lnTo>
                  <a:lnTo>
                    <a:pt x="3922721" y="18317"/>
                  </a:lnTo>
                  <a:lnTo>
                    <a:pt x="3929634" y="41144"/>
                  </a:lnTo>
                  <a:lnTo>
                    <a:pt x="3929634" y="2187705"/>
                  </a:lnTo>
                  <a:lnTo>
                    <a:pt x="3926401" y="2203720"/>
                  </a:lnTo>
                  <a:lnTo>
                    <a:pt x="3917583" y="2216799"/>
                  </a:lnTo>
                  <a:lnTo>
                    <a:pt x="3904504" y="2225616"/>
                  </a:lnTo>
                  <a:lnTo>
                    <a:pt x="3888488" y="2228849"/>
                  </a:lnTo>
                  <a:lnTo>
                    <a:pt x="41144" y="2228849"/>
                  </a:lnTo>
                  <a:lnTo>
                    <a:pt x="25129" y="2225616"/>
                  </a:lnTo>
                  <a:lnTo>
                    <a:pt x="12050" y="2216799"/>
                  </a:lnTo>
                  <a:lnTo>
                    <a:pt x="3233" y="2203720"/>
                  </a:lnTo>
                  <a:lnTo>
                    <a:pt x="0" y="2187705"/>
                  </a:lnTo>
                  <a:lnTo>
                    <a:pt x="0" y="41144"/>
                  </a:lnTo>
                  <a:close/>
                </a:path>
              </a:pathLst>
            </a:custGeom>
            <a:ln w="9524">
              <a:solidFill>
                <a:srgbClr val="E3E4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4979924" y="1401064"/>
            <a:ext cx="196215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solidFill>
                  <a:srgbClr val="E17039"/>
                </a:solidFill>
                <a:latin typeface="Calibri"/>
                <a:cs typeface="Calibri"/>
              </a:rPr>
              <a:t>Hypothesis:</a:t>
            </a:r>
            <a:r>
              <a:rPr dirty="0" sz="1000" spc="-2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E17039"/>
                </a:solidFill>
                <a:latin typeface="Calibri"/>
                <a:cs typeface="Calibri"/>
              </a:rPr>
              <a:t>where</a:t>
            </a:r>
            <a:r>
              <a:rPr dirty="0" sz="1000" spc="-20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E17039"/>
                </a:solidFill>
                <a:latin typeface="Calibri"/>
                <a:cs typeface="Calibri"/>
              </a:rPr>
              <a:t>CLIP</a:t>
            </a:r>
            <a:r>
              <a:rPr dirty="0" sz="1000" spc="-20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E17039"/>
                </a:solidFill>
                <a:latin typeface="Calibri"/>
                <a:cs typeface="Calibri"/>
              </a:rPr>
              <a:t>may</a:t>
            </a:r>
            <a:r>
              <a:rPr dirty="0" sz="1000" spc="-20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1000" spc="-10" b="1">
                <a:solidFill>
                  <a:srgbClr val="E17039"/>
                </a:solidFill>
                <a:latin typeface="Calibri"/>
                <a:cs typeface="Calibri"/>
              </a:rPr>
              <a:t>struggle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979924" y="1765808"/>
            <a:ext cx="344170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contrastive objective optimises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for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semantic similarity. "Rotate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by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1A1F2B"/>
                </a:solidFill>
                <a:latin typeface="Calibri"/>
                <a:cs typeface="Calibri"/>
              </a:rPr>
              <a:t>30</a:t>
            </a:r>
            <a:r>
              <a:rPr dirty="0" sz="900" spc="50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degrees"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and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"rotate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by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40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degrees"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are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near-paraphrases,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so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training</a:t>
            </a:r>
            <a:r>
              <a:rPr dirty="0" sz="900" spc="50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pressure pushes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their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embeddings together.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979924" y="2445385"/>
            <a:ext cx="3404235" cy="9258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E17039"/>
                </a:solidFill>
                <a:latin typeface="Calibri"/>
                <a:cs typeface="Calibri"/>
              </a:rPr>
              <a:t>But</a:t>
            </a:r>
            <a:r>
              <a:rPr dirty="0" sz="1000" spc="-20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E17039"/>
                </a:solidFill>
                <a:latin typeface="Calibri"/>
                <a:cs typeface="Calibri"/>
              </a:rPr>
              <a:t>the</a:t>
            </a:r>
            <a:r>
              <a:rPr dirty="0" sz="1000" spc="-1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1000" spc="-10" b="1">
                <a:solidFill>
                  <a:srgbClr val="E17039"/>
                </a:solidFill>
                <a:latin typeface="Calibri"/>
                <a:cs typeface="Calibri"/>
              </a:rPr>
              <a:t>required</a:t>
            </a:r>
            <a:r>
              <a:rPr dirty="0" sz="1000" spc="-1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1000" spc="-10" b="1">
                <a:solidFill>
                  <a:srgbClr val="E17039"/>
                </a:solidFill>
                <a:latin typeface="Calibri"/>
                <a:cs typeface="Calibri"/>
              </a:rPr>
              <a:t>outputs</a:t>
            </a:r>
            <a:r>
              <a:rPr dirty="0" sz="1000" spc="-1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E17039"/>
                </a:solidFill>
                <a:latin typeface="Calibri"/>
                <a:cs typeface="Calibri"/>
              </a:rPr>
              <a:t>differ</a:t>
            </a:r>
            <a:r>
              <a:rPr dirty="0" sz="1000" spc="-1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E17039"/>
                </a:solidFill>
                <a:latin typeface="Calibri"/>
                <a:cs typeface="Calibri"/>
              </a:rPr>
              <a:t>by</a:t>
            </a:r>
            <a:r>
              <a:rPr dirty="0" sz="1000" spc="-1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1000" spc="-20" b="1">
                <a:solidFill>
                  <a:srgbClr val="E17039"/>
                </a:solidFill>
                <a:latin typeface="Calibri"/>
                <a:cs typeface="Calibri"/>
              </a:rPr>
              <a:t>10°.</a:t>
            </a:r>
            <a:endParaRPr sz="1000">
              <a:latin typeface="Calibri"/>
              <a:cs typeface="Calibri"/>
            </a:endParaRPr>
          </a:p>
          <a:p>
            <a:pPr marL="12700" marR="161290">
              <a:lnSpc>
                <a:spcPct val="100000"/>
              </a:lnSpc>
            </a:pPr>
            <a:r>
              <a:rPr dirty="0" sz="1000" b="1">
                <a:solidFill>
                  <a:srgbClr val="E17039"/>
                </a:solidFill>
                <a:latin typeface="Calibri"/>
                <a:cs typeface="Calibri"/>
              </a:rPr>
              <a:t>The</a:t>
            </a:r>
            <a:r>
              <a:rPr dirty="0" sz="1000" spc="-10" b="1">
                <a:solidFill>
                  <a:srgbClr val="E17039"/>
                </a:solidFill>
                <a:latin typeface="Calibri"/>
                <a:cs typeface="Calibri"/>
              </a:rPr>
              <a:t> representation geometry</a:t>
            </a:r>
            <a:r>
              <a:rPr dirty="0" sz="1000" spc="-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E17039"/>
                </a:solidFill>
                <a:latin typeface="Calibri"/>
                <a:cs typeface="Calibri"/>
              </a:rPr>
              <a:t>may</a:t>
            </a:r>
            <a:r>
              <a:rPr dirty="0" sz="1000" spc="-10" b="1">
                <a:solidFill>
                  <a:srgbClr val="E17039"/>
                </a:solidFill>
                <a:latin typeface="Calibri"/>
                <a:cs typeface="Calibri"/>
              </a:rPr>
              <a:t> therefore </a:t>
            </a:r>
            <a:r>
              <a:rPr dirty="0" sz="1000" b="1">
                <a:solidFill>
                  <a:srgbClr val="E17039"/>
                </a:solidFill>
                <a:latin typeface="Calibri"/>
                <a:cs typeface="Calibri"/>
              </a:rPr>
              <a:t>work</a:t>
            </a:r>
            <a:r>
              <a:rPr dirty="0" sz="1000" spc="-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1000" spc="-10" b="1">
                <a:solidFill>
                  <a:srgbClr val="E17039"/>
                </a:solidFill>
                <a:latin typeface="Calibri"/>
                <a:cs typeface="Calibri"/>
              </a:rPr>
              <a:t>against </a:t>
            </a:r>
            <a:r>
              <a:rPr dirty="0" sz="1000" spc="-25" b="1">
                <a:solidFill>
                  <a:srgbClr val="E17039"/>
                </a:solidFill>
                <a:latin typeface="Calibri"/>
                <a:cs typeface="Calibri"/>
              </a:rPr>
              <a:t>the</a:t>
            </a:r>
            <a:r>
              <a:rPr dirty="0" sz="1000" spc="-10" b="1">
                <a:solidFill>
                  <a:srgbClr val="E17039"/>
                </a:solidFill>
                <a:latin typeface="Calibri"/>
                <a:cs typeface="Calibri"/>
              </a:rPr>
              <a:t> regression.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10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Magnitude</a:t>
            </a:r>
            <a:r>
              <a:rPr dirty="0" sz="800" spc="-1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6B7280"/>
                </a:solidFill>
                <a:latin typeface="Calibri"/>
                <a:cs typeface="Calibri"/>
              </a:rPr>
              <a:t>may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6B7280"/>
                </a:solidFill>
                <a:latin typeface="Calibri"/>
                <a:cs typeface="Calibri"/>
              </a:rPr>
              <a:t>be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6B7280"/>
                </a:solidFill>
                <a:latin typeface="Calibri"/>
                <a:cs typeface="Calibri"/>
              </a:rPr>
              <a:t>only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 weakly represented </a:t>
            </a:r>
            <a:r>
              <a:rPr dirty="0" sz="800" i="1">
                <a:solidFill>
                  <a:srgbClr val="6B7280"/>
                </a:solidFill>
                <a:latin typeface="Calibri"/>
                <a:cs typeface="Calibri"/>
              </a:rPr>
              <a:t>in</a:t>
            </a:r>
            <a:r>
              <a:rPr dirty="0" sz="800" spc="-1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6B7280"/>
                </a:solidFill>
                <a:latin typeface="Calibri"/>
                <a:cs typeface="Calibri"/>
              </a:rPr>
              <a:t>the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 pooled embedding </a:t>
            </a:r>
            <a:r>
              <a:rPr dirty="0" sz="800" i="1">
                <a:solidFill>
                  <a:srgbClr val="6B7280"/>
                </a:solidFill>
                <a:latin typeface="Calibri"/>
                <a:cs typeface="Calibri"/>
              </a:rPr>
              <a:t>—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6B7280"/>
                </a:solidFill>
                <a:latin typeface="Calibri"/>
                <a:cs typeface="Calibri"/>
              </a:rPr>
              <a:t>this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6B7280"/>
                </a:solidFill>
                <a:latin typeface="Calibri"/>
                <a:cs typeface="Calibri"/>
              </a:rPr>
              <a:t>is</a:t>
            </a:r>
            <a:r>
              <a:rPr dirty="0" sz="800" spc="-1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spc="-25" i="1">
                <a:solidFill>
                  <a:srgbClr val="6B7280"/>
                </a:solidFill>
                <a:latin typeface="Calibri"/>
                <a:cs typeface="Calibri"/>
              </a:rPr>
              <a:t>our</a:t>
            </a:r>
            <a:r>
              <a:rPr dirty="0" sz="800" spc="500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hypothesis,</a:t>
            </a:r>
            <a:r>
              <a:rPr dirty="0" sz="800" spc="-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6B7280"/>
                </a:solidFill>
                <a:latin typeface="Calibri"/>
                <a:cs typeface="Calibri"/>
              </a:rPr>
              <a:t>not</a:t>
            </a:r>
            <a:r>
              <a:rPr dirty="0" sz="800" spc="-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6B7280"/>
                </a:solidFill>
                <a:latin typeface="Calibri"/>
                <a:cs typeface="Calibri"/>
              </a:rPr>
              <a:t>an</a:t>
            </a:r>
            <a:r>
              <a:rPr dirty="0" sz="800" spc="-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established</a:t>
            </a:r>
            <a:r>
              <a:rPr dirty="0" sz="800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result.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05129" y="3696970"/>
            <a:ext cx="8331834" cy="664210"/>
            <a:chOff x="405129" y="3696970"/>
            <a:chExt cx="8331834" cy="664210"/>
          </a:xfrm>
        </p:grpSpPr>
        <p:sp>
          <p:nvSpPr>
            <p:cNvPr id="21" name="object 21"/>
            <p:cNvSpPr/>
            <p:nvPr/>
          </p:nvSpPr>
          <p:spPr>
            <a:xfrm>
              <a:off x="411479" y="3703320"/>
              <a:ext cx="8319134" cy="651510"/>
            </a:xfrm>
            <a:custGeom>
              <a:avLst/>
              <a:gdLst/>
              <a:ahLst/>
              <a:cxnLst/>
              <a:rect l="l" t="t" r="r" b="b"/>
              <a:pathLst>
                <a:path w="8319134" h="651510">
                  <a:moveTo>
                    <a:pt x="8277604" y="651509"/>
                  </a:moveTo>
                  <a:lnTo>
                    <a:pt x="41149" y="651509"/>
                  </a:lnTo>
                  <a:lnTo>
                    <a:pt x="25132" y="648276"/>
                  </a:lnTo>
                  <a:lnTo>
                    <a:pt x="12052" y="639457"/>
                  </a:lnTo>
                  <a:lnTo>
                    <a:pt x="3233" y="626377"/>
                  </a:lnTo>
                  <a:lnTo>
                    <a:pt x="0" y="610360"/>
                  </a:lnTo>
                  <a:lnTo>
                    <a:pt x="0" y="41149"/>
                  </a:lnTo>
                  <a:lnTo>
                    <a:pt x="3233" y="25132"/>
                  </a:lnTo>
                  <a:lnTo>
                    <a:pt x="12052" y="12052"/>
                  </a:lnTo>
                  <a:lnTo>
                    <a:pt x="25132" y="3233"/>
                  </a:lnTo>
                  <a:lnTo>
                    <a:pt x="41149" y="0"/>
                  </a:lnTo>
                  <a:lnTo>
                    <a:pt x="8277604" y="0"/>
                  </a:lnTo>
                  <a:lnTo>
                    <a:pt x="8311840" y="18319"/>
                  </a:lnTo>
                  <a:lnTo>
                    <a:pt x="8318754" y="41149"/>
                  </a:lnTo>
                  <a:lnTo>
                    <a:pt x="8318754" y="610360"/>
                  </a:lnTo>
                  <a:lnTo>
                    <a:pt x="8315520" y="626377"/>
                  </a:lnTo>
                  <a:lnTo>
                    <a:pt x="8306701" y="639457"/>
                  </a:lnTo>
                  <a:lnTo>
                    <a:pt x="8293621" y="648276"/>
                  </a:lnTo>
                  <a:lnTo>
                    <a:pt x="8277604" y="651509"/>
                  </a:lnTo>
                  <a:close/>
                </a:path>
              </a:pathLst>
            </a:custGeom>
            <a:solidFill>
              <a:srgbClr val="FCF1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11479" y="3703320"/>
              <a:ext cx="8319134" cy="651510"/>
            </a:xfrm>
            <a:custGeom>
              <a:avLst/>
              <a:gdLst/>
              <a:ahLst/>
              <a:cxnLst/>
              <a:rect l="l" t="t" r="r" b="b"/>
              <a:pathLst>
                <a:path w="8319134" h="651510">
                  <a:moveTo>
                    <a:pt x="0" y="41149"/>
                  </a:moveTo>
                  <a:lnTo>
                    <a:pt x="3233" y="25132"/>
                  </a:lnTo>
                  <a:lnTo>
                    <a:pt x="12052" y="12052"/>
                  </a:lnTo>
                  <a:lnTo>
                    <a:pt x="25132" y="3233"/>
                  </a:lnTo>
                  <a:lnTo>
                    <a:pt x="41149" y="0"/>
                  </a:lnTo>
                  <a:lnTo>
                    <a:pt x="8277604" y="0"/>
                  </a:lnTo>
                  <a:lnTo>
                    <a:pt x="8311840" y="18319"/>
                  </a:lnTo>
                  <a:lnTo>
                    <a:pt x="8318754" y="41149"/>
                  </a:lnTo>
                  <a:lnTo>
                    <a:pt x="8318754" y="610360"/>
                  </a:lnTo>
                  <a:lnTo>
                    <a:pt x="8315520" y="626377"/>
                  </a:lnTo>
                  <a:lnTo>
                    <a:pt x="8306701" y="639457"/>
                  </a:lnTo>
                  <a:lnTo>
                    <a:pt x="8293621" y="648276"/>
                  </a:lnTo>
                  <a:lnTo>
                    <a:pt x="8277604" y="651509"/>
                  </a:lnTo>
                  <a:lnTo>
                    <a:pt x="41149" y="651509"/>
                  </a:lnTo>
                  <a:lnTo>
                    <a:pt x="25132" y="648276"/>
                  </a:lnTo>
                  <a:lnTo>
                    <a:pt x="12052" y="639457"/>
                  </a:lnTo>
                  <a:lnTo>
                    <a:pt x="3233" y="626377"/>
                  </a:lnTo>
                  <a:lnTo>
                    <a:pt x="0" y="610360"/>
                  </a:lnTo>
                  <a:lnTo>
                    <a:pt x="0" y="41149"/>
                  </a:lnTo>
                  <a:close/>
                </a:path>
              </a:pathLst>
            </a:custGeom>
            <a:ln w="12699">
              <a:solidFill>
                <a:srgbClr val="E1703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549656" y="3935095"/>
            <a:ext cx="696087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E17039"/>
                </a:solidFill>
                <a:latin typeface="Calibri"/>
                <a:cs typeface="Calibri"/>
              </a:rPr>
              <a:t>What</a:t>
            </a:r>
            <a:r>
              <a:rPr dirty="0" sz="900" spc="-2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E17039"/>
                </a:solidFill>
                <a:latin typeface="Calibri"/>
                <a:cs typeface="Calibri"/>
              </a:rPr>
              <a:t>we</a:t>
            </a:r>
            <a:r>
              <a:rPr dirty="0" sz="900" spc="-2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900" spc="-10" b="1">
                <a:solidFill>
                  <a:srgbClr val="E17039"/>
                </a:solidFill>
                <a:latin typeface="Calibri"/>
                <a:cs typeface="Calibri"/>
              </a:rPr>
              <a:t>take</a:t>
            </a:r>
            <a:r>
              <a:rPr dirty="0" sz="900" spc="-2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900" spc="-10" b="1">
                <a:solidFill>
                  <a:srgbClr val="E17039"/>
                </a:solidFill>
                <a:latin typeface="Calibri"/>
                <a:cs typeface="Calibri"/>
              </a:rPr>
              <a:t>from</a:t>
            </a:r>
            <a:r>
              <a:rPr dirty="0" sz="900" spc="-20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E17039"/>
                </a:solidFill>
                <a:latin typeface="Calibri"/>
                <a:cs typeface="Calibri"/>
              </a:rPr>
              <a:t>it</a:t>
            </a:r>
            <a:r>
              <a:rPr dirty="0" sz="900" spc="34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Our</a:t>
            </a:r>
            <a:r>
              <a:rPr dirty="0" sz="10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primary</a:t>
            </a:r>
            <a:r>
              <a:rPr dirty="0" sz="10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frozen</a:t>
            </a:r>
            <a:r>
              <a:rPr dirty="0" sz="10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baseline,</a:t>
            </a:r>
            <a:r>
              <a:rPr dirty="0" sz="10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and</a:t>
            </a:r>
            <a:r>
              <a:rPr dirty="0" sz="1000" spc="-3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10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source</a:t>
            </a:r>
            <a:r>
              <a:rPr dirty="0" sz="10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of</a:t>
            </a:r>
            <a:r>
              <a:rPr dirty="0" sz="10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RQ1.</a:t>
            </a:r>
            <a:r>
              <a:rPr dirty="0" sz="10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We</a:t>
            </a:r>
            <a:r>
              <a:rPr dirty="0" sz="1000" spc="-3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plan</a:t>
            </a:r>
            <a:r>
              <a:rPr dirty="0" sz="10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to</a:t>
            </a:r>
            <a:r>
              <a:rPr dirty="0" sz="10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test</a:t>
            </a:r>
            <a:r>
              <a:rPr dirty="0" sz="10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10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hypothesis</a:t>
            </a:r>
            <a:r>
              <a:rPr dirty="0" sz="10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directly</a:t>
            </a:r>
            <a:r>
              <a:rPr dirty="0" sz="1000" spc="-3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rather</a:t>
            </a:r>
            <a:r>
              <a:rPr dirty="0" sz="10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than</a:t>
            </a:r>
            <a:r>
              <a:rPr dirty="0" sz="10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assume</a:t>
            </a:r>
            <a:r>
              <a:rPr dirty="0" sz="1000" spc="-25">
                <a:solidFill>
                  <a:srgbClr val="1A1F2B"/>
                </a:solidFill>
                <a:latin typeface="Calibri"/>
                <a:cs typeface="Calibri"/>
              </a:rPr>
              <a:t> it.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65"/>
              </a:lnSpc>
            </a:pPr>
            <a:r>
              <a:rPr dirty="0"/>
              <a:t>IE</a:t>
            </a:r>
            <a:r>
              <a:rPr dirty="0" spc="-15"/>
              <a:t> </a:t>
            </a:r>
            <a:r>
              <a:rPr dirty="0"/>
              <a:t>643</a:t>
            </a:r>
            <a:r>
              <a:rPr dirty="0" spc="-15"/>
              <a:t> </a:t>
            </a:r>
            <a:r>
              <a:rPr dirty="0" spc="-10"/>
              <a:t>Course </a:t>
            </a:r>
            <a:r>
              <a:rPr dirty="0"/>
              <a:t>Project</a:t>
            </a:r>
            <a:r>
              <a:rPr dirty="0" spc="135"/>
              <a:t> </a:t>
            </a:r>
            <a:r>
              <a:rPr dirty="0"/>
              <a:t>·</a:t>
            </a:r>
            <a:r>
              <a:rPr dirty="0" spc="140"/>
              <a:t> </a:t>
            </a:r>
            <a:r>
              <a:rPr dirty="0" spc="-20"/>
              <a:t>Team</a:t>
            </a:r>
            <a:r>
              <a:rPr dirty="0" spc="-10"/>
              <a:t> DyoOptix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65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8780" y="244602"/>
            <a:ext cx="110871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E17039"/>
                </a:solidFill>
                <a:latin typeface="Calibri"/>
                <a:cs typeface="Calibri"/>
              </a:rPr>
              <a:t>BLOCK</a:t>
            </a:r>
            <a:r>
              <a:rPr dirty="0" sz="800" spc="-20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E17039"/>
                </a:solidFill>
                <a:latin typeface="Calibri"/>
                <a:cs typeface="Calibri"/>
              </a:rPr>
              <a:t>02</a:t>
            </a:r>
            <a:r>
              <a:rPr dirty="0" sz="800" spc="-1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E17039"/>
                </a:solidFill>
                <a:latin typeface="Calibri"/>
                <a:cs typeface="Calibri"/>
              </a:rPr>
              <a:t>·</a:t>
            </a:r>
            <a:r>
              <a:rPr dirty="0" sz="800" spc="-1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800" spc="-10" b="1">
                <a:solidFill>
                  <a:srgbClr val="E17039"/>
                </a:solidFill>
                <a:latin typeface="Calibri"/>
                <a:cs typeface="Calibri"/>
              </a:rPr>
              <a:t>BACKGROUND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4398" y="507268"/>
            <a:ext cx="158180" cy="158180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Sentence</a:t>
            </a:r>
            <a:r>
              <a:rPr dirty="0" spc="-70"/>
              <a:t> </a:t>
            </a:r>
            <a:r>
              <a:rPr dirty="0" spc="-10"/>
              <a:t>Embeddings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98780" y="929132"/>
            <a:ext cx="3386454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i="1">
                <a:solidFill>
                  <a:srgbClr val="6B7280"/>
                </a:solidFill>
                <a:latin typeface="Calibri"/>
                <a:cs typeface="Calibri"/>
              </a:rPr>
              <a:t>Reimers</a:t>
            </a:r>
            <a:r>
              <a:rPr dirty="0" sz="900" spc="-1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6B7280"/>
                </a:solidFill>
                <a:latin typeface="Calibri"/>
                <a:cs typeface="Calibri"/>
              </a:rPr>
              <a:t>&amp;</a:t>
            </a:r>
            <a:r>
              <a:rPr dirty="0" sz="900" spc="-10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6B7280"/>
                </a:solidFill>
                <a:latin typeface="Calibri"/>
                <a:cs typeface="Calibri"/>
              </a:rPr>
              <a:t>Gurevych,</a:t>
            </a:r>
            <a:r>
              <a:rPr dirty="0" sz="900" spc="-10" i="1">
                <a:solidFill>
                  <a:srgbClr val="6B7280"/>
                </a:solidFill>
                <a:latin typeface="Calibri"/>
                <a:cs typeface="Calibri"/>
              </a:rPr>
              <a:t> Sentence-</a:t>
            </a:r>
            <a:r>
              <a:rPr dirty="0" sz="900" i="1">
                <a:solidFill>
                  <a:srgbClr val="6B7280"/>
                </a:solidFill>
                <a:latin typeface="Calibri"/>
                <a:cs typeface="Calibri"/>
              </a:rPr>
              <a:t>BERT</a:t>
            </a:r>
            <a:r>
              <a:rPr dirty="0" sz="900" spc="-1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6B7280"/>
                </a:solidFill>
                <a:latin typeface="Calibri"/>
                <a:cs typeface="Calibri"/>
              </a:rPr>
              <a:t>—</a:t>
            </a:r>
            <a:r>
              <a:rPr dirty="0" sz="900" spc="-10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6B7280"/>
                </a:solidFill>
                <a:latin typeface="Calibri"/>
                <a:cs typeface="Calibri"/>
              </a:rPr>
              <a:t>EMNLP</a:t>
            </a:r>
            <a:r>
              <a:rPr dirty="0" sz="900" spc="-10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6B7280"/>
                </a:solidFill>
                <a:latin typeface="Calibri"/>
                <a:cs typeface="Calibri"/>
              </a:rPr>
              <a:t>2019</a:t>
            </a:r>
            <a:r>
              <a:rPr dirty="0" sz="900" spc="180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6B7280"/>
                </a:solidFill>
                <a:latin typeface="Calibri"/>
                <a:cs typeface="Calibri"/>
              </a:rPr>
              <a:t>·</a:t>
            </a:r>
            <a:r>
              <a:rPr dirty="0" sz="900" spc="18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10" i="1">
                <a:solidFill>
                  <a:srgbClr val="6B7280"/>
                </a:solidFill>
                <a:latin typeface="Calibri"/>
                <a:cs typeface="Calibri"/>
              </a:rPr>
              <a:t>arXiv:1908.10084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06717" y="1263967"/>
            <a:ext cx="4192904" cy="1998345"/>
            <a:chOff x="406717" y="1263967"/>
            <a:chExt cx="4192904" cy="1998345"/>
          </a:xfrm>
        </p:grpSpPr>
        <p:sp>
          <p:nvSpPr>
            <p:cNvPr id="7" name="object 7"/>
            <p:cNvSpPr/>
            <p:nvPr/>
          </p:nvSpPr>
          <p:spPr>
            <a:xfrm>
              <a:off x="411480" y="1268730"/>
              <a:ext cx="4183379" cy="1988820"/>
            </a:xfrm>
            <a:custGeom>
              <a:avLst/>
              <a:gdLst/>
              <a:ahLst/>
              <a:cxnLst/>
              <a:rect l="l" t="t" r="r" b="b"/>
              <a:pathLst>
                <a:path w="4183379" h="1988820">
                  <a:moveTo>
                    <a:pt x="4142231" y="1988819"/>
                  </a:moveTo>
                  <a:lnTo>
                    <a:pt x="41148" y="1988819"/>
                  </a:lnTo>
                  <a:lnTo>
                    <a:pt x="25131" y="1985586"/>
                  </a:lnTo>
                  <a:lnTo>
                    <a:pt x="12052" y="1976767"/>
                  </a:lnTo>
                  <a:lnTo>
                    <a:pt x="3233" y="1963688"/>
                  </a:lnTo>
                  <a:lnTo>
                    <a:pt x="0" y="1947671"/>
                  </a:lnTo>
                  <a:lnTo>
                    <a:pt x="0" y="41148"/>
                  </a:lnTo>
                  <a:lnTo>
                    <a:pt x="3233" y="25131"/>
                  </a:lnTo>
                  <a:lnTo>
                    <a:pt x="12052" y="12052"/>
                  </a:lnTo>
                  <a:lnTo>
                    <a:pt x="25131" y="3233"/>
                  </a:lnTo>
                  <a:lnTo>
                    <a:pt x="41148" y="0"/>
                  </a:lnTo>
                  <a:lnTo>
                    <a:pt x="4142231" y="0"/>
                  </a:lnTo>
                  <a:lnTo>
                    <a:pt x="4176466" y="18319"/>
                  </a:lnTo>
                  <a:lnTo>
                    <a:pt x="4183379" y="41148"/>
                  </a:lnTo>
                  <a:lnTo>
                    <a:pt x="4183379" y="1947671"/>
                  </a:lnTo>
                  <a:lnTo>
                    <a:pt x="4180146" y="1963688"/>
                  </a:lnTo>
                  <a:lnTo>
                    <a:pt x="4171327" y="1976767"/>
                  </a:lnTo>
                  <a:lnTo>
                    <a:pt x="4158248" y="1985586"/>
                  </a:lnTo>
                  <a:lnTo>
                    <a:pt x="4142231" y="1988819"/>
                  </a:lnTo>
                  <a:close/>
                </a:path>
              </a:pathLst>
            </a:custGeom>
            <a:solidFill>
              <a:srgbClr val="F4F4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11480" y="1268730"/>
              <a:ext cx="4183379" cy="1988820"/>
            </a:xfrm>
            <a:custGeom>
              <a:avLst/>
              <a:gdLst/>
              <a:ahLst/>
              <a:cxnLst/>
              <a:rect l="l" t="t" r="r" b="b"/>
              <a:pathLst>
                <a:path w="4183379" h="1988820">
                  <a:moveTo>
                    <a:pt x="0" y="41148"/>
                  </a:moveTo>
                  <a:lnTo>
                    <a:pt x="3233" y="25131"/>
                  </a:lnTo>
                  <a:lnTo>
                    <a:pt x="12052" y="12052"/>
                  </a:lnTo>
                  <a:lnTo>
                    <a:pt x="25131" y="3233"/>
                  </a:lnTo>
                  <a:lnTo>
                    <a:pt x="41148" y="0"/>
                  </a:lnTo>
                  <a:lnTo>
                    <a:pt x="4142231" y="0"/>
                  </a:lnTo>
                  <a:lnTo>
                    <a:pt x="4176466" y="18319"/>
                  </a:lnTo>
                  <a:lnTo>
                    <a:pt x="4183379" y="41148"/>
                  </a:lnTo>
                  <a:lnTo>
                    <a:pt x="4183379" y="1947671"/>
                  </a:lnTo>
                  <a:lnTo>
                    <a:pt x="4180146" y="1963688"/>
                  </a:lnTo>
                  <a:lnTo>
                    <a:pt x="4171327" y="1976767"/>
                  </a:lnTo>
                  <a:lnTo>
                    <a:pt x="4158248" y="1985586"/>
                  </a:lnTo>
                  <a:lnTo>
                    <a:pt x="4142231" y="1988819"/>
                  </a:lnTo>
                  <a:lnTo>
                    <a:pt x="41148" y="1988819"/>
                  </a:lnTo>
                  <a:lnTo>
                    <a:pt x="25131" y="1985586"/>
                  </a:lnTo>
                  <a:lnTo>
                    <a:pt x="12052" y="1976767"/>
                  </a:lnTo>
                  <a:lnTo>
                    <a:pt x="3233" y="1963688"/>
                  </a:lnTo>
                  <a:lnTo>
                    <a:pt x="0" y="1947671"/>
                  </a:lnTo>
                  <a:lnTo>
                    <a:pt x="0" y="41148"/>
                  </a:lnTo>
                  <a:close/>
                </a:path>
              </a:pathLst>
            </a:custGeom>
            <a:ln w="9524">
              <a:solidFill>
                <a:srgbClr val="E3E4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590804" y="1401064"/>
            <a:ext cx="87185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1A1F2B"/>
                </a:solidFill>
                <a:latin typeface="Calibri"/>
                <a:cs typeface="Calibri"/>
              </a:rPr>
              <a:t>What</a:t>
            </a:r>
            <a:r>
              <a:rPr dirty="0" sz="1000" spc="-35" b="1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1A1F2B"/>
                </a:solidFill>
                <a:latin typeface="Calibri"/>
                <a:cs typeface="Calibri"/>
              </a:rPr>
              <a:t>it</a:t>
            </a:r>
            <a:r>
              <a:rPr dirty="0" sz="1000" spc="-35" b="1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 b="1">
                <a:solidFill>
                  <a:srgbClr val="1A1F2B"/>
                </a:solidFill>
                <a:latin typeface="Calibri"/>
                <a:cs typeface="Calibri"/>
              </a:rPr>
              <a:t>changes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7377" y="1628647"/>
            <a:ext cx="3259454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9715" indent="-247015">
              <a:lnSpc>
                <a:spcPct val="100000"/>
              </a:lnSpc>
              <a:spcBef>
                <a:spcPts val="100"/>
              </a:spcBef>
              <a:buChar char="•"/>
              <a:tabLst>
                <a:tab pos="259715" algn="l"/>
              </a:tabLst>
            </a:pP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Siamese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/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triplet fine-tuning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of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BERT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for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sentence-level similarity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7377" y="1854708"/>
            <a:ext cx="34296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9715" indent="-247015">
              <a:lnSpc>
                <a:spcPct val="100000"/>
              </a:lnSpc>
              <a:spcBef>
                <a:spcPts val="100"/>
              </a:spcBef>
              <a:buChar char="•"/>
              <a:tabLst>
                <a:tab pos="259715" algn="l"/>
              </a:tabLst>
            </a:pP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Mean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pooling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over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token outputs rather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than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a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single sentinel 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token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7377" y="2080767"/>
            <a:ext cx="377571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9715" indent="-247015">
              <a:lnSpc>
                <a:spcPct val="100000"/>
              </a:lnSpc>
              <a:spcBef>
                <a:spcPts val="100"/>
              </a:spcBef>
              <a:buChar char="•"/>
              <a:tabLst>
                <a:tab pos="259715" algn="l"/>
              </a:tabLst>
            </a:pP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SBERT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paper: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NLI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and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semantic-similarity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data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(our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model's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data: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next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slide)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7377" y="2306827"/>
            <a:ext cx="23755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9715" indent="-247015">
              <a:lnSpc>
                <a:spcPct val="100000"/>
              </a:lnSpc>
              <a:spcBef>
                <a:spcPts val="100"/>
              </a:spcBef>
              <a:buChar char="•"/>
              <a:tabLst>
                <a:tab pos="259715" algn="l"/>
              </a:tabLst>
            </a:pP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all-MiniLM-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L6-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v2: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384-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d,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6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layers,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fast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on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1A1F2B"/>
                </a:solidFill>
                <a:latin typeface="Calibri"/>
                <a:cs typeface="Calibri"/>
              </a:rPr>
              <a:t>CPU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795837" y="1263967"/>
            <a:ext cx="3939540" cy="1998345"/>
            <a:chOff x="4795837" y="1263967"/>
            <a:chExt cx="3939540" cy="1998345"/>
          </a:xfrm>
        </p:grpSpPr>
        <p:sp>
          <p:nvSpPr>
            <p:cNvPr id="15" name="object 15"/>
            <p:cNvSpPr/>
            <p:nvPr/>
          </p:nvSpPr>
          <p:spPr>
            <a:xfrm>
              <a:off x="4800600" y="1268730"/>
              <a:ext cx="3930015" cy="1988820"/>
            </a:xfrm>
            <a:custGeom>
              <a:avLst/>
              <a:gdLst/>
              <a:ahLst/>
              <a:cxnLst/>
              <a:rect l="l" t="t" r="r" b="b"/>
              <a:pathLst>
                <a:path w="3930015" h="1988820">
                  <a:moveTo>
                    <a:pt x="3888484" y="1988819"/>
                  </a:moveTo>
                  <a:lnTo>
                    <a:pt x="41148" y="1988819"/>
                  </a:lnTo>
                  <a:lnTo>
                    <a:pt x="25131" y="1985586"/>
                  </a:lnTo>
                  <a:lnTo>
                    <a:pt x="12052" y="1976767"/>
                  </a:lnTo>
                  <a:lnTo>
                    <a:pt x="3233" y="1963688"/>
                  </a:lnTo>
                  <a:lnTo>
                    <a:pt x="0" y="1947671"/>
                  </a:lnTo>
                  <a:lnTo>
                    <a:pt x="0" y="41148"/>
                  </a:lnTo>
                  <a:lnTo>
                    <a:pt x="3233" y="25131"/>
                  </a:lnTo>
                  <a:lnTo>
                    <a:pt x="12052" y="12052"/>
                  </a:lnTo>
                  <a:lnTo>
                    <a:pt x="25131" y="3233"/>
                  </a:lnTo>
                  <a:lnTo>
                    <a:pt x="41148" y="0"/>
                  </a:lnTo>
                  <a:lnTo>
                    <a:pt x="3888484" y="0"/>
                  </a:lnTo>
                  <a:lnTo>
                    <a:pt x="3922720" y="18319"/>
                  </a:lnTo>
                  <a:lnTo>
                    <a:pt x="3929634" y="41148"/>
                  </a:lnTo>
                  <a:lnTo>
                    <a:pt x="3929634" y="1947671"/>
                  </a:lnTo>
                  <a:lnTo>
                    <a:pt x="3926400" y="1963688"/>
                  </a:lnTo>
                  <a:lnTo>
                    <a:pt x="3917581" y="1976767"/>
                  </a:lnTo>
                  <a:lnTo>
                    <a:pt x="3904502" y="1985586"/>
                  </a:lnTo>
                  <a:lnTo>
                    <a:pt x="3888484" y="1988819"/>
                  </a:lnTo>
                  <a:close/>
                </a:path>
              </a:pathLst>
            </a:custGeom>
            <a:solidFill>
              <a:srgbClr val="F6F1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800600" y="1268730"/>
              <a:ext cx="3930015" cy="1988820"/>
            </a:xfrm>
            <a:custGeom>
              <a:avLst/>
              <a:gdLst/>
              <a:ahLst/>
              <a:cxnLst/>
              <a:rect l="l" t="t" r="r" b="b"/>
              <a:pathLst>
                <a:path w="3930015" h="1988820">
                  <a:moveTo>
                    <a:pt x="0" y="41148"/>
                  </a:moveTo>
                  <a:lnTo>
                    <a:pt x="3233" y="25131"/>
                  </a:lnTo>
                  <a:lnTo>
                    <a:pt x="12052" y="12052"/>
                  </a:lnTo>
                  <a:lnTo>
                    <a:pt x="25131" y="3233"/>
                  </a:lnTo>
                  <a:lnTo>
                    <a:pt x="41148" y="0"/>
                  </a:lnTo>
                  <a:lnTo>
                    <a:pt x="3888484" y="0"/>
                  </a:lnTo>
                  <a:lnTo>
                    <a:pt x="3922720" y="18319"/>
                  </a:lnTo>
                  <a:lnTo>
                    <a:pt x="3929634" y="41148"/>
                  </a:lnTo>
                  <a:lnTo>
                    <a:pt x="3929634" y="1947671"/>
                  </a:lnTo>
                  <a:lnTo>
                    <a:pt x="3926400" y="1963688"/>
                  </a:lnTo>
                  <a:lnTo>
                    <a:pt x="3917581" y="1976767"/>
                  </a:lnTo>
                  <a:lnTo>
                    <a:pt x="3904502" y="1985586"/>
                  </a:lnTo>
                  <a:lnTo>
                    <a:pt x="3888484" y="1988819"/>
                  </a:lnTo>
                  <a:lnTo>
                    <a:pt x="41148" y="1988819"/>
                  </a:lnTo>
                  <a:lnTo>
                    <a:pt x="25131" y="1985586"/>
                  </a:lnTo>
                  <a:lnTo>
                    <a:pt x="12052" y="1976767"/>
                  </a:lnTo>
                  <a:lnTo>
                    <a:pt x="3233" y="1963688"/>
                  </a:lnTo>
                  <a:lnTo>
                    <a:pt x="0" y="1947671"/>
                  </a:lnTo>
                  <a:lnTo>
                    <a:pt x="0" y="41148"/>
                  </a:lnTo>
                  <a:close/>
                </a:path>
              </a:pathLst>
            </a:custGeom>
            <a:ln w="9524">
              <a:solidFill>
                <a:srgbClr val="E3E4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4979924" y="1401064"/>
            <a:ext cx="156654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1A1F2B"/>
                </a:solidFill>
                <a:latin typeface="Calibri"/>
                <a:cs typeface="Calibri"/>
              </a:rPr>
              <a:t>Why</a:t>
            </a:r>
            <a:r>
              <a:rPr dirty="0" sz="1000" spc="-20" b="1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 b="1">
                <a:solidFill>
                  <a:srgbClr val="1A1F2B"/>
                </a:solidFill>
                <a:latin typeface="Calibri"/>
                <a:cs typeface="Calibri"/>
              </a:rPr>
              <a:t>include</a:t>
            </a:r>
            <a:r>
              <a:rPr dirty="0" sz="1000" spc="-15" b="1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1A1F2B"/>
                </a:solidFill>
                <a:latin typeface="Calibri"/>
                <a:cs typeface="Calibri"/>
              </a:rPr>
              <a:t>it</a:t>
            </a:r>
            <a:r>
              <a:rPr dirty="0" sz="1000" spc="-15" b="1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 b="1">
                <a:solidFill>
                  <a:srgbClr val="1A1F2B"/>
                </a:solidFill>
                <a:latin typeface="Calibri"/>
                <a:cs typeface="Calibri"/>
              </a:rPr>
              <a:t>alongside</a:t>
            </a:r>
            <a:r>
              <a:rPr dirty="0" sz="1000" spc="-15" b="1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20" b="1">
                <a:solidFill>
                  <a:srgbClr val="1A1F2B"/>
                </a:solidFill>
                <a:latin typeface="Calibri"/>
                <a:cs typeface="Calibri"/>
              </a:rPr>
              <a:t>CLIP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986497" y="1628647"/>
            <a:ext cx="298894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9715" indent="-247015">
              <a:lnSpc>
                <a:spcPct val="100000"/>
              </a:lnSpc>
              <a:spcBef>
                <a:spcPts val="100"/>
              </a:spcBef>
              <a:buChar char="•"/>
              <a:tabLst>
                <a:tab pos="259715" algn="l"/>
              </a:tabLst>
            </a:pPr>
            <a:r>
              <a:rPr dirty="0" sz="900" spc="-30">
                <a:solidFill>
                  <a:srgbClr val="1A1F2B"/>
                </a:solidFill>
                <a:latin typeface="Calibri"/>
                <a:cs typeface="Calibri"/>
              </a:rPr>
              <a:t>Text–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text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contrastive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training,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 vs CLIP's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image–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text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training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986497" y="1854708"/>
            <a:ext cx="335089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9715" indent="-247015">
              <a:lnSpc>
                <a:spcPct val="100000"/>
              </a:lnSpc>
              <a:spcBef>
                <a:spcPts val="100"/>
              </a:spcBef>
              <a:buChar char="•"/>
              <a:tabLst>
                <a:tab pos="259715" algn="l"/>
              </a:tabLst>
            </a:pP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Mean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pooling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may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retain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more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token-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level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detail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than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EOT pooling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986497" y="2080767"/>
            <a:ext cx="28143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9715" indent="-247015">
              <a:lnSpc>
                <a:spcPct val="100000"/>
              </a:lnSpc>
              <a:spcBef>
                <a:spcPts val="100"/>
              </a:spcBef>
              <a:buChar char="•"/>
              <a:tabLst>
                <a:tab pos="259715" algn="l"/>
              </a:tabLst>
            </a:pPr>
            <a:r>
              <a:rPr dirty="0" sz="900" spc="-35">
                <a:solidFill>
                  <a:srgbClr val="1A1F2B"/>
                </a:solidFill>
                <a:latin typeface="Calibri"/>
                <a:cs typeface="Calibri"/>
              </a:rPr>
              <a:t>Text-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only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supervision,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 so no</a:t>
            </a:r>
            <a:r>
              <a:rPr dirty="0" sz="900" spc="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visual-grounding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confound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986497" y="2306827"/>
            <a:ext cx="34740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9715" indent="-247015">
              <a:lnSpc>
                <a:spcPct val="100000"/>
              </a:lnSpc>
              <a:spcBef>
                <a:spcPts val="100"/>
              </a:spcBef>
              <a:buChar char="•"/>
              <a:tabLst>
                <a:tab pos="259715" algn="l"/>
              </a:tabLst>
            </a:pP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If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both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fail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in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same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1A1F2B"/>
                </a:solidFill>
                <a:latin typeface="Calibri"/>
                <a:cs typeface="Calibri"/>
              </a:rPr>
              <a:t>way,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limitation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is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general,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not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CLIP-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specific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05129" y="3559809"/>
            <a:ext cx="8331834" cy="664210"/>
            <a:chOff x="405129" y="3559809"/>
            <a:chExt cx="8331834" cy="664210"/>
          </a:xfrm>
        </p:grpSpPr>
        <p:sp>
          <p:nvSpPr>
            <p:cNvPr id="23" name="object 23"/>
            <p:cNvSpPr/>
            <p:nvPr/>
          </p:nvSpPr>
          <p:spPr>
            <a:xfrm>
              <a:off x="411479" y="3566159"/>
              <a:ext cx="8319134" cy="651510"/>
            </a:xfrm>
            <a:custGeom>
              <a:avLst/>
              <a:gdLst/>
              <a:ahLst/>
              <a:cxnLst/>
              <a:rect l="l" t="t" r="r" b="b"/>
              <a:pathLst>
                <a:path w="8319134" h="651510">
                  <a:moveTo>
                    <a:pt x="8277604" y="651509"/>
                  </a:moveTo>
                  <a:lnTo>
                    <a:pt x="41149" y="651509"/>
                  </a:lnTo>
                  <a:lnTo>
                    <a:pt x="25132" y="648276"/>
                  </a:lnTo>
                  <a:lnTo>
                    <a:pt x="12052" y="639457"/>
                  </a:lnTo>
                  <a:lnTo>
                    <a:pt x="3233" y="626377"/>
                  </a:lnTo>
                  <a:lnTo>
                    <a:pt x="0" y="610360"/>
                  </a:lnTo>
                  <a:lnTo>
                    <a:pt x="0" y="41149"/>
                  </a:lnTo>
                  <a:lnTo>
                    <a:pt x="3233" y="25132"/>
                  </a:lnTo>
                  <a:lnTo>
                    <a:pt x="12052" y="12052"/>
                  </a:lnTo>
                  <a:lnTo>
                    <a:pt x="25132" y="3233"/>
                  </a:lnTo>
                  <a:lnTo>
                    <a:pt x="41149" y="0"/>
                  </a:lnTo>
                  <a:lnTo>
                    <a:pt x="8277604" y="0"/>
                  </a:lnTo>
                  <a:lnTo>
                    <a:pt x="8311840" y="18319"/>
                  </a:lnTo>
                  <a:lnTo>
                    <a:pt x="8318754" y="41149"/>
                  </a:lnTo>
                  <a:lnTo>
                    <a:pt x="8318754" y="610360"/>
                  </a:lnTo>
                  <a:lnTo>
                    <a:pt x="8315520" y="626377"/>
                  </a:lnTo>
                  <a:lnTo>
                    <a:pt x="8306701" y="639457"/>
                  </a:lnTo>
                  <a:lnTo>
                    <a:pt x="8293621" y="648276"/>
                  </a:lnTo>
                  <a:lnTo>
                    <a:pt x="8277604" y="651509"/>
                  </a:lnTo>
                  <a:close/>
                </a:path>
              </a:pathLst>
            </a:custGeom>
            <a:solidFill>
              <a:srgbClr val="FCF1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411479" y="3566159"/>
              <a:ext cx="8319134" cy="651510"/>
            </a:xfrm>
            <a:custGeom>
              <a:avLst/>
              <a:gdLst/>
              <a:ahLst/>
              <a:cxnLst/>
              <a:rect l="l" t="t" r="r" b="b"/>
              <a:pathLst>
                <a:path w="8319134" h="651510">
                  <a:moveTo>
                    <a:pt x="0" y="41149"/>
                  </a:moveTo>
                  <a:lnTo>
                    <a:pt x="3233" y="25132"/>
                  </a:lnTo>
                  <a:lnTo>
                    <a:pt x="12052" y="12052"/>
                  </a:lnTo>
                  <a:lnTo>
                    <a:pt x="25132" y="3233"/>
                  </a:lnTo>
                  <a:lnTo>
                    <a:pt x="41149" y="0"/>
                  </a:lnTo>
                  <a:lnTo>
                    <a:pt x="8277604" y="0"/>
                  </a:lnTo>
                  <a:lnTo>
                    <a:pt x="8311840" y="18319"/>
                  </a:lnTo>
                  <a:lnTo>
                    <a:pt x="8318754" y="41149"/>
                  </a:lnTo>
                  <a:lnTo>
                    <a:pt x="8318754" y="610360"/>
                  </a:lnTo>
                  <a:lnTo>
                    <a:pt x="8315520" y="626377"/>
                  </a:lnTo>
                  <a:lnTo>
                    <a:pt x="8306701" y="639457"/>
                  </a:lnTo>
                  <a:lnTo>
                    <a:pt x="8293621" y="648276"/>
                  </a:lnTo>
                  <a:lnTo>
                    <a:pt x="8277604" y="651509"/>
                  </a:lnTo>
                  <a:lnTo>
                    <a:pt x="41149" y="651509"/>
                  </a:lnTo>
                  <a:lnTo>
                    <a:pt x="25132" y="648276"/>
                  </a:lnTo>
                  <a:lnTo>
                    <a:pt x="12052" y="639457"/>
                  </a:lnTo>
                  <a:lnTo>
                    <a:pt x="3233" y="626377"/>
                  </a:lnTo>
                  <a:lnTo>
                    <a:pt x="0" y="610360"/>
                  </a:lnTo>
                  <a:lnTo>
                    <a:pt x="0" y="41149"/>
                  </a:lnTo>
                  <a:close/>
                </a:path>
              </a:pathLst>
            </a:custGeom>
            <a:ln w="12699">
              <a:solidFill>
                <a:srgbClr val="E1703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549656" y="3721735"/>
            <a:ext cx="7919084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E17039"/>
                </a:solidFill>
                <a:latin typeface="Calibri"/>
                <a:cs typeface="Calibri"/>
              </a:rPr>
              <a:t>What</a:t>
            </a:r>
            <a:r>
              <a:rPr dirty="0" sz="900" spc="-20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E17039"/>
                </a:solidFill>
                <a:latin typeface="Calibri"/>
                <a:cs typeface="Calibri"/>
              </a:rPr>
              <a:t>we</a:t>
            </a:r>
            <a:r>
              <a:rPr dirty="0" sz="900" spc="-1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900" spc="-10" b="1">
                <a:solidFill>
                  <a:srgbClr val="E17039"/>
                </a:solidFill>
                <a:latin typeface="Calibri"/>
                <a:cs typeface="Calibri"/>
              </a:rPr>
              <a:t>take</a:t>
            </a:r>
            <a:r>
              <a:rPr dirty="0" sz="900" spc="-1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900" spc="-10" b="1">
                <a:solidFill>
                  <a:srgbClr val="E17039"/>
                </a:solidFill>
                <a:latin typeface="Calibri"/>
                <a:cs typeface="Calibri"/>
              </a:rPr>
              <a:t>from</a:t>
            </a:r>
            <a:r>
              <a:rPr dirty="0" sz="900" spc="-1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E17039"/>
                </a:solidFill>
                <a:latin typeface="Calibri"/>
                <a:cs typeface="Calibri"/>
              </a:rPr>
              <a:t>it</a:t>
            </a:r>
            <a:r>
              <a:rPr dirty="0" sz="900" spc="370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A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second</a:t>
            </a:r>
            <a:r>
              <a:rPr dirty="0" sz="10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frozen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baseline.</a:t>
            </a:r>
            <a:r>
              <a:rPr dirty="0" sz="10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If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both</a:t>
            </a:r>
            <a:r>
              <a:rPr dirty="0" sz="10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encoders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fail</a:t>
            </a:r>
            <a:r>
              <a:rPr dirty="0" sz="10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in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10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same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25">
                <a:solidFill>
                  <a:srgbClr val="1A1F2B"/>
                </a:solidFill>
                <a:latin typeface="Calibri"/>
                <a:cs typeface="Calibri"/>
              </a:rPr>
              <a:t>way,</a:t>
            </a:r>
            <a:r>
              <a:rPr dirty="0" sz="10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limitation</a:t>
            </a:r>
            <a:r>
              <a:rPr dirty="0" sz="10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is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general</a:t>
            </a:r>
            <a:r>
              <a:rPr dirty="0" sz="10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to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similarity-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trained</a:t>
            </a:r>
            <a:r>
              <a:rPr dirty="0" sz="10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embeddings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rather</a:t>
            </a:r>
            <a:r>
              <a:rPr dirty="0" sz="10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than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specific</a:t>
            </a:r>
            <a:r>
              <a:rPr dirty="0" sz="1000" spc="-3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to</a:t>
            </a:r>
            <a:r>
              <a:rPr dirty="0" sz="1000" spc="-3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CLIP.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65"/>
              </a:lnSpc>
            </a:pPr>
            <a:r>
              <a:rPr dirty="0"/>
              <a:t>IE</a:t>
            </a:r>
            <a:r>
              <a:rPr dirty="0" spc="-15"/>
              <a:t> </a:t>
            </a:r>
            <a:r>
              <a:rPr dirty="0"/>
              <a:t>643</a:t>
            </a:r>
            <a:r>
              <a:rPr dirty="0" spc="-15"/>
              <a:t> </a:t>
            </a:r>
            <a:r>
              <a:rPr dirty="0" spc="-10"/>
              <a:t>Course </a:t>
            </a:r>
            <a:r>
              <a:rPr dirty="0"/>
              <a:t>Project</a:t>
            </a:r>
            <a:r>
              <a:rPr dirty="0" spc="135"/>
              <a:t> </a:t>
            </a:r>
            <a:r>
              <a:rPr dirty="0"/>
              <a:t>·</a:t>
            </a:r>
            <a:r>
              <a:rPr dirty="0" spc="140"/>
              <a:t> </a:t>
            </a:r>
            <a:r>
              <a:rPr dirty="0" spc="-20"/>
              <a:t>Team</a:t>
            </a:r>
            <a:r>
              <a:rPr dirty="0" spc="-10"/>
              <a:t> DyoOptix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65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8780" y="244602"/>
            <a:ext cx="110871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E17039"/>
                </a:solidFill>
                <a:latin typeface="Calibri"/>
                <a:cs typeface="Calibri"/>
              </a:rPr>
              <a:t>BLOCK</a:t>
            </a:r>
            <a:r>
              <a:rPr dirty="0" sz="800" spc="-20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E17039"/>
                </a:solidFill>
                <a:latin typeface="Calibri"/>
                <a:cs typeface="Calibri"/>
              </a:rPr>
              <a:t>02</a:t>
            </a:r>
            <a:r>
              <a:rPr dirty="0" sz="800" spc="-1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E17039"/>
                </a:solidFill>
                <a:latin typeface="Calibri"/>
                <a:cs typeface="Calibri"/>
              </a:rPr>
              <a:t>·</a:t>
            </a:r>
            <a:r>
              <a:rPr dirty="0" sz="800" spc="-1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800" spc="-10" b="1">
                <a:solidFill>
                  <a:srgbClr val="E17039"/>
                </a:solidFill>
                <a:latin typeface="Calibri"/>
                <a:cs typeface="Calibri"/>
              </a:rPr>
              <a:t>BACKGROUND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4398" y="507268"/>
            <a:ext cx="158180" cy="158180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0"/>
              <a:t>Pre-</a:t>
            </a:r>
            <a:r>
              <a:rPr dirty="0" spc="-10"/>
              <a:t>trained</a:t>
            </a:r>
            <a:r>
              <a:rPr dirty="0" spc="-65"/>
              <a:t> </a:t>
            </a:r>
            <a:r>
              <a:rPr dirty="0"/>
              <a:t>Models</a:t>
            </a:r>
            <a:r>
              <a:rPr dirty="0" spc="-60"/>
              <a:t> </a:t>
            </a:r>
            <a:r>
              <a:rPr dirty="0"/>
              <a:t>&amp;</a:t>
            </a:r>
            <a:r>
              <a:rPr dirty="0" spc="-65"/>
              <a:t> </a:t>
            </a:r>
            <a:r>
              <a:rPr dirty="0"/>
              <a:t>Their</a:t>
            </a:r>
            <a:r>
              <a:rPr dirty="0" spc="-60"/>
              <a:t> </a:t>
            </a:r>
            <a:r>
              <a:rPr dirty="0" spc="-20"/>
              <a:t>Training</a:t>
            </a:r>
            <a:r>
              <a:rPr dirty="0" spc="-70"/>
              <a:t> </a:t>
            </a:r>
            <a:r>
              <a:rPr dirty="0" spc="-20"/>
              <a:t>Data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98780" y="949705"/>
            <a:ext cx="44767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For</a:t>
            </a:r>
            <a:r>
              <a:rPr dirty="0" sz="900" spc="-1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each</a:t>
            </a:r>
            <a:r>
              <a:rPr dirty="0" sz="900" spc="-1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pre-trained</a:t>
            </a:r>
            <a:r>
              <a:rPr dirty="0" sz="900" spc="-1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encoder:</a:t>
            </a:r>
            <a:r>
              <a:rPr dirty="0" sz="900" spc="-2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what</a:t>
            </a:r>
            <a:r>
              <a:rPr dirty="0" sz="900" spc="-1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it</a:t>
            </a:r>
            <a:r>
              <a:rPr dirty="0" sz="900" spc="-1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was</a:t>
            </a:r>
            <a:r>
              <a:rPr dirty="0" sz="900" spc="-1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originally</a:t>
            </a:r>
            <a:r>
              <a:rPr dirty="0" sz="900" spc="-1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trained</a:t>
            </a:r>
            <a:r>
              <a:rPr dirty="0" sz="900" spc="-1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on,</a:t>
            </a:r>
            <a:r>
              <a:rPr dirty="0" sz="900" spc="-1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and</a:t>
            </a:r>
            <a:r>
              <a:rPr dirty="0" sz="900" spc="-1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how</a:t>
            </a:r>
            <a:r>
              <a:rPr dirty="0" sz="900" spc="-1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we</a:t>
            </a:r>
            <a:r>
              <a:rPr dirty="0" sz="900" spc="-1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apply</a:t>
            </a:r>
            <a:r>
              <a:rPr dirty="0" sz="900" spc="-1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it</a:t>
            </a:r>
            <a:r>
              <a:rPr dirty="0" sz="900" spc="-1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to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our</a:t>
            </a:r>
            <a:r>
              <a:rPr dirty="0" sz="900" spc="-1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data.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06717" y="1229677"/>
            <a:ext cx="4032250" cy="2341245"/>
            <a:chOff x="406717" y="1229677"/>
            <a:chExt cx="4032250" cy="2341245"/>
          </a:xfrm>
        </p:grpSpPr>
        <p:sp>
          <p:nvSpPr>
            <p:cNvPr id="7" name="object 7"/>
            <p:cNvSpPr/>
            <p:nvPr/>
          </p:nvSpPr>
          <p:spPr>
            <a:xfrm>
              <a:off x="411480" y="1234439"/>
              <a:ext cx="4022725" cy="2331720"/>
            </a:xfrm>
            <a:custGeom>
              <a:avLst/>
              <a:gdLst/>
              <a:ahLst/>
              <a:cxnLst/>
              <a:rect l="l" t="t" r="r" b="b"/>
              <a:pathLst>
                <a:path w="4022725" h="2331720">
                  <a:moveTo>
                    <a:pt x="3981062" y="2331719"/>
                  </a:moveTo>
                  <a:lnTo>
                    <a:pt x="41154" y="2331719"/>
                  </a:lnTo>
                  <a:lnTo>
                    <a:pt x="25135" y="2328485"/>
                  </a:lnTo>
                  <a:lnTo>
                    <a:pt x="12053" y="2319666"/>
                  </a:lnTo>
                  <a:lnTo>
                    <a:pt x="3234" y="2306584"/>
                  </a:lnTo>
                  <a:lnTo>
                    <a:pt x="0" y="2290564"/>
                  </a:lnTo>
                  <a:lnTo>
                    <a:pt x="0" y="41154"/>
                  </a:lnTo>
                  <a:lnTo>
                    <a:pt x="3234" y="25135"/>
                  </a:lnTo>
                  <a:lnTo>
                    <a:pt x="12053" y="12053"/>
                  </a:lnTo>
                  <a:lnTo>
                    <a:pt x="25135" y="3234"/>
                  </a:lnTo>
                  <a:lnTo>
                    <a:pt x="41154" y="0"/>
                  </a:lnTo>
                  <a:lnTo>
                    <a:pt x="3981062" y="0"/>
                  </a:lnTo>
                  <a:lnTo>
                    <a:pt x="4015302" y="18322"/>
                  </a:lnTo>
                  <a:lnTo>
                    <a:pt x="4022216" y="41154"/>
                  </a:lnTo>
                  <a:lnTo>
                    <a:pt x="4022216" y="2290564"/>
                  </a:lnTo>
                  <a:lnTo>
                    <a:pt x="4018982" y="2306584"/>
                  </a:lnTo>
                  <a:lnTo>
                    <a:pt x="4010163" y="2319666"/>
                  </a:lnTo>
                  <a:lnTo>
                    <a:pt x="3997081" y="2328485"/>
                  </a:lnTo>
                  <a:lnTo>
                    <a:pt x="3981062" y="2331719"/>
                  </a:lnTo>
                  <a:close/>
                </a:path>
              </a:pathLst>
            </a:custGeom>
            <a:solidFill>
              <a:srgbClr val="F4F4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11480" y="1234439"/>
              <a:ext cx="4022725" cy="2331720"/>
            </a:xfrm>
            <a:custGeom>
              <a:avLst/>
              <a:gdLst/>
              <a:ahLst/>
              <a:cxnLst/>
              <a:rect l="l" t="t" r="r" b="b"/>
              <a:pathLst>
                <a:path w="4022725" h="2331720">
                  <a:moveTo>
                    <a:pt x="0" y="41154"/>
                  </a:moveTo>
                  <a:lnTo>
                    <a:pt x="3234" y="25135"/>
                  </a:lnTo>
                  <a:lnTo>
                    <a:pt x="12053" y="12053"/>
                  </a:lnTo>
                  <a:lnTo>
                    <a:pt x="25135" y="3234"/>
                  </a:lnTo>
                  <a:lnTo>
                    <a:pt x="41154" y="0"/>
                  </a:lnTo>
                  <a:lnTo>
                    <a:pt x="3981062" y="0"/>
                  </a:lnTo>
                  <a:lnTo>
                    <a:pt x="4015302" y="18322"/>
                  </a:lnTo>
                  <a:lnTo>
                    <a:pt x="4022216" y="41154"/>
                  </a:lnTo>
                  <a:lnTo>
                    <a:pt x="4022216" y="2290564"/>
                  </a:lnTo>
                  <a:lnTo>
                    <a:pt x="4018982" y="2306584"/>
                  </a:lnTo>
                  <a:lnTo>
                    <a:pt x="4010163" y="2319666"/>
                  </a:lnTo>
                  <a:lnTo>
                    <a:pt x="3997081" y="2328485"/>
                  </a:lnTo>
                  <a:lnTo>
                    <a:pt x="3981062" y="2331719"/>
                  </a:lnTo>
                  <a:lnTo>
                    <a:pt x="41154" y="2331719"/>
                  </a:lnTo>
                  <a:lnTo>
                    <a:pt x="25135" y="2328485"/>
                  </a:lnTo>
                  <a:lnTo>
                    <a:pt x="12053" y="2319666"/>
                  </a:lnTo>
                  <a:lnTo>
                    <a:pt x="3234" y="2306584"/>
                  </a:lnTo>
                  <a:lnTo>
                    <a:pt x="0" y="2290564"/>
                  </a:lnTo>
                  <a:lnTo>
                    <a:pt x="0" y="41154"/>
                  </a:lnTo>
                  <a:close/>
                </a:path>
              </a:pathLst>
            </a:custGeom>
            <a:ln w="9524">
              <a:solidFill>
                <a:srgbClr val="E3E4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590804" y="1268443"/>
            <a:ext cx="1721485" cy="447675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1100" b="1">
                <a:solidFill>
                  <a:srgbClr val="1A1F2B"/>
                </a:solidFill>
                <a:latin typeface="Calibri"/>
                <a:cs typeface="Calibri"/>
              </a:rPr>
              <a:t>CLIP</a:t>
            </a:r>
            <a:r>
              <a:rPr dirty="0" sz="1100" spc="-30" b="1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100" spc="-35" b="1">
                <a:solidFill>
                  <a:srgbClr val="1A1F2B"/>
                </a:solidFill>
                <a:latin typeface="Calibri"/>
                <a:cs typeface="Calibri"/>
              </a:rPr>
              <a:t>ViT-</a:t>
            </a:r>
            <a:r>
              <a:rPr dirty="0" sz="1100" b="1">
                <a:solidFill>
                  <a:srgbClr val="1A1F2B"/>
                </a:solidFill>
                <a:latin typeface="Calibri"/>
                <a:cs typeface="Calibri"/>
              </a:rPr>
              <a:t>B/32</a:t>
            </a:r>
            <a:r>
              <a:rPr dirty="0" sz="1100" spc="-25" b="1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A1F2B"/>
                </a:solidFill>
                <a:latin typeface="Calibri"/>
                <a:cs typeface="Calibri"/>
              </a:rPr>
              <a:t>—</a:t>
            </a:r>
            <a:r>
              <a:rPr dirty="0" sz="1100" spc="-30" b="1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A1F2B"/>
                </a:solidFill>
                <a:latin typeface="Calibri"/>
                <a:cs typeface="Calibri"/>
              </a:rPr>
              <a:t>text</a:t>
            </a:r>
            <a:r>
              <a:rPr dirty="0" sz="1100" spc="-25" b="1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1A1F2B"/>
                </a:solidFill>
                <a:latin typeface="Calibri"/>
                <a:cs typeface="Calibri"/>
              </a:rPr>
              <a:t>encoder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OpenCLIP</a:t>
            </a:r>
            <a:r>
              <a:rPr dirty="0" sz="800" spc="2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weights</a:t>
            </a:r>
            <a:r>
              <a:rPr dirty="0" sz="800" spc="2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6B7280"/>
                </a:solidFill>
                <a:latin typeface="Calibri"/>
                <a:cs typeface="Calibri"/>
              </a:rPr>
              <a:t>·</a:t>
            </a:r>
            <a:r>
              <a:rPr dirty="0" sz="800" spc="2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laion2B-s34B-</a:t>
            </a:r>
            <a:r>
              <a:rPr dirty="0" sz="800" spc="-20" i="1">
                <a:solidFill>
                  <a:srgbClr val="6B7280"/>
                </a:solidFill>
                <a:latin typeface="Calibri"/>
                <a:cs typeface="Calibri"/>
              </a:rPr>
              <a:t>b79K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0804" y="1821180"/>
            <a:ext cx="88963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 b="1">
                <a:solidFill>
                  <a:srgbClr val="2E6171"/>
                </a:solidFill>
                <a:latin typeface="Calibri"/>
                <a:cs typeface="Calibri"/>
              </a:rPr>
              <a:t>Originally</a:t>
            </a:r>
            <a:r>
              <a:rPr dirty="0" sz="800" spc="15" b="1">
                <a:solidFill>
                  <a:srgbClr val="2E6171"/>
                </a:solidFill>
                <a:latin typeface="Calibri"/>
                <a:cs typeface="Calibri"/>
              </a:rPr>
              <a:t> </a:t>
            </a:r>
            <a:r>
              <a:rPr dirty="0" sz="800" spc="-10" b="1">
                <a:solidFill>
                  <a:srgbClr val="2E6171"/>
                </a:solidFill>
                <a:latin typeface="Calibri"/>
                <a:cs typeface="Calibri"/>
              </a:rPr>
              <a:t>trained</a:t>
            </a:r>
            <a:r>
              <a:rPr dirty="0" sz="800" spc="15" b="1">
                <a:solidFill>
                  <a:srgbClr val="2E6171"/>
                </a:solidFill>
                <a:latin typeface="Calibri"/>
                <a:cs typeface="Calibri"/>
              </a:rPr>
              <a:t> </a:t>
            </a:r>
            <a:r>
              <a:rPr dirty="0" sz="800" spc="-25" b="1">
                <a:solidFill>
                  <a:srgbClr val="2E6171"/>
                </a:solidFill>
                <a:latin typeface="Calibri"/>
                <a:cs typeface="Calibri"/>
              </a:rPr>
              <a:t>on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33220" y="1821180"/>
            <a:ext cx="25996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LAION-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2B:</a:t>
            </a:r>
            <a:r>
              <a:rPr dirty="0" sz="8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~2</a:t>
            </a:r>
            <a:r>
              <a:rPr dirty="0" sz="8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billion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English</a:t>
            </a:r>
            <a:r>
              <a:rPr dirty="0" sz="8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image–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text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pairs</a:t>
            </a:r>
            <a:r>
              <a:rPr dirty="0" sz="8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crawled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from</a:t>
            </a:r>
            <a:r>
              <a:rPr dirty="0" sz="8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25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800" spc="50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web.</a:t>
            </a:r>
            <a:r>
              <a:rPr dirty="0" sz="8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(The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CLIP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paper's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model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used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400M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pairs;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we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25">
                <a:solidFill>
                  <a:srgbClr val="1A1F2B"/>
                </a:solidFill>
                <a:latin typeface="Calibri"/>
                <a:cs typeface="Calibri"/>
              </a:rPr>
              <a:t>use</a:t>
            </a:r>
            <a:r>
              <a:rPr dirty="0" sz="800" spc="50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OpenCLIP's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open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 reproduction.)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0804" y="2589276"/>
            <a:ext cx="42672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 b="1">
                <a:solidFill>
                  <a:srgbClr val="2E6171"/>
                </a:solidFill>
                <a:latin typeface="Calibri"/>
                <a:cs typeface="Calibri"/>
              </a:rPr>
              <a:t>Objective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33220" y="2589276"/>
            <a:ext cx="109918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Contrastive,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image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Microsoft Sans Serif"/>
                <a:cs typeface="Microsoft Sans Serif"/>
              </a:rPr>
              <a:t>↔</a:t>
            </a:r>
            <a:r>
              <a:rPr dirty="0" sz="800" spc="-30">
                <a:solidFill>
                  <a:srgbClr val="1A1F2B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20">
                <a:solidFill>
                  <a:srgbClr val="1A1F2B"/>
                </a:solidFill>
                <a:latin typeface="Calibri"/>
                <a:cs typeface="Calibri"/>
              </a:rPr>
              <a:t>text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90804" y="2966466"/>
            <a:ext cx="62103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2E6171"/>
                </a:solidFill>
                <a:latin typeface="Calibri"/>
                <a:cs typeface="Calibri"/>
              </a:rPr>
              <a:t>How</a:t>
            </a:r>
            <a:r>
              <a:rPr dirty="0" sz="800" spc="-20" b="1">
                <a:solidFill>
                  <a:srgbClr val="2E6171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2E6171"/>
                </a:solidFill>
                <a:latin typeface="Calibri"/>
                <a:cs typeface="Calibri"/>
              </a:rPr>
              <a:t>we</a:t>
            </a:r>
            <a:r>
              <a:rPr dirty="0" sz="800" spc="-15" b="1">
                <a:solidFill>
                  <a:srgbClr val="2E6171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2E6171"/>
                </a:solidFill>
                <a:latin typeface="Calibri"/>
                <a:cs typeface="Calibri"/>
              </a:rPr>
              <a:t>use</a:t>
            </a:r>
            <a:r>
              <a:rPr dirty="0" sz="800" spc="-15" b="1">
                <a:solidFill>
                  <a:srgbClr val="2E6171"/>
                </a:solidFill>
                <a:latin typeface="Calibri"/>
                <a:cs typeface="Calibri"/>
              </a:rPr>
              <a:t> </a:t>
            </a:r>
            <a:r>
              <a:rPr dirty="0" sz="800" spc="-25" b="1">
                <a:solidFill>
                  <a:srgbClr val="2E6171"/>
                </a:solidFill>
                <a:latin typeface="Calibri"/>
                <a:cs typeface="Calibri"/>
              </a:rPr>
              <a:t>it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33220" y="2966466"/>
            <a:ext cx="243649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Frozen: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each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 instruction </a:t>
            </a:r>
            <a:r>
              <a:rPr dirty="0" sz="800">
                <a:solidFill>
                  <a:srgbClr val="1A1F2B"/>
                </a:solidFill>
                <a:latin typeface="Microsoft Sans Serif"/>
                <a:cs typeface="Microsoft Sans Serif"/>
              </a:rPr>
              <a:t>→</a:t>
            </a:r>
            <a:r>
              <a:rPr dirty="0" sz="800" spc="-45">
                <a:solidFill>
                  <a:srgbClr val="1A1F2B"/>
                </a:solidFill>
                <a:latin typeface="Microsoft Sans Serif"/>
                <a:cs typeface="Microsoft Sans Serif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one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 512-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d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vector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Microsoft Sans Serif"/>
                <a:cs typeface="Microsoft Sans Serif"/>
              </a:rPr>
              <a:t>→</a:t>
            </a:r>
            <a:r>
              <a:rPr dirty="0" sz="800" spc="-40">
                <a:solidFill>
                  <a:srgbClr val="1A1F2B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regression</a:t>
            </a:r>
            <a:r>
              <a:rPr dirty="0" sz="800" spc="50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1A1F2B"/>
                </a:solidFill>
                <a:latin typeface="Calibri"/>
                <a:cs typeface="Calibri"/>
              </a:rPr>
              <a:t>head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703254" y="1229677"/>
            <a:ext cx="4032250" cy="2341245"/>
            <a:chOff x="4703254" y="1229677"/>
            <a:chExt cx="4032250" cy="2341245"/>
          </a:xfrm>
        </p:grpSpPr>
        <p:sp>
          <p:nvSpPr>
            <p:cNvPr id="17" name="object 17"/>
            <p:cNvSpPr/>
            <p:nvPr/>
          </p:nvSpPr>
          <p:spPr>
            <a:xfrm>
              <a:off x="4708017" y="1234439"/>
              <a:ext cx="4022725" cy="2331720"/>
            </a:xfrm>
            <a:custGeom>
              <a:avLst/>
              <a:gdLst/>
              <a:ahLst/>
              <a:cxnLst/>
              <a:rect l="l" t="t" r="r" b="b"/>
              <a:pathLst>
                <a:path w="4022725" h="2331720">
                  <a:moveTo>
                    <a:pt x="3981061" y="2331719"/>
                  </a:moveTo>
                  <a:lnTo>
                    <a:pt x="41154" y="2331719"/>
                  </a:lnTo>
                  <a:lnTo>
                    <a:pt x="25135" y="2328485"/>
                  </a:lnTo>
                  <a:lnTo>
                    <a:pt x="12053" y="2319666"/>
                  </a:lnTo>
                  <a:lnTo>
                    <a:pt x="3234" y="2306584"/>
                  </a:lnTo>
                  <a:lnTo>
                    <a:pt x="0" y="2290564"/>
                  </a:lnTo>
                  <a:lnTo>
                    <a:pt x="0" y="41154"/>
                  </a:lnTo>
                  <a:lnTo>
                    <a:pt x="3234" y="25135"/>
                  </a:lnTo>
                  <a:lnTo>
                    <a:pt x="12053" y="12053"/>
                  </a:lnTo>
                  <a:lnTo>
                    <a:pt x="25135" y="3234"/>
                  </a:lnTo>
                  <a:lnTo>
                    <a:pt x="41154" y="0"/>
                  </a:lnTo>
                  <a:lnTo>
                    <a:pt x="3981061" y="0"/>
                  </a:lnTo>
                  <a:lnTo>
                    <a:pt x="4015302" y="18322"/>
                  </a:lnTo>
                  <a:lnTo>
                    <a:pt x="4022217" y="41154"/>
                  </a:lnTo>
                  <a:lnTo>
                    <a:pt x="4022217" y="2290564"/>
                  </a:lnTo>
                  <a:lnTo>
                    <a:pt x="4018983" y="2306584"/>
                  </a:lnTo>
                  <a:lnTo>
                    <a:pt x="4010163" y="2319666"/>
                  </a:lnTo>
                  <a:lnTo>
                    <a:pt x="3997081" y="2328485"/>
                  </a:lnTo>
                  <a:lnTo>
                    <a:pt x="3981061" y="2331719"/>
                  </a:lnTo>
                  <a:close/>
                </a:path>
              </a:pathLst>
            </a:custGeom>
            <a:solidFill>
              <a:srgbClr val="F4F4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708017" y="1234439"/>
              <a:ext cx="4022725" cy="2331720"/>
            </a:xfrm>
            <a:custGeom>
              <a:avLst/>
              <a:gdLst/>
              <a:ahLst/>
              <a:cxnLst/>
              <a:rect l="l" t="t" r="r" b="b"/>
              <a:pathLst>
                <a:path w="4022725" h="2331720">
                  <a:moveTo>
                    <a:pt x="0" y="41154"/>
                  </a:moveTo>
                  <a:lnTo>
                    <a:pt x="3234" y="25135"/>
                  </a:lnTo>
                  <a:lnTo>
                    <a:pt x="12053" y="12053"/>
                  </a:lnTo>
                  <a:lnTo>
                    <a:pt x="25135" y="3234"/>
                  </a:lnTo>
                  <a:lnTo>
                    <a:pt x="41154" y="0"/>
                  </a:lnTo>
                  <a:lnTo>
                    <a:pt x="3981061" y="0"/>
                  </a:lnTo>
                  <a:lnTo>
                    <a:pt x="4015302" y="18322"/>
                  </a:lnTo>
                  <a:lnTo>
                    <a:pt x="4022217" y="41154"/>
                  </a:lnTo>
                  <a:lnTo>
                    <a:pt x="4022217" y="2290564"/>
                  </a:lnTo>
                  <a:lnTo>
                    <a:pt x="4018983" y="2306584"/>
                  </a:lnTo>
                  <a:lnTo>
                    <a:pt x="4010163" y="2319666"/>
                  </a:lnTo>
                  <a:lnTo>
                    <a:pt x="3997081" y="2328485"/>
                  </a:lnTo>
                  <a:lnTo>
                    <a:pt x="3981061" y="2331719"/>
                  </a:lnTo>
                  <a:lnTo>
                    <a:pt x="41154" y="2331719"/>
                  </a:lnTo>
                  <a:lnTo>
                    <a:pt x="25135" y="2328485"/>
                  </a:lnTo>
                  <a:lnTo>
                    <a:pt x="12053" y="2319666"/>
                  </a:lnTo>
                  <a:lnTo>
                    <a:pt x="3234" y="2306584"/>
                  </a:lnTo>
                  <a:lnTo>
                    <a:pt x="0" y="2290564"/>
                  </a:lnTo>
                  <a:lnTo>
                    <a:pt x="0" y="41154"/>
                  </a:lnTo>
                  <a:close/>
                </a:path>
              </a:pathLst>
            </a:custGeom>
            <a:ln w="9524">
              <a:solidFill>
                <a:srgbClr val="E3E4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4887341" y="1268443"/>
            <a:ext cx="1003935" cy="447675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1100" spc="-10" b="1">
                <a:solidFill>
                  <a:srgbClr val="1A1F2B"/>
                </a:solidFill>
                <a:latin typeface="Calibri"/>
                <a:cs typeface="Calibri"/>
              </a:rPr>
              <a:t>all-</a:t>
            </a:r>
            <a:r>
              <a:rPr dirty="0" sz="1100" spc="-20" b="1">
                <a:solidFill>
                  <a:srgbClr val="1A1F2B"/>
                </a:solidFill>
                <a:latin typeface="Calibri"/>
                <a:cs typeface="Calibri"/>
              </a:rPr>
              <a:t>MiniLM-L6-</a:t>
            </a:r>
            <a:r>
              <a:rPr dirty="0" sz="1100" spc="-25" b="1">
                <a:solidFill>
                  <a:srgbClr val="1A1F2B"/>
                </a:solidFill>
                <a:latin typeface="Calibri"/>
                <a:cs typeface="Calibri"/>
              </a:rPr>
              <a:t>v2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sentence-transformers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887341" y="1821180"/>
            <a:ext cx="88963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 b="1">
                <a:solidFill>
                  <a:srgbClr val="2E6171"/>
                </a:solidFill>
                <a:latin typeface="Calibri"/>
                <a:cs typeface="Calibri"/>
              </a:rPr>
              <a:t>Originally</a:t>
            </a:r>
            <a:r>
              <a:rPr dirty="0" sz="800" spc="15" b="1">
                <a:solidFill>
                  <a:srgbClr val="2E6171"/>
                </a:solidFill>
                <a:latin typeface="Calibri"/>
                <a:cs typeface="Calibri"/>
              </a:rPr>
              <a:t> </a:t>
            </a:r>
            <a:r>
              <a:rPr dirty="0" sz="800" spc="-10" b="1">
                <a:solidFill>
                  <a:srgbClr val="2E6171"/>
                </a:solidFill>
                <a:latin typeface="Calibri"/>
                <a:cs typeface="Calibri"/>
              </a:rPr>
              <a:t>trained</a:t>
            </a:r>
            <a:r>
              <a:rPr dirty="0" sz="800" spc="15" b="1">
                <a:solidFill>
                  <a:srgbClr val="2E6171"/>
                </a:solidFill>
                <a:latin typeface="Calibri"/>
                <a:cs typeface="Calibri"/>
              </a:rPr>
              <a:t> </a:t>
            </a:r>
            <a:r>
              <a:rPr dirty="0" sz="800" spc="-25" b="1">
                <a:solidFill>
                  <a:srgbClr val="2E6171"/>
                </a:solidFill>
                <a:latin typeface="Calibri"/>
                <a:cs typeface="Calibri"/>
              </a:rPr>
              <a:t>on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929757" y="1821180"/>
            <a:ext cx="253174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MiniLM-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L6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base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model, fine-tuned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on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over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1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 billion sentence</a:t>
            </a:r>
            <a:r>
              <a:rPr dirty="0" sz="800" spc="50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pairs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from</a:t>
            </a:r>
            <a:r>
              <a:rPr dirty="0" sz="800" spc="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multiple</a:t>
            </a:r>
            <a:r>
              <a:rPr dirty="0" sz="800" spc="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concatenated</a:t>
            </a:r>
            <a:r>
              <a:rPr dirty="0" sz="800" spc="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datasets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887341" y="2589276"/>
            <a:ext cx="42672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 b="1">
                <a:solidFill>
                  <a:srgbClr val="2E6171"/>
                </a:solidFill>
                <a:latin typeface="Calibri"/>
                <a:cs typeface="Calibri"/>
              </a:rPr>
              <a:t>Objective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929757" y="2589276"/>
            <a:ext cx="242570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Contrastive,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text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Microsoft Sans Serif"/>
                <a:cs typeface="Microsoft Sans Serif"/>
              </a:rPr>
              <a:t>↔</a:t>
            </a:r>
            <a:r>
              <a:rPr dirty="0" sz="800" spc="-45">
                <a:solidFill>
                  <a:srgbClr val="1A1F2B"/>
                </a:solidFill>
                <a:latin typeface="Microsoft Sans Serif"/>
                <a:cs typeface="Microsoft Sans Serif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text: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find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each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sentence's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true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 partner</a:t>
            </a:r>
            <a:r>
              <a:rPr dirty="0" sz="800" spc="50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within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 batch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887341" y="2966466"/>
            <a:ext cx="62103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2E6171"/>
                </a:solidFill>
                <a:latin typeface="Calibri"/>
                <a:cs typeface="Calibri"/>
              </a:rPr>
              <a:t>How</a:t>
            </a:r>
            <a:r>
              <a:rPr dirty="0" sz="800" spc="-20" b="1">
                <a:solidFill>
                  <a:srgbClr val="2E6171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2E6171"/>
                </a:solidFill>
                <a:latin typeface="Calibri"/>
                <a:cs typeface="Calibri"/>
              </a:rPr>
              <a:t>we</a:t>
            </a:r>
            <a:r>
              <a:rPr dirty="0" sz="800" spc="-15" b="1">
                <a:solidFill>
                  <a:srgbClr val="2E6171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2E6171"/>
                </a:solidFill>
                <a:latin typeface="Calibri"/>
                <a:cs typeface="Calibri"/>
              </a:rPr>
              <a:t>use</a:t>
            </a:r>
            <a:r>
              <a:rPr dirty="0" sz="800" spc="-15" b="1">
                <a:solidFill>
                  <a:srgbClr val="2E6171"/>
                </a:solidFill>
                <a:latin typeface="Calibri"/>
                <a:cs typeface="Calibri"/>
              </a:rPr>
              <a:t> </a:t>
            </a:r>
            <a:r>
              <a:rPr dirty="0" sz="800" spc="-25" b="1">
                <a:solidFill>
                  <a:srgbClr val="2E6171"/>
                </a:solidFill>
                <a:latin typeface="Calibri"/>
                <a:cs typeface="Calibri"/>
              </a:rPr>
              <a:t>it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929757" y="2966466"/>
            <a:ext cx="243649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Frozen: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each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 instruction </a:t>
            </a:r>
            <a:r>
              <a:rPr dirty="0" sz="800">
                <a:solidFill>
                  <a:srgbClr val="1A1F2B"/>
                </a:solidFill>
                <a:latin typeface="Microsoft Sans Serif"/>
                <a:cs typeface="Microsoft Sans Serif"/>
              </a:rPr>
              <a:t>→</a:t>
            </a:r>
            <a:r>
              <a:rPr dirty="0" sz="800" spc="-45">
                <a:solidFill>
                  <a:srgbClr val="1A1F2B"/>
                </a:solidFill>
                <a:latin typeface="Microsoft Sans Serif"/>
                <a:cs typeface="Microsoft Sans Serif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one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 384-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d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vector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Microsoft Sans Serif"/>
                <a:cs typeface="Microsoft Sans Serif"/>
              </a:rPr>
              <a:t>→</a:t>
            </a:r>
            <a:r>
              <a:rPr dirty="0" sz="800" spc="-40">
                <a:solidFill>
                  <a:srgbClr val="1A1F2B"/>
                </a:solidFill>
                <a:latin typeface="Microsoft Sans Serif"/>
                <a:cs typeface="Microsoft Sans Serif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regression</a:t>
            </a:r>
            <a:r>
              <a:rPr dirty="0" sz="800" spc="50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head;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a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fine-tuned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variant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is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also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compared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06717" y="3698557"/>
            <a:ext cx="8328659" cy="832485"/>
            <a:chOff x="406717" y="3698557"/>
            <a:chExt cx="8328659" cy="832485"/>
          </a:xfrm>
        </p:grpSpPr>
        <p:sp>
          <p:nvSpPr>
            <p:cNvPr id="27" name="object 27"/>
            <p:cNvSpPr/>
            <p:nvPr/>
          </p:nvSpPr>
          <p:spPr>
            <a:xfrm>
              <a:off x="411480" y="3703320"/>
              <a:ext cx="8319134" cy="822960"/>
            </a:xfrm>
            <a:custGeom>
              <a:avLst/>
              <a:gdLst/>
              <a:ahLst/>
              <a:cxnLst/>
              <a:rect l="l" t="t" r="r" b="b"/>
              <a:pathLst>
                <a:path w="8319134" h="822960">
                  <a:moveTo>
                    <a:pt x="8277605" y="822959"/>
                  </a:moveTo>
                  <a:lnTo>
                    <a:pt x="41147" y="822959"/>
                  </a:lnTo>
                  <a:lnTo>
                    <a:pt x="25131" y="819726"/>
                  </a:lnTo>
                  <a:lnTo>
                    <a:pt x="12051" y="810908"/>
                  </a:lnTo>
                  <a:lnTo>
                    <a:pt x="3233" y="797828"/>
                  </a:lnTo>
                  <a:lnTo>
                    <a:pt x="0" y="781811"/>
                  </a:lnTo>
                  <a:lnTo>
                    <a:pt x="0" y="41147"/>
                  </a:lnTo>
                  <a:lnTo>
                    <a:pt x="3233" y="25131"/>
                  </a:lnTo>
                  <a:lnTo>
                    <a:pt x="12051" y="12051"/>
                  </a:lnTo>
                  <a:lnTo>
                    <a:pt x="25131" y="3233"/>
                  </a:lnTo>
                  <a:lnTo>
                    <a:pt x="41147" y="0"/>
                  </a:lnTo>
                  <a:lnTo>
                    <a:pt x="8277605" y="0"/>
                  </a:lnTo>
                  <a:lnTo>
                    <a:pt x="8311840" y="18319"/>
                  </a:lnTo>
                  <a:lnTo>
                    <a:pt x="8318754" y="41147"/>
                  </a:lnTo>
                  <a:lnTo>
                    <a:pt x="8318754" y="781811"/>
                  </a:lnTo>
                  <a:lnTo>
                    <a:pt x="8315520" y="797828"/>
                  </a:lnTo>
                  <a:lnTo>
                    <a:pt x="8306702" y="810908"/>
                  </a:lnTo>
                  <a:lnTo>
                    <a:pt x="8293622" y="819726"/>
                  </a:lnTo>
                  <a:lnTo>
                    <a:pt x="8277605" y="822959"/>
                  </a:lnTo>
                  <a:close/>
                </a:path>
              </a:pathLst>
            </a:custGeom>
            <a:solidFill>
              <a:srgbClr val="FCF1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411480" y="3703320"/>
              <a:ext cx="8319134" cy="822960"/>
            </a:xfrm>
            <a:custGeom>
              <a:avLst/>
              <a:gdLst/>
              <a:ahLst/>
              <a:cxnLst/>
              <a:rect l="l" t="t" r="r" b="b"/>
              <a:pathLst>
                <a:path w="8319134" h="822960">
                  <a:moveTo>
                    <a:pt x="0" y="41147"/>
                  </a:moveTo>
                  <a:lnTo>
                    <a:pt x="3233" y="25131"/>
                  </a:lnTo>
                  <a:lnTo>
                    <a:pt x="12051" y="12051"/>
                  </a:lnTo>
                  <a:lnTo>
                    <a:pt x="25131" y="3233"/>
                  </a:lnTo>
                  <a:lnTo>
                    <a:pt x="41147" y="0"/>
                  </a:lnTo>
                  <a:lnTo>
                    <a:pt x="8277605" y="0"/>
                  </a:lnTo>
                  <a:lnTo>
                    <a:pt x="8311840" y="18319"/>
                  </a:lnTo>
                  <a:lnTo>
                    <a:pt x="8318754" y="41147"/>
                  </a:lnTo>
                  <a:lnTo>
                    <a:pt x="8318754" y="781811"/>
                  </a:lnTo>
                  <a:lnTo>
                    <a:pt x="8315520" y="797828"/>
                  </a:lnTo>
                  <a:lnTo>
                    <a:pt x="8306702" y="810908"/>
                  </a:lnTo>
                  <a:lnTo>
                    <a:pt x="8293622" y="819726"/>
                  </a:lnTo>
                  <a:lnTo>
                    <a:pt x="8277605" y="822959"/>
                  </a:lnTo>
                  <a:lnTo>
                    <a:pt x="41147" y="822959"/>
                  </a:lnTo>
                  <a:lnTo>
                    <a:pt x="25131" y="819726"/>
                  </a:lnTo>
                  <a:lnTo>
                    <a:pt x="12051" y="810908"/>
                  </a:lnTo>
                  <a:lnTo>
                    <a:pt x="3233" y="797828"/>
                  </a:lnTo>
                  <a:lnTo>
                    <a:pt x="0" y="781811"/>
                  </a:lnTo>
                  <a:lnTo>
                    <a:pt x="0" y="41147"/>
                  </a:lnTo>
                  <a:close/>
                </a:path>
              </a:pathLst>
            </a:custGeom>
            <a:ln w="9524">
              <a:solidFill>
                <a:srgbClr val="E3E4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604520" y="3891788"/>
            <a:ext cx="773239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E17039"/>
                </a:solidFill>
                <a:latin typeface="Calibri"/>
                <a:cs typeface="Calibri"/>
              </a:rPr>
              <a:t>Our</a:t>
            </a:r>
            <a:r>
              <a:rPr dirty="0" sz="900" spc="-20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900" spc="-10" b="1">
                <a:solidFill>
                  <a:srgbClr val="E17039"/>
                </a:solidFill>
                <a:latin typeface="Calibri"/>
                <a:cs typeface="Calibri"/>
              </a:rPr>
              <a:t>data</a:t>
            </a:r>
            <a:r>
              <a:rPr dirty="0" sz="900" spc="-20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E17039"/>
                </a:solidFill>
                <a:latin typeface="Calibri"/>
                <a:cs typeface="Calibri"/>
              </a:rPr>
              <a:t>&amp;</a:t>
            </a:r>
            <a:r>
              <a:rPr dirty="0" sz="900" spc="-20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E17039"/>
                </a:solidFill>
                <a:latin typeface="Calibri"/>
                <a:cs typeface="Calibri"/>
              </a:rPr>
              <a:t>its</a:t>
            </a:r>
            <a:r>
              <a:rPr dirty="0" sz="900" spc="-1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E17039"/>
                </a:solidFill>
                <a:latin typeface="Calibri"/>
                <a:cs typeface="Calibri"/>
              </a:rPr>
              <a:t>relevance.</a:t>
            </a:r>
            <a:r>
              <a:rPr dirty="0" sz="900" spc="17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Both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encoders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learned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general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English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from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large-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scale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contrastive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pairs,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but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neither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was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ever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trained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to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map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magnitude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words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to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numbers.</a:t>
            </a:r>
            <a:r>
              <a:rPr dirty="0" sz="900" spc="50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Our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Microsoft Sans Serif"/>
                <a:cs typeface="Microsoft Sans Serif"/>
              </a:rPr>
              <a:t>≈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20k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generated instruction–parameter pairs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(Dataset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Design) supply exactly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that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mapping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to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regression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head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—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and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test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whether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frozen embeddings</a:t>
            </a:r>
            <a:r>
              <a:rPr dirty="0" sz="900" spc="50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preserve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it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(RQ1).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65"/>
              </a:lnSpc>
            </a:pPr>
            <a:r>
              <a:rPr dirty="0"/>
              <a:t>IE</a:t>
            </a:r>
            <a:r>
              <a:rPr dirty="0" spc="-15"/>
              <a:t> </a:t>
            </a:r>
            <a:r>
              <a:rPr dirty="0"/>
              <a:t>643</a:t>
            </a:r>
            <a:r>
              <a:rPr dirty="0" spc="-15"/>
              <a:t> </a:t>
            </a:r>
            <a:r>
              <a:rPr dirty="0" spc="-10"/>
              <a:t>Course </a:t>
            </a:r>
            <a:r>
              <a:rPr dirty="0"/>
              <a:t>Project</a:t>
            </a:r>
            <a:r>
              <a:rPr dirty="0" spc="135"/>
              <a:t> </a:t>
            </a:r>
            <a:r>
              <a:rPr dirty="0"/>
              <a:t>·</a:t>
            </a:r>
            <a:r>
              <a:rPr dirty="0" spc="140"/>
              <a:t> </a:t>
            </a:r>
            <a:r>
              <a:rPr dirty="0" spc="-20"/>
              <a:t>Team</a:t>
            </a:r>
            <a:r>
              <a:rPr dirty="0" spc="-10"/>
              <a:t> DyoOptix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65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8780" y="244602"/>
            <a:ext cx="110871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E17039"/>
                </a:solidFill>
                <a:latin typeface="Calibri"/>
                <a:cs typeface="Calibri"/>
              </a:rPr>
              <a:t>BLOCK</a:t>
            </a:r>
            <a:r>
              <a:rPr dirty="0" sz="800" spc="-20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E17039"/>
                </a:solidFill>
                <a:latin typeface="Calibri"/>
                <a:cs typeface="Calibri"/>
              </a:rPr>
              <a:t>02</a:t>
            </a:r>
            <a:r>
              <a:rPr dirty="0" sz="800" spc="-1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E17039"/>
                </a:solidFill>
                <a:latin typeface="Calibri"/>
                <a:cs typeface="Calibri"/>
              </a:rPr>
              <a:t>·</a:t>
            </a:r>
            <a:r>
              <a:rPr dirty="0" sz="800" spc="-1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800" spc="-10" b="1">
                <a:solidFill>
                  <a:srgbClr val="E17039"/>
                </a:solidFill>
                <a:latin typeface="Calibri"/>
                <a:cs typeface="Calibri"/>
              </a:rPr>
              <a:t>BACKGROUND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4398" y="507268"/>
            <a:ext cx="158180" cy="158180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Do</a:t>
            </a:r>
            <a:r>
              <a:rPr dirty="0" spc="-90"/>
              <a:t> </a:t>
            </a:r>
            <a:r>
              <a:rPr dirty="0"/>
              <a:t>These</a:t>
            </a:r>
            <a:r>
              <a:rPr dirty="0" spc="-85"/>
              <a:t> </a:t>
            </a:r>
            <a:r>
              <a:rPr dirty="0"/>
              <a:t>Encoders</a:t>
            </a:r>
            <a:r>
              <a:rPr dirty="0" spc="-85"/>
              <a:t> </a:t>
            </a:r>
            <a:r>
              <a:rPr dirty="0"/>
              <a:t>Keep</a:t>
            </a:r>
            <a:r>
              <a:rPr dirty="0" spc="-85"/>
              <a:t> </a:t>
            </a:r>
            <a:r>
              <a:rPr dirty="0" spc="-10"/>
              <a:t>Structure?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98780" y="929132"/>
            <a:ext cx="7942580" cy="5607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 i="1">
                <a:solidFill>
                  <a:srgbClr val="6B7280"/>
                </a:solidFill>
                <a:latin typeface="Calibri"/>
                <a:cs typeface="Calibri"/>
              </a:rPr>
              <a:t>Yuksekgonul,</a:t>
            </a:r>
            <a:r>
              <a:rPr dirty="0" sz="900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10" i="1">
                <a:solidFill>
                  <a:srgbClr val="6B7280"/>
                </a:solidFill>
                <a:latin typeface="Calibri"/>
                <a:cs typeface="Calibri"/>
              </a:rPr>
              <a:t>Bianchi,</a:t>
            </a:r>
            <a:r>
              <a:rPr dirty="0" sz="900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10" i="1">
                <a:solidFill>
                  <a:srgbClr val="6B7280"/>
                </a:solidFill>
                <a:latin typeface="Calibri"/>
                <a:cs typeface="Calibri"/>
              </a:rPr>
              <a:t>Kalluri,</a:t>
            </a:r>
            <a:r>
              <a:rPr dirty="0" sz="900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10" i="1">
                <a:solidFill>
                  <a:srgbClr val="6B7280"/>
                </a:solidFill>
                <a:latin typeface="Calibri"/>
                <a:cs typeface="Calibri"/>
              </a:rPr>
              <a:t>Jurafsky</a:t>
            </a:r>
            <a:r>
              <a:rPr dirty="0" sz="900" i="1">
                <a:solidFill>
                  <a:srgbClr val="6B7280"/>
                </a:solidFill>
                <a:latin typeface="Calibri"/>
                <a:cs typeface="Calibri"/>
              </a:rPr>
              <a:t> &amp; Zou — ICLR 2023</a:t>
            </a:r>
            <a:r>
              <a:rPr dirty="0" sz="900" spc="204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6B7280"/>
                </a:solidFill>
                <a:latin typeface="Calibri"/>
                <a:cs typeface="Calibri"/>
              </a:rPr>
              <a:t>·</a:t>
            </a:r>
            <a:r>
              <a:rPr dirty="0" sz="900" spc="204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10" i="1">
                <a:solidFill>
                  <a:srgbClr val="6B7280"/>
                </a:solidFill>
                <a:latin typeface="Calibri"/>
                <a:cs typeface="Calibri"/>
              </a:rPr>
              <a:t>arXiv:2210.01936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35"/>
              </a:spcBef>
            </a:pP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10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ARO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benchmark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—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Attribution,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Relation,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Order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—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probes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compositional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understanding</a:t>
            </a:r>
            <a:r>
              <a:rPr dirty="0" sz="10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in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vision-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language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models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across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more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than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50,000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test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cases.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06717" y="1675447"/>
            <a:ext cx="2645410" cy="1209675"/>
            <a:chOff x="406717" y="1675447"/>
            <a:chExt cx="2645410" cy="1209675"/>
          </a:xfrm>
        </p:grpSpPr>
        <p:sp>
          <p:nvSpPr>
            <p:cNvPr id="7" name="object 7"/>
            <p:cNvSpPr/>
            <p:nvPr/>
          </p:nvSpPr>
          <p:spPr>
            <a:xfrm>
              <a:off x="411480" y="1680210"/>
              <a:ext cx="2635885" cy="1200150"/>
            </a:xfrm>
            <a:custGeom>
              <a:avLst/>
              <a:gdLst/>
              <a:ahLst/>
              <a:cxnLst/>
              <a:rect l="l" t="t" r="r" b="b"/>
              <a:pathLst>
                <a:path w="2635885" h="1200150">
                  <a:moveTo>
                    <a:pt x="2594604" y="1200149"/>
                  </a:moveTo>
                  <a:lnTo>
                    <a:pt x="41153" y="1200149"/>
                  </a:lnTo>
                  <a:lnTo>
                    <a:pt x="25134" y="1196915"/>
                  </a:lnTo>
                  <a:lnTo>
                    <a:pt x="12053" y="1188096"/>
                  </a:lnTo>
                  <a:lnTo>
                    <a:pt x="3234" y="1175015"/>
                  </a:lnTo>
                  <a:lnTo>
                    <a:pt x="0" y="1158996"/>
                  </a:lnTo>
                  <a:lnTo>
                    <a:pt x="0" y="41152"/>
                  </a:lnTo>
                  <a:lnTo>
                    <a:pt x="3234" y="25134"/>
                  </a:lnTo>
                  <a:lnTo>
                    <a:pt x="12053" y="12053"/>
                  </a:lnTo>
                  <a:lnTo>
                    <a:pt x="25134" y="3234"/>
                  </a:lnTo>
                  <a:lnTo>
                    <a:pt x="41153" y="0"/>
                  </a:lnTo>
                  <a:lnTo>
                    <a:pt x="2594604" y="0"/>
                  </a:lnTo>
                  <a:lnTo>
                    <a:pt x="2628843" y="18321"/>
                  </a:lnTo>
                  <a:lnTo>
                    <a:pt x="2635757" y="41152"/>
                  </a:lnTo>
                  <a:lnTo>
                    <a:pt x="2635757" y="1158996"/>
                  </a:lnTo>
                  <a:lnTo>
                    <a:pt x="2632523" y="1175015"/>
                  </a:lnTo>
                  <a:lnTo>
                    <a:pt x="2623704" y="1188096"/>
                  </a:lnTo>
                  <a:lnTo>
                    <a:pt x="2610623" y="1196915"/>
                  </a:lnTo>
                  <a:lnTo>
                    <a:pt x="2594604" y="1200149"/>
                  </a:lnTo>
                  <a:close/>
                </a:path>
              </a:pathLst>
            </a:custGeom>
            <a:solidFill>
              <a:srgbClr val="F4F4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11480" y="1680210"/>
              <a:ext cx="2635885" cy="1200150"/>
            </a:xfrm>
            <a:custGeom>
              <a:avLst/>
              <a:gdLst/>
              <a:ahLst/>
              <a:cxnLst/>
              <a:rect l="l" t="t" r="r" b="b"/>
              <a:pathLst>
                <a:path w="2635885" h="1200150">
                  <a:moveTo>
                    <a:pt x="0" y="41152"/>
                  </a:moveTo>
                  <a:lnTo>
                    <a:pt x="3234" y="25134"/>
                  </a:lnTo>
                  <a:lnTo>
                    <a:pt x="12053" y="12053"/>
                  </a:lnTo>
                  <a:lnTo>
                    <a:pt x="25134" y="3234"/>
                  </a:lnTo>
                  <a:lnTo>
                    <a:pt x="41153" y="0"/>
                  </a:lnTo>
                  <a:lnTo>
                    <a:pt x="2594604" y="0"/>
                  </a:lnTo>
                  <a:lnTo>
                    <a:pt x="2628843" y="18321"/>
                  </a:lnTo>
                  <a:lnTo>
                    <a:pt x="2635757" y="41152"/>
                  </a:lnTo>
                  <a:lnTo>
                    <a:pt x="2635757" y="1158996"/>
                  </a:lnTo>
                  <a:lnTo>
                    <a:pt x="2632523" y="1175015"/>
                  </a:lnTo>
                  <a:lnTo>
                    <a:pt x="2623704" y="1188096"/>
                  </a:lnTo>
                  <a:lnTo>
                    <a:pt x="2610623" y="1196915"/>
                  </a:lnTo>
                  <a:lnTo>
                    <a:pt x="2594604" y="1200149"/>
                  </a:lnTo>
                  <a:lnTo>
                    <a:pt x="41153" y="1200149"/>
                  </a:lnTo>
                  <a:lnTo>
                    <a:pt x="25134" y="1196915"/>
                  </a:lnTo>
                  <a:lnTo>
                    <a:pt x="12053" y="1188096"/>
                  </a:lnTo>
                  <a:lnTo>
                    <a:pt x="3234" y="1175015"/>
                  </a:lnTo>
                  <a:lnTo>
                    <a:pt x="0" y="1158996"/>
                  </a:lnTo>
                  <a:lnTo>
                    <a:pt x="0" y="41152"/>
                  </a:lnTo>
                  <a:close/>
                </a:path>
              </a:pathLst>
            </a:custGeom>
            <a:ln w="9524">
              <a:solidFill>
                <a:srgbClr val="E3E4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549656" y="1806575"/>
            <a:ext cx="6146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2E6171"/>
                </a:solidFill>
                <a:latin typeface="Cambria"/>
                <a:cs typeface="Cambria"/>
              </a:rPr>
              <a:t>Relation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9656" y="2263013"/>
            <a:ext cx="22891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Poor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relational understanding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—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"a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dog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behind </a:t>
            </a:r>
            <a:r>
              <a:rPr dirty="0" sz="900" spc="-50">
                <a:solidFill>
                  <a:srgbClr val="1A1F2B"/>
                </a:solidFill>
                <a:latin typeface="Calibri"/>
                <a:cs typeface="Calibri"/>
              </a:rPr>
              <a:t>a</a:t>
            </a:r>
            <a:r>
              <a:rPr dirty="0" sz="900" spc="50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tree"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vs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"a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tree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behind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a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dog"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248215" y="1675447"/>
            <a:ext cx="2645410" cy="1209675"/>
            <a:chOff x="3248215" y="1675447"/>
            <a:chExt cx="2645410" cy="1209675"/>
          </a:xfrm>
        </p:grpSpPr>
        <p:sp>
          <p:nvSpPr>
            <p:cNvPr id="12" name="object 12"/>
            <p:cNvSpPr/>
            <p:nvPr/>
          </p:nvSpPr>
          <p:spPr>
            <a:xfrm>
              <a:off x="3252977" y="1680210"/>
              <a:ext cx="2635885" cy="1200150"/>
            </a:xfrm>
            <a:custGeom>
              <a:avLst/>
              <a:gdLst/>
              <a:ahLst/>
              <a:cxnLst/>
              <a:rect l="l" t="t" r="r" b="b"/>
              <a:pathLst>
                <a:path w="2635885" h="1200150">
                  <a:moveTo>
                    <a:pt x="2594604" y="1200149"/>
                  </a:moveTo>
                  <a:lnTo>
                    <a:pt x="41153" y="1200149"/>
                  </a:lnTo>
                  <a:lnTo>
                    <a:pt x="25134" y="1196915"/>
                  </a:lnTo>
                  <a:lnTo>
                    <a:pt x="12053" y="1188096"/>
                  </a:lnTo>
                  <a:lnTo>
                    <a:pt x="3234" y="1175015"/>
                  </a:lnTo>
                  <a:lnTo>
                    <a:pt x="0" y="1158996"/>
                  </a:lnTo>
                  <a:lnTo>
                    <a:pt x="0" y="41152"/>
                  </a:lnTo>
                  <a:lnTo>
                    <a:pt x="3234" y="25134"/>
                  </a:lnTo>
                  <a:lnTo>
                    <a:pt x="12053" y="12053"/>
                  </a:lnTo>
                  <a:lnTo>
                    <a:pt x="25134" y="3234"/>
                  </a:lnTo>
                  <a:lnTo>
                    <a:pt x="41153" y="0"/>
                  </a:lnTo>
                  <a:lnTo>
                    <a:pt x="2594604" y="0"/>
                  </a:lnTo>
                  <a:lnTo>
                    <a:pt x="2628843" y="18321"/>
                  </a:lnTo>
                  <a:lnTo>
                    <a:pt x="2635757" y="41152"/>
                  </a:lnTo>
                  <a:lnTo>
                    <a:pt x="2635757" y="1158996"/>
                  </a:lnTo>
                  <a:lnTo>
                    <a:pt x="2632523" y="1175015"/>
                  </a:lnTo>
                  <a:lnTo>
                    <a:pt x="2623704" y="1188096"/>
                  </a:lnTo>
                  <a:lnTo>
                    <a:pt x="2610623" y="1196915"/>
                  </a:lnTo>
                  <a:lnTo>
                    <a:pt x="2594604" y="1200149"/>
                  </a:lnTo>
                  <a:close/>
                </a:path>
              </a:pathLst>
            </a:custGeom>
            <a:solidFill>
              <a:srgbClr val="F4F4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252977" y="1680210"/>
              <a:ext cx="2635885" cy="1200150"/>
            </a:xfrm>
            <a:custGeom>
              <a:avLst/>
              <a:gdLst/>
              <a:ahLst/>
              <a:cxnLst/>
              <a:rect l="l" t="t" r="r" b="b"/>
              <a:pathLst>
                <a:path w="2635885" h="1200150">
                  <a:moveTo>
                    <a:pt x="0" y="41152"/>
                  </a:moveTo>
                  <a:lnTo>
                    <a:pt x="3234" y="25134"/>
                  </a:lnTo>
                  <a:lnTo>
                    <a:pt x="12053" y="12053"/>
                  </a:lnTo>
                  <a:lnTo>
                    <a:pt x="25134" y="3234"/>
                  </a:lnTo>
                  <a:lnTo>
                    <a:pt x="41153" y="0"/>
                  </a:lnTo>
                  <a:lnTo>
                    <a:pt x="2594604" y="0"/>
                  </a:lnTo>
                  <a:lnTo>
                    <a:pt x="2628843" y="18321"/>
                  </a:lnTo>
                  <a:lnTo>
                    <a:pt x="2635757" y="41152"/>
                  </a:lnTo>
                  <a:lnTo>
                    <a:pt x="2635757" y="1158996"/>
                  </a:lnTo>
                  <a:lnTo>
                    <a:pt x="2632523" y="1175015"/>
                  </a:lnTo>
                  <a:lnTo>
                    <a:pt x="2623704" y="1188096"/>
                  </a:lnTo>
                  <a:lnTo>
                    <a:pt x="2610623" y="1196915"/>
                  </a:lnTo>
                  <a:lnTo>
                    <a:pt x="2594604" y="1200149"/>
                  </a:lnTo>
                  <a:lnTo>
                    <a:pt x="41153" y="1200149"/>
                  </a:lnTo>
                  <a:lnTo>
                    <a:pt x="25134" y="1196915"/>
                  </a:lnTo>
                  <a:lnTo>
                    <a:pt x="12053" y="1188096"/>
                  </a:lnTo>
                  <a:lnTo>
                    <a:pt x="3234" y="1175015"/>
                  </a:lnTo>
                  <a:lnTo>
                    <a:pt x="0" y="1158996"/>
                  </a:lnTo>
                  <a:lnTo>
                    <a:pt x="0" y="41152"/>
                  </a:lnTo>
                  <a:close/>
                </a:path>
              </a:pathLst>
            </a:custGeom>
            <a:ln w="9524">
              <a:solidFill>
                <a:srgbClr val="E3E4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3391154" y="1806575"/>
            <a:ext cx="81406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2E6171"/>
                </a:solidFill>
                <a:latin typeface="Cambria"/>
                <a:cs typeface="Cambria"/>
              </a:rPr>
              <a:t>Attribution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91154" y="2263013"/>
            <a:ext cx="21056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Models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blunder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when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linking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objects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to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their</a:t>
            </a:r>
            <a:r>
              <a:rPr dirty="0" sz="900" spc="50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attributes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089713" y="1675447"/>
            <a:ext cx="2645410" cy="1209675"/>
            <a:chOff x="6089713" y="1675447"/>
            <a:chExt cx="2645410" cy="1209675"/>
          </a:xfrm>
        </p:grpSpPr>
        <p:sp>
          <p:nvSpPr>
            <p:cNvPr id="17" name="object 17"/>
            <p:cNvSpPr/>
            <p:nvPr/>
          </p:nvSpPr>
          <p:spPr>
            <a:xfrm>
              <a:off x="6094476" y="1680210"/>
              <a:ext cx="2635885" cy="1200150"/>
            </a:xfrm>
            <a:custGeom>
              <a:avLst/>
              <a:gdLst/>
              <a:ahLst/>
              <a:cxnLst/>
              <a:rect l="l" t="t" r="r" b="b"/>
              <a:pathLst>
                <a:path w="2635884" h="1200150">
                  <a:moveTo>
                    <a:pt x="2594604" y="1200149"/>
                  </a:moveTo>
                  <a:lnTo>
                    <a:pt x="41152" y="1200149"/>
                  </a:lnTo>
                  <a:lnTo>
                    <a:pt x="25134" y="1196915"/>
                  </a:lnTo>
                  <a:lnTo>
                    <a:pt x="12053" y="1188096"/>
                  </a:lnTo>
                  <a:lnTo>
                    <a:pt x="3233" y="1175015"/>
                  </a:lnTo>
                  <a:lnTo>
                    <a:pt x="0" y="1158996"/>
                  </a:lnTo>
                  <a:lnTo>
                    <a:pt x="0" y="41152"/>
                  </a:lnTo>
                  <a:lnTo>
                    <a:pt x="3233" y="25134"/>
                  </a:lnTo>
                  <a:lnTo>
                    <a:pt x="12053" y="12053"/>
                  </a:lnTo>
                  <a:lnTo>
                    <a:pt x="25134" y="3234"/>
                  </a:lnTo>
                  <a:lnTo>
                    <a:pt x="41152" y="0"/>
                  </a:lnTo>
                  <a:lnTo>
                    <a:pt x="2594604" y="0"/>
                  </a:lnTo>
                  <a:lnTo>
                    <a:pt x="2628843" y="18321"/>
                  </a:lnTo>
                  <a:lnTo>
                    <a:pt x="2635758" y="41152"/>
                  </a:lnTo>
                  <a:lnTo>
                    <a:pt x="2635758" y="1158996"/>
                  </a:lnTo>
                  <a:lnTo>
                    <a:pt x="2632524" y="1175015"/>
                  </a:lnTo>
                  <a:lnTo>
                    <a:pt x="2623704" y="1188096"/>
                  </a:lnTo>
                  <a:lnTo>
                    <a:pt x="2610623" y="1196915"/>
                  </a:lnTo>
                  <a:lnTo>
                    <a:pt x="2594604" y="1200149"/>
                  </a:lnTo>
                  <a:close/>
                </a:path>
              </a:pathLst>
            </a:custGeom>
            <a:solidFill>
              <a:srgbClr val="F4F4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094476" y="1680210"/>
              <a:ext cx="2635885" cy="1200150"/>
            </a:xfrm>
            <a:custGeom>
              <a:avLst/>
              <a:gdLst/>
              <a:ahLst/>
              <a:cxnLst/>
              <a:rect l="l" t="t" r="r" b="b"/>
              <a:pathLst>
                <a:path w="2635884" h="1200150">
                  <a:moveTo>
                    <a:pt x="0" y="41152"/>
                  </a:moveTo>
                  <a:lnTo>
                    <a:pt x="3233" y="25134"/>
                  </a:lnTo>
                  <a:lnTo>
                    <a:pt x="12053" y="12053"/>
                  </a:lnTo>
                  <a:lnTo>
                    <a:pt x="25134" y="3234"/>
                  </a:lnTo>
                  <a:lnTo>
                    <a:pt x="41152" y="0"/>
                  </a:lnTo>
                  <a:lnTo>
                    <a:pt x="2594604" y="0"/>
                  </a:lnTo>
                  <a:lnTo>
                    <a:pt x="2628843" y="18321"/>
                  </a:lnTo>
                  <a:lnTo>
                    <a:pt x="2635758" y="41152"/>
                  </a:lnTo>
                  <a:lnTo>
                    <a:pt x="2635758" y="1158996"/>
                  </a:lnTo>
                  <a:lnTo>
                    <a:pt x="2632524" y="1175015"/>
                  </a:lnTo>
                  <a:lnTo>
                    <a:pt x="2623704" y="1188096"/>
                  </a:lnTo>
                  <a:lnTo>
                    <a:pt x="2610623" y="1196915"/>
                  </a:lnTo>
                  <a:lnTo>
                    <a:pt x="2594604" y="1200149"/>
                  </a:lnTo>
                  <a:lnTo>
                    <a:pt x="41152" y="1200149"/>
                  </a:lnTo>
                  <a:lnTo>
                    <a:pt x="25134" y="1196915"/>
                  </a:lnTo>
                  <a:lnTo>
                    <a:pt x="12053" y="1188096"/>
                  </a:lnTo>
                  <a:lnTo>
                    <a:pt x="3233" y="1175015"/>
                  </a:lnTo>
                  <a:lnTo>
                    <a:pt x="0" y="1158996"/>
                  </a:lnTo>
                  <a:lnTo>
                    <a:pt x="0" y="41152"/>
                  </a:lnTo>
                  <a:close/>
                </a:path>
              </a:pathLst>
            </a:custGeom>
            <a:ln w="9524">
              <a:solidFill>
                <a:srgbClr val="E3E4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6232652" y="1806575"/>
            <a:ext cx="44195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2E6171"/>
                </a:solidFill>
                <a:latin typeface="Cambria"/>
                <a:cs typeface="Cambria"/>
              </a:rPr>
              <a:t>Order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232652" y="2331593"/>
            <a:ext cx="17094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Severe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lack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of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word-order sensitivity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06717" y="3047047"/>
            <a:ext cx="8328659" cy="832485"/>
            <a:chOff x="406717" y="3047047"/>
            <a:chExt cx="8328659" cy="832485"/>
          </a:xfrm>
        </p:grpSpPr>
        <p:sp>
          <p:nvSpPr>
            <p:cNvPr id="22" name="object 22"/>
            <p:cNvSpPr/>
            <p:nvPr/>
          </p:nvSpPr>
          <p:spPr>
            <a:xfrm>
              <a:off x="411480" y="3051810"/>
              <a:ext cx="8319134" cy="822960"/>
            </a:xfrm>
            <a:custGeom>
              <a:avLst/>
              <a:gdLst/>
              <a:ahLst/>
              <a:cxnLst/>
              <a:rect l="l" t="t" r="r" b="b"/>
              <a:pathLst>
                <a:path w="8319134" h="822960">
                  <a:moveTo>
                    <a:pt x="8277605" y="822959"/>
                  </a:moveTo>
                  <a:lnTo>
                    <a:pt x="41147" y="822959"/>
                  </a:lnTo>
                  <a:lnTo>
                    <a:pt x="25131" y="819726"/>
                  </a:lnTo>
                  <a:lnTo>
                    <a:pt x="12051" y="810907"/>
                  </a:lnTo>
                  <a:lnTo>
                    <a:pt x="3233" y="797828"/>
                  </a:lnTo>
                  <a:lnTo>
                    <a:pt x="0" y="781811"/>
                  </a:lnTo>
                  <a:lnTo>
                    <a:pt x="0" y="41147"/>
                  </a:lnTo>
                  <a:lnTo>
                    <a:pt x="3233" y="25131"/>
                  </a:lnTo>
                  <a:lnTo>
                    <a:pt x="12051" y="12051"/>
                  </a:lnTo>
                  <a:lnTo>
                    <a:pt x="25131" y="3233"/>
                  </a:lnTo>
                  <a:lnTo>
                    <a:pt x="41147" y="0"/>
                  </a:lnTo>
                  <a:lnTo>
                    <a:pt x="8277605" y="0"/>
                  </a:lnTo>
                  <a:lnTo>
                    <a:pt x="8311840" y="18319"/>
                  </a:lnTo>
                  <a:lnTo>
                    <a:pt x="8318754" y="41147"/>
                  </a:lnTo>
                  <a:lnTo>
                    <a:pt x="8318754" y="781811"/>
                  </a:lnTo>
                  <a:lnTo>
                    <a:pt x="8315520" y="797828"/>
                  </a:lnTo>
                  <a:lnTo>
                    <a:pt x="8306702" y="810907"/>
                  </a:lnTo>
                  <a:lnTo>
                    <a:pt x="8293622" y="819726"/>
                  </a:lnTo>
                  <a:lnTo>
                    <a:pt x="8277605" y="822959"/>
                  </a:lnTo>
                  <a:close/>
                </a:path>
              </a:pathLst>
            </a:custGeom>
            <a:solidFill>
              <a:srgbClr val="FCF1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11480" y="3051810"/>
              <a:ext cx="8319134" cy="822960"/>
            </a:xfrm>
            <a:custGeom>
              <a:avLst/>
              <a:gdLst/>
              <a:ahLst/>
              <a:cxnLst/>
              <a:rect l="l" t="t" r="r" b="b"/>
              <a:pathLst>
                <a:path w="8319134" h="822960">
                  <a:moveTo>
                    <a:pt x="0" y="41147"/>
                  </a:moveTo>
                  <a:lnTo>
                    <a:pt x="3233" y="25131"/>
                  </a:lnTo>
                  <a:lnTo>
                    <a:pt x="12051" y="12051"/>
                  </a:lnTo>
                  <a:lnTo>
                    <a:pt x="25131" y="3233"/>
                  </a:lnTo>
                  <a:lnTo>
                    <a:pt x="41147" y="0"/>
                  </a:lnTo>
                  <a:lnTo>
                    <a:pt x="8277605" y="0"/>
                  </a:lnTo>
                  <a:lnTo>
                    <a:pt x="8311840" y="18319"/>
                  </a:lnTo>
                  <a:lnTo>
                    <a:pt x="8318754" y="41147"/>
                  </a:lnTo>
                  <a:lnTo>
                    <a:pt x="8318754" y="781811"/>
                  </a:lnTo>
                  <a:lnTo>
                    <a:pt x="8315520" y="797828"/>
                  </a:lnTo>
                  <a:lnTo>
                    <a:pt x="8306702" y="810907"/>
                  </a:lnTo>
                  <a:lnTo>
                    <a:pt x="8293622" y="819726"/>
                  </a:lnTo>
                  <a:lnTo>
                    <a:pt x="8277605" y="822959"/>
                  </a:lnTo>
                  <a:lnTo>
                    <a:pt x="41147" y="822959"/>
                  </a:lnTo>
                  <a:lnTo>
                    <a:pt x="25131" y="819726"/>
                  </a:lnTo>
                  <a:lnTo>
                    <a:pt x="12051" y="810907"/>
                  </a:lnTo>
                  <a:lnTo>
                    <a:pt x="3233" y="797828"/>
                  </a:lnTo>
                  <a:lnTo>
                    <a:pt x="0" y="781811"/>
                  </a:lnTo>
                  <a:lnTo>
                    <a:pt x="0" y="41147"/>
                  </a:lnTo>
                  <a:close/>
                </a:path>
              </a:pathLst>
            </a:custGeom>
            <a:ln w="9524">
              <a:solidFill>
                <a:srgbClr val="E3E4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604520" y="3293109"/>
            <a:ext cx="772160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E17039"/>
                </a:solidFill>
                <a:latin typeface="Calibri"/>
                <a:cs typeface="Calibri"/>
              </a:rPr>
              <a:t>Our</a:t>
            </a:r>
            <a:r>
              <a:rPr dirty="0" sz="1000" spc="-2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E17039"/>
                </a:solidFill>
                <a:latin typeface="Calibri"/>
                <a:cs typeface="Calibri"/>
              </a:rPr>
              <a:t>extension.</a:t>
            </a:r>
            <a:r>
              <a:rPr dirty="0" sz="1000" spc="19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ARO</a:t>
            </a:r>
            <a:r>
              <a:rPr dirty="0" sz="10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tests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whether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these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encoders</a:t>
            </a:r>
            <a:r>
              <a:rPr dirty="0" sz="10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preserve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relations,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attributes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and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25">
                <a:solidFill>
                  <a:srgbClr val="1A1F2B"/>
                </a:solidFill>
                <a:latin typeface="Calibri"/>
                <a:cs typeface="Calibri"/>
              </a:rPr>
              <a:t>order.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It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does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not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test</a:t>
            </a:r>
            <a:r>
              <a:rPr dirty="0" sz="10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whether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they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preserve</a:t>
            </a:r>
            <a:r>
              <a:rPr dirty="0" sz="1000" spc="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b="1" i="1">
                <a:solidFill>
                  <a:srgbClr val="1A1F2B"/>
                </a:solidFill>
                <a:latin typeface="Calibri"/>
                <a:cs typeface="Calibri"/>
              </a:rPr>
              <a:t>magnitude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.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That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25">
                <a:solidFill>
                  <a:srgbClr val="1A1F2B"/>
                </a:solidFill>
                <a:latin typeface="Calibri"/>
                <a:cs typeface="Calibri"/>
              </a:rPr>
              <a:t>is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 precisely</a:t>
            </a:r>
            <a:r>
              <a:rPr dirty="0" sz="10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property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our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task</a:t>
            </a:r>
            <a:r>
              <a:rPr dirty="0" sz="10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depends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on,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and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10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gap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our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first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experiment</a:t>
            </a:r>
            <a:r>
              <a:rPr dirty="0" sz="10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targets.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05129" y="4005579"/>
            <a:ext cx="8331834" cy="664210"/>
            <a:chOff x="405129" y="4005579"/>
            <a:chExt cx="8331834" cy="664210"/>
          </a:xfrm>
        </p:grpSpPr>
        <p:sp>
          <p:nvSpPr>
            <p:cNvPr id="26" name="object 26"/>
            <p:cNvSpPr/>
            <p:nvPr/>
          </p:nvSpPr>
          <p:spPr>
            <a:xfrm>
              <a:off x="411479" y="4011929"/>
              <a:ext cx="8319134" cy="651510"/>
            </a:xfrm>
            <a:custGeom>
              <a:avLst/>
              <a:gdLst/>
              <a:ahLst/>
              <a:cxnLst/>
              <a:rect l="l" t="t" r="r" b="b"/>
              <a:pathLst>
                <a:path w="8319134" h="651510">
                  <a:moveTo>
                    <a:pt x="8277604" y="651509"/>
                  </a:moveTo>
                  <a:lnTo>
                    <a:pt x="41149" y="651509"/>
                  </a:lnTo>
                  <a:lnTo>
                    <a:pt x="25132" y="648276"/>
                  </a:lnTo>
                  <a:lnTo>
                    <a:pt x="12052" y="639457"/>
                  </a:lnTo>
                  <a:lnTo>
                    <a:pt x="3233" y="626377"/>
                  </a:lnTo>
                  <a:lnTo>
                    <a:pt x="0" y="610360"/>
                  </a:lnTo>
                  <a:lnTo>
                    <a:pt x="0" y="41149"/>
                  </a:lnTo>
                  <a:lnTo>
                    <a:pt x="3233" y="25132"/>
                  </a:lnTo>
                  <a:lnTo>
                    <a:pt x="12052" y="12052"/>
                  </a:lnTo>
                  <a:lnTo>
                    <a:pt x="25132" y="3233"/>
                  </a:lnTo>
                  <a:lnTo>
                    <a:pt x="41149" y="0"/>
                  </a:lnTo>
                  <a:lnTo>
                    <a:pt x="8277604" y="0"/>
                  </a:lnTo>
                  <a:lnTo>
                    <a:pt x="8311840" y="18319"/>
                  </a:lnTo>
                  <a:lnTo>
                    <a:pt x="8318754" y="41149"/>
                  </a:lnTo>
                  <a:lnTo>
                    <a:pt x="8318754" y="610360"/>
                  </a:lnTo>
                  <a:lnTo>
                    <a:pt x="8315520" y="626377"/>
                  </a:lnTo>
                  <a:lnTo>
                    <a:pt x="8306701" y="639457"/>
                  </a:lnTo>
                  <a:lnTo>
                    <a:pt x="8293621" y="648276"/>
                  </a:lnTo>
                  <a:lnTo>
                    <a:pt x="8277604" y="651509"/>
                  </a:lnTo>
                  <a:close/>
                </a:path>
              </a:pathLst>
            </a:custGeom>
            <a:solidFill>
              <a:srgbClr val="FCF1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411479" y="4011929"/>
              <a:ext cx="8319134" cy="651510"/>
            </a:xfrm>
            <a:custGeom>
              <a:avLst/>
              <a:gdLst/>
              <a:ahLst/>
              <a:cxnLst/>
              <a:rect l="l" t="t" r="r" b="b"/>
              <a:pathLst>
                <a:path w="8319134" h="651510">
                  <a:moveTo>
                    <a:pt x="0" y="41149"/>
                  </a:moveTo>
                  <a:lnTo>
                    <a:pt x="3233" y="25132"/>
                  </a:lnTo>
                  <a:lnTo>
                    <a:pt x="12052" y="12052"/>
                  </a:lnTo>
                  <a:lnTo>
                    <a:pt x="25132" y="3233"/>
                  </a:lnTo>
                  <a:lnTo>
                    <a:pt x="41149" y="0"/>
                  </a:lnTo>
                  <a:lnTo>
                    <a:pt x="8277604" y="0"/>
                  </a:lnTo>
                  <a:lnTo>
                    <a:pt x="8311840" y="18319"/>
                  </a:lnTo>
                  <a:lnTo>
                    <a:pt x="8318754" y="41149"/>
                  </a:lnTo>
                  <a:lnTo>
                    <a:pt x="8318754" y="610360"/>
                  </a:lnTo>
                  <a:lnTo>
                    <a:pt x="8315520" y="626377"/>
                  </a:lnTo>
                  <a:lnTo>
                    <a:pt x="8306701" y="639457"/>
                  </a:lnTo>
                  <a:lnTo>
                    <a:pt x="8293621" y="648276"/>
                  </a:lnTo>
                  <a:lnTo>
                    <a:pt x="8277604" y="651509"/>
                  </a:lnTo>
                  <a:lnTo>
                    <a:pt x="41149" y="651509"/>
                  </a:lnTo>
                  <a:lnTo>
                    <a:pt x="25132" y="648276"/>
                  </a:lnTo>
                  <a:lnTo>
                    <a:pt x="12052" y="639457"/>
                  </a:lnTo>
                  <a:lnTo>
                    <a:pt x="3233" y="626377"/>
                  </a:lnTo>
                  <a:lnTo>
                    <a:pt x="0" y="610360"/>
                  </a:lnTo>
                  <a:lnTo>
                    <a:pt x="0" y="41149"/>
                  </a:lnTo>
                  <a:close/>
                </a:path>
              </a:pathLst>
            </a:custGeom>
            <a:ln w="12699">
              <a:solidFill>
                <a:srgbClr val="E1703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549656" y="4167504"/>
            <a:ext cx="792035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E17039"/>
                </a:solidFill>
                <a:latin typeface="Calibri"/>
                <a:cs typeface="Calibri"/>
              </a:rPr>
              <a:t>What</a:t>
            </a:r>
            <a:r>
              <a:rPr dirty="0" sz="900" spc="-20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E17039"/>
                </a:solidFill>
                <a:latin typeface="Calibri"/>
                <a:cs typeface="Calibri"/>
              </a:rPr>
              <a:t>we</a:t>
            </a:r>
            <a:r>
              <a:rPr dirty="0" sz="900" spc="-20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900" spc="-10" b="1">
                <a:solidFill>
                  <a:srgbClr val="E17039"/>
                </a:solidFill>
                <a:latin typeface="Calibri"/>
                <a:cs typeface="Calibri"/>
              </a:rPr>
              <a:t>take</a:t>
            </a:r>
            <a:r>
              <a:rPr dirty="0" sz="900" spc="-20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900" spc="-10" b="1">
                <a:solidFill>
                  <a:srgbClr val="E17039"/>
                </a:solidFill>
                <a:latin typeface="Calibri"/>
                <a:cs typeface="Calibri"/>
              </a:rPr>
              <a:t>from</a:t>
            </a:r>
            <a:r>
              <a:rPr dirty="0" sz="900" spc="-20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E17039"/>
                </a:solidFill>
                <a:latin typeface="Calibri"/>
                <a:cs typeface="Calibri"/>
              </a:rPr>
              <a:t>it</a:t>
            </a:r>
            <a:r>
              <a:rPr dirty="0" sz="900" spc="35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Prior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work</a:t>
            </a:r>
            <a:r>
              <a:rPr dirty="0" sz="10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reports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weaknesses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in</a:t>
            </a:r>
            <a:r>
              <a:rPr dirty="0" sz="10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compositional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structure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for</a:t>
            </a:r>
            <a:r>
              <a:rPr dirty="0" sz="10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some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vision-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language</a:t>
            </a:r>
            <a:r>
              <a:rPr dirty="0" sz="10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models.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We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test</a:t>
            </a:r>
            <a:r>
              <a:rPr dirty="0" sz="10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whether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fine-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grained</a:t>
            </a:r>
            <a:r>
              <a:rPr dirty="0" sz="10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geometric magnitude</a:t>
            </a:r>
            <a:r>
              <a:rPr dirty="0" sz="10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is</a:t>
            </a:r>
            <a:r>
              <a:rPr dirty="0" sz="10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similarly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weakly</a:t>
            </a:r>
            <a:r>
              <a:rPr dirty="0" sz="10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represented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(RQ1).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65"/>
              </a:lnSpc>
            </a:pPr>
            <a:r>
              <a:rPr dirty="0"/>
              <a:t>IE</a:t>
            </a:r>
            <a:r>
              <a:rPr dirty="0" spc="-15"/>
              <a:t> </a:t>
            </a:r>
            <a:r>
              <a:rPr dirty="0"/>
              <a:t>643</a:t>
            </a:r>
            <a:r>
              <a:rPr dirty="0" spc="-15"/>
              <a:t> </a:t>
            </a:r>
            <a:r>
              <a:rPr dirty="0" spc="-10"/>
              <a:t>Course </a:t>
            </a:r>
            <a:r>
              <a:rPr dirty="0"/>
              <a:t>Project</a:t>
            </a:r>
            <a:r>
              <a:rPr dirty="0" spc="135"/>
              <a:t> </a:t>
            </a:r>
            <a:r>
              <a:rPr dirty="0"/>
              <a:t>·</a:t>
            </a:r>
            <a:r>
              <a:rPr dirty="0" spc="140"/>
              <a:t> </a:t>
            </a:r>
            <a:r>
              <a:rPr dirty="0" spc="-20"/>
              <a:t>Team</a:t>
            </a:r>
            <a:r>
              <a:rPr dirty="0" spc="-10"/>
              <a:t> DyoOptix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65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8780" y="244602"/>
            <a:ext cx="42735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E17039"/>
                </a:solidFill>
                <a:latin typeface="Calibri"/>
                <a:cs typeface="Calibri"/>
              </a:rPr>
              <a:t>BLOCK</a:t>
            </a:r>
            <a:r>
              <a:rPr dirty="0" sz="800" spc="-4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800" spc="-25" b="1">
                <a:solidFill>
                  <a:srgbClr val="E17039"/>
                </a:solidFill>
                <a:latin typeface="Calibri"/>
                <a:cs typeface="Calibri"/>
              </a:rPr>
              <a:t>03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4398" y="507268"/>
            <a:ext cx="158180" cy="158180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59384" y="438150"/>
            <a:ext cx="3793490" cy="375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Codebases</a:t>
            </a:r>
            <a:r>
              <a:rPr dirty="0" spc="-50"/>
              <a:t> </a:t>
            </a:r>
            <a:r>
              <a:rPr dirty="0"/>
              <a:t>&amp;</a:t>
            </a:r>
            <a:r>
              <a:rPr dirty="0" spc="-50"/>
              <a:t> </a:t>
            </a:r>
            <a:r>
              <a:rPr dirty="0" spc="-40"/>
              <a:t>Tools</a:t>
            </a:r>
            <a:r>
              <a:rPr dirty="0" spc="-45"/>
              <a:t> </a:t>
            </a:r>
            <a:r>
              <a:rPr dirty="0" spc="-10"/>
              <a:t>Surveyed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22834" y="1091946"/>
          <a:ext cx="8572500" cy="29952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30655"/>
                <a:gridCol w="1917065"/>
                <a:gridCol w="989329"/>
                <a:gridCol w="4161154"/>
              </a:tblGrid>
              <a:tr h="142875">
                <a:tc>
                  <a:txBody>
                    <a:bodyPr/>
                    <a:lstStyle/>
                    <a:p>
                      <a:pPr marL="88265">
                        <a:lnSpc>
                          <a:spcPts val="760"/>
                        </a:lnSpc>
                      </a:pPr>
                      <a:r>
                        <a:rPr dirty="0" sz="800" spc="-20" b="1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TOOL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69875">
                        <a:lnSpc>
                          <a:spcPts val="760"/>
                        </a:lnSpc>
                      </a:pPr>
                      <a:r>
                        <a:rPr dirty="0" sz="800" spc="-20" b="1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ROLE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04470">
                        <a:lnSpc>
                          <a:spcPts val="760"/>
                        </a:lnSpc>
                      </a:pPr>
                      <a:r>
                        <a:rPr dirty="0" sz="800" spc="-10" b="1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STATUS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75895">
                        <a:lnSpc>
                          <a:spcPts val="760"/>
                        </a:lnSpc>
                      </a:pPr>
                      <a:r>
                        <a:rPr dirty="0" sz="800" spc="-10" b="1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REASONING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5060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882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00" spc="-10" b="1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OpenCLIP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75565"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2698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00" spc="-10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Frozen</a:t>
                      </a:r>
                      <a:r>
                        <a:rPr dirty="0" sz="900" spc="-25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CLIP</a:t>
                      </a:r>
                      <a:r>
                        <a:rPr dirty="0" sz="900" spc="-25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text</a:t>
                      </a:r>
                      <a:r>
                        <a:rPr dirty="0" sz="900" spc="-20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 tower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75565"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20447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00" spc="-10" b="1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Adopted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75565"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75895">
                        <a:lnSpc>
                          <a:spcPct val="100000"/>
                        </a:lnSpc>
                      </a:pPr>
                      <a:r>
                        <a:rPr dirty="0" sz="800" spc="-1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Cleaner</a:t>
                      </a:r>
                      <a:r>
                        <a:rPr dirty="0" sz="800" spc="-15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access </a:t>
                      </a:r>
                      <a:r>
                        <a:rPr dirty="0" sz="80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800" spc="-15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800" spc="-1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text</a:t>
                      </a:r>
                      <a:r>
                        <a:rPr dirty="0" sz="800" spc="-15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encoder </a:t>
                      </a:r>
                      <a:r>
                        <a:rPr dirty="0" sz="80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alone</a:t>
                      </a:r>
                      <a:r>
                        <a:rPr dirty="0" sz="800" spc="-15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than</a:t>
                      </a:r>
                      <a:r>
                        <a:rPr dirty="0" sz="800" spc="-1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800" spc="-15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original repo;</a:t>
                      </a:r>
                      <a:r>
                        <a:rPr dirty="0" sz="800" spc="-15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pinned </a:t>
                      </a:r>
                      <a:r>
                        <a:rPr dirty="0" sz="800" spc="-2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ViT-B/32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98425">
                    <a:solidFill>
                      <a:srgbClr val="F6F6F4"/>
                    </a:solidFill>
                  </a:tcPr>
                </a:tc>
              </a:tr>
              <a:tr h="4806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882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00" spc="-20" b="1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sentence-</a:t>
                      </a:r>
                      <a:r>
                        <a:rPr dirty="0" sz="900" spc="-10" b="1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transformers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62865">
                    <a:lnT w="3175">
                      <a:solidFill>
                        <a:srgbClr val="F6F6F4"/>
                      </a:solidFill>
                      <a:prstDash val="solid"/>
                    </a:lnT>
                    <a:lnB w="3175">
                      <a:solidFill>
                        <a:srgbClr val="F6F6F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2698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00" spc="-10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Frozen sentence embeddings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62865">
                    <a:lnT w="3175">
                      <a:solidFill>
                        <a:srgbClr val="F6F6F4"/>
                      </a:solidFill>
                      <a:prstDash val="solid"/>
                    </a:lnT>
                    <a:lnB w="3175">
                      <a:solidFill>
                        <a:srgbClr val="F6F6F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20447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00" spc="-10" b="1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Adopted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62865">
                    <a:lnT w="3175">
                      <a:solidFill>
                        <a:srgbClr val="F6F6F4"/>
                      </a:solidFill>
                      <a:prstDash val="solid"/>
                    </a:lnT>
                    <a:lnB w="3175">
                      <a:solidFill>
                        <a:srgbClr val="F6F6F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75895">
                        <a:lnSpc>
                          <a:spcPct val="100000"/>
                        </a:lnSpc>
                      </a:pPr>
                      <a:r>
                        <a:rPr dirty="0" sz="800" spc="-1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One-</a:t>
                      </a:r>
                      <a:r>
                        <a:rPr dirty="0" sz="80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line</a:t>
                      </a:r>
                      <a:r>
                        <a:rPr dirty="0" sz="800" spc="-1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API</a:t>
                      </a:r>
                      <a:r>
                        <a:rPr dirty="0" sz="800" spc="-1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for</a:t>
                      </a:r>
                      <a:r>
                        <a:rPr dirty="0" sz="800" spc="-1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all-MiniLM-L6-</a:t>
                      </a:r>
                      <a:r>
                        <a:rPr dirty="0" sz="80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v2;</a:t>
                      </a:r>
                      <a:r>
                        <a:rPr dirty="0" sz="800" spc="-1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2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CPU-</a:t>
                      </a:r>
                      <a:r>
                        <a:rPr dirty="0" sz="800" spc="-1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friendly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T w="3175">
                      <a:solidFill>
                        <a:srgbClr val="F6F6F4"/>
                      </a:solidFill>
                      <a:prstDash val="solid"/>
                    </a:lnT>
                    <a:lnB w="3175">
                      <a:solidFill>
                        <a:srgbClr val="F6F6F4"/>
                      </a:solidFill>
                      <a:prstDash val="solid"/>
                    </a:lnB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882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00" spc="-10" b="1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OpenCV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75565"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2698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00" spc="-10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Affine</a:t>
                      </a:r>
                      <a:r>
                        <a:rPr dirty="0" sz="900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warping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75565"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20447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00" spc="-10" b="1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Adopted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75565"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75895">
                        <a:lnSpc>
                          <a:spcPct val="100000"/>
                        </a:lnSpc>
                      </a:pPr>
                      <a:r>
                        <a:rPr dirty="0" sz="800" spc="-1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getRotationMatrix2D</a:t>
                      </a:r>
                      <a:r>
                        <a:rPr dirty="0" sz="800" spc="-15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matches </a:t>
                      </a:r>
                      <a:r>
                        <a:rPr dirty="0" sz="80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our</a:t>
                      </a:r>
                      <a:r>
                        <a:rPr dirty="0" sz="800" spc="-1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convention; </a:t>
                      </a:r>
                      <a:r>
                        <a:rPr dirty="0" sz="80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will</a:t>
                      </a:r>
                      <a:r>
                        <a:rPr dirty="0" sz="800" spc="-1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2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unit-</a:t>
                      </a:r>
                      <a:r>
                        <a:rPr dirty="0" sz="80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test</a:t>
                      </a:r>
                      <a:r>
                        <a:rPr dirty="0" sz="800" spc="-1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our</a:t>
                      </a:r>
                      <a:r>
                        <a:rPr dirty="0" sz="800" spc="-1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matrix</a:t>
                      </a:r>
                      <a:r>
                        <a:rPr dirty="0" sz="800" spc="-1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builder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98425">
                    <a:solidFill>
                      <a:srgbClr val="F6F6F4"/>
                    </a:solidFill>
                  </a:tcPr>
                </a:tc>
              </a:tr>
              <a:tr h="4806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882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00" spc="-10" b="1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kornia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62865">
                    <a:lnT w="3175">
                      <a:solidFill>
                        <a:srgbClr val="F6F6F4"/>
                      </a:solidFill>
                      <a:prstDash val="solid"/>
                    </a:lnT>
                    <a:lnB w="3175">
                      <a:solidFill>
                        <a:srgbClr val="F6F6F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2698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00" spc="-10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Differentiable</a:t>
                      </a:r>
                      <a:r>
                        <a:rPr dirty="0" sz="900" spc="-30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warps</a:t>
                      </a:r>
                      <a:r>
                        <a:rPr dirty="0" sz="900" spc="-25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900" spc="-25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PyTorch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62865">
                    <a:lnT w="3175">
                      <a:solidFill>
                        <a:srgbClr val="F6F6F4"/>
                      </a:solidFill>
                      <a:prstDash val="solid"/>
                    </a:lnT>
                    <a:lnB w="3175">
                      <a:solidFill>
                        <a:srgbClr val="F6F6F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20447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00" b="1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Not</a:t>
                      </a:r>
                      <a:r>
                        <a:rPr dirty="0" sz="900" spc="-15" b="1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 b="1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required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62865">
                    <a:lnT w="3175">
                      <a:solidFill>
                        <a:srgbClr val="F6F6F4"/>
                      </a:solidFill>
                      <a:prstDash val="solid"/>
                    </a:lnT>
                    <a:lnB w="3175">
                      <a:solidFill>
                        <a:srgbClr val="F6F6F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75895">
                        <a:lnSpc>
                          <a:spcPct val="100000"/>
                        </a:lnSpc>
                      </a:pPr>
                      <a:r>
                        <a:rPr dirty="0" sz="80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Only</a:t>
                      </a:r>
                      <a:r>
                        <a:rPr dirty="0" sz="800" spc="-2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needed</a:t>
                      </a:r>
                      <a:r>
                        <a:rPr dirty="0" sz="800" spc="-2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for</a:t>
                      </a:r>
                      <a:r>
                        <a:rPr dirty="0" sz="800" spc="-2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an</a:t>
                      </a:r>
                      <a:r>
                        <a:rPr dirty="0" sz="800" spc="-15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end-</a:t>
                      </a:r>
                      <a:r>
                        <a:rPr dirty="0" sz="800" spc="-2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to-</a:t>
                      </a:r>
                      <a:r>
                        <a:rPr dirty="0" sz="80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end</a:t>
                      </a:r>
                      <a:r>
                        <a:rPr dirty="0" sz="800" spc="-2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pixel</a:t>
                      </a:r>
                      <a:r>
                        <a:rPr dirty="0" sz="800" spc="-2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loss;</a:t>
                      </a:r>
                      <a:r>
                        <a:rPr dirty="0" sz="800" spc="-15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OpenCV</a:t>
                      </a:r>
                      <a:r>
                        <a:rPr dirty="0" sz="800" spc="-2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covers</a:t>
                      </a:r>
                      <a:r>
                        <a:rPr dirty="0" sz="800" spc="-2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our</a:t>
                      </a:r>
                      <a:r>
                        <a:rPr dirty="0" sz="800" spc="-15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warping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T w="3175">
                      <a:solidFill>
                        <a:srgbClr val="F6F6F4"/>
                      </a:solidFill>
                      <a:prstDash val="solid"/>
                    </a:lnT>
                    <a:lnB w="3175">
                      <a:solidFill>
                        <a:srgbClr val="F6F6F4"/>
                      </a:solidFill>
                      <a:prstDash val="solid"/>
                    </a:lnB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882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00" spc="-25" b="1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SAM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75565"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2698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00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Object</a:t>
                      </a:r>
                      <a:r>
                        <a:rPr dirty="0" sz="900" spc="-40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masks</a:t>
                      </a:r>
                      <a:r>
                        <a:rPr dirty="0" sz="900" spc="-40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for</a:t>
                      </a:r>
                      <a:r>
                        <a:rPr dirty="0" sz="900" spc="-35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real</a:t>
                      </a:r>
                      <a:r>
                        <a:rPr dirty="0" sz="900" spc="-40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images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75565"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20447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00" b="1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Not</a:t>
                      </a:r>
                      <a:r>
                        <a:rPr dirty="0" sz="900" spc="-15" b="1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 b="1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required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75565"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75895">
                        <a:lnSpc>
                          <a:spcPct val="100000"/>
                        </a:lnSpc>
                      </a:pPr>
                      <a:r>
                        <a:rPr dirty="0" sz="80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COCO</a:t>
                      </a:r>
                      <a:r>
                        <a:rPr dirty="0" sz="800" spc="-15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ships</a:t>
                      </a:r>
                      <a:r>
                        <a:rPr dirty="0" sz="800" spc="-1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segmentation</a:t>
                      </a:r>
                      <a:r>
                        <a:rPr dirty="0" sz="800" spc="-15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masks, </a:t>
                      </a:r>
                      <a:r>
                        <a:rPr dirty="0" sz="80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so</a:t>
                      </a:r>
                      <a:r>
                        <a:rPr dirty="0" sz="800" spc="-1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no</a:t>
                      </a:r>
                      <a:r>
                        <a:rPr dirty="0" sz="800" spc="-15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extra segmentation model</a:t>
                      </a:r>
                      <a:r>
                        <a:rPr dirty="0" sz="800" spc="-15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is</a:t>
                      </a:r>
                      <a:r>
                        <a:rPr dirty="0" sz="800" spc="-1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needed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98425">
                    <a:solidFill>
                      <a:srgbClr val="F6F6F4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88265">
                        <a:lnSpc>
                          <a:spcPts val="1025"/>
                        </a:lnSpc>
                        <a:spcBef>
                          <a:spcPts val="5"/>
                        </a:spcBef>
                      </a:pPr>
                      <a:r>
                        <a:rPr dirty="0" sz="900" spc="-10" b="1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Gradio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62865">
                    <a:lnT w="3175">
                      <a:solidFill>
                        <a:srgbClr val="F6F6F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269875">
                        <a:lnSpc>
                          <a:spcPts val="1025"/>
                        </a:lnSpc>
                        <a:spcBef>
                          <a:spcPts val="5"/>
                        </a:spcBef>
                      </a:pPr>
                      <a:r>
                        <a:rPr dirty="0" sz="900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Demo</a:t>
                      </a:r>
                      <a:r>
                        <a:rPr dirty="0" sz="900" spc="-45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interface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62865">
                    <a:lnT w="3175">
                      <a:solidFill>
                        <a:srgbClr val="F6F6F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204470">
                        <a:lnSpc>
                          <a:spcPts val="1025"/>
                        </a:lnSpc>
                        <a:spcBef>
                          <a:spcPts val="5"/>
                        </a:spcBef>
                      </a:pPr>
                      <a:r>
                        <a:rPr dirty="0" sz="900" spc="-10" b="1">
                          <a:solidFill>
                            <a:srgbClr val="E17039"/>
                          </a:solidFill>
                          <a:latin typeface="Calibri"/>
                          <a:cs typeface="Calibri"/>
                        </a:rPr>
                        <a:t>Milestone </a:t>
                      </a:r>
                      <a:r>
                        <a:rPr dirty="0" sz="900" spc="-50" b="1">
                          <a:solidFill>
                            <a:srgbClr val="E17039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62865">
                    <a:lnT w="3175">
                      <a:solidFill>
                        <a:srgbClr val="F6F6F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75895">
                        <a:lnSpc>
                          <a:spcPct val="100000"/>
                        </a:lnSpc>
                      </a:pPr>
                      <a:r>
                        <a:rPr dirty="0" sz="800" spc="-1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Required</a:t>
                      </a:r>
                      <a:r>
                        <a:rPr dirty="0" sz="800" spc="5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deliverable;</a:t>
                      </a:r>
                      <a:r>
                        <a:rPr dirty="0" sz="800" spc="5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simplest</a:t>
                      </a:r>
                      <a:r>
                        <a:rPr dirty="0" sz="800" spc="1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route</a:t>
                      </a:r>
                      <a:r>
                        <a:rPr dirty="0" sz="800" spc="5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800" spc="1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an</a:t>
                      </a:r>
                      <a:r>
                        <a:rPr dirty="0" sz="800" spc="5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2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upload-and-</a:t>
                      </a:r>
                      <a:r>
                        <a:rPr dirty="0" sz="800" spc="-1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edit</a:t>
                      </a:r>
                      <a:r>
                        <a:rPr dirty="0" sz="800" spc="1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2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demo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85725">
                    <a:lnT w="3175">
                      <a:solidFill>
                        <a:srgbClr val="F6F6F4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398780" y="4354703"/>
            <a:ext cx="79838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900" spc="-10" i="1">
                <a:solidFill>
                  <a:srgbClr val="6B7280"/>
                </a:solidFill>
                <a:latin typeface="Calibri"/>
                <a:cs typeface="Calibri"/>
              </a:rPr>
              <a:t>Progress</a:t>
            </a:r>
            <a:r>
              <a:rPr dirty="0" sz="900" spc="-20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6B7280"/>
                </a:solidFill>
                <a:latin typeface="Calibri"/>
                <a:cs typeface="Calibri"/>
              </a:rPr>
              <a:t>so</a:t>
            </a:r>
            <a:r>
              <a:rPr dirty="0" sz="900" spc="-1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6B7280"/>
                </a:solidFill>
                <a:latin typeface="Calibri"/>
                <a:cs typeface="Calibri"/>
              </a:rPr>
              <a:t>far:</a:t>
            </a:r>
            <a:r>
              <a:rPr dirty="0" sz="900" spc="-20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10" i="1">
                <a:solidFill>
                  <a:srgbClr val="6B7280"/>
                </a:solidFill>
                <a:latin typeface="Calibri"/>
                <a:cs typeface="Calibri"/>
              </a:rPr>
              <a:t>environment</a:t>
            </a:r>
            <a:r>
              <a:rPr dirty="0" sz="900" spc="-1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6B7280"/>
                </a:solidFill>
                <a:latin typeface="Calibri"/>
                <a:cs typeface="Calibri"/>
              </a:rPr>
              <a:t>built</a:t>
            </a:r>
            <a:r>
              <a:rPr dirty="0" sz="900" spc="-20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6B7280"/>
                </a:solidFill>
                <a:latin typeface="Calibri"/>
                <a:cs typeface="Calibri"/>
              </a:rPr>
              <a:t>and</a:t>
            </a:r>
            <a:r>
              <a:rPr dirty="0" sz="900" spc="-1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6B7280"/>
                </a:solidFill>
                <a:latin typeface="Calibri"/>
                <a:cs typeface="Calibri"/>
              </a:rPr>
              <a:t>tested</a:t>
            </a:r>
            <a:r>
              <a:rPr dirty="0" sz="900" spc="-20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6B7280"/>
                </a:solidFill>
                <a:latin typeface="Calibri"/>
                <a:cs typeface="Calibri"/>
              </a:rPr>
              <a:t>(CLIP </a:t>
            </a:r>
            <a:r>
              <a:rPr dirty="0" sz="900" i="1">
                <a:solidFill>
                  <a:srgbClr val="6B7280"/>
                </a:solidFill>
                <a:latin typeface="Arial"/>
                <a:cs typeface="Arial"/>
              </a:rPr>
              <a:t>→</a:t>
            </a:r>
            <a:r>
              <a:rPr dirty="0" sz="900" spc="-65" i="1">
                <a:solidFill>
                  <a:srgbClr val="6B7280"/>
                </a:solidFill>
                <a:latin typeface="Arial"/>
                <a:cs typeface="Arial"/>
              </a:rPr>
              <a:t> </a:t>
            </a:r>
            <a:r>
              <a:rPr dirty="0" sz="900" spc="-10" i="1">
                <a:solidFill>
                  <a:srgbClr val="6B7280"/>
                </a:solidFill>
                <a:latin typeface="Calibri"/>
                <a:cs typeface="Calibri"/>
              </a:rPr>
              <a:t>512-</a:t>
            </a:r>
            <a:r>
              <a:rPr dirty="0" sz="900" i="1">
                <a:solidFill>
                  <a:srgbClr val="6B7280"/>
                </a:solidFill>
                <a:latin typeface="Calibri"/>
                <a:cs typeface="Calibri"/>
              </a:rPr>
              <a:t>d,</a:t>
            </a:r>
            <a:r>
              <a:rPr dirty="0" sz="900" spc="-1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6B7280"/>
                </a:solidFill>
                <a:latin typeface="Calibri"/>
                <a:cs typeface="Calibri"/>
              </a:rPr>
              <a:t>MiniLM</a:t>
            </a:r>
            <a:r>
              <a:rPr dirty="0" sz="900" spc="-10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6B7280"/>
                </a:solidFill>
                <a:latin typeface="Arial"/>
                <a:cs typeface="Arial"/>
              </a:rPr>
              <a:t>→</a:t>
            </a:r>
            <a:r>
              <a:rPr dirty="0" sz="900" spc="-60" i="1">
                <a:solidFill>
                  <a:srgbClr val="6B7280"/>
                </a:solidFill>
                <a:latin typeface="Arial"/>
                <a:cs typeface="Arial"/>
              </a:rPr>
              <a:t> </a:t>
            </a:r>
            <a:r>
              <a:rPr dirty="0" sz="900" spc="-10" i="1">
                <a:solidFill>
                  <a:srgbClr val="6B7280"/>
                </a:solidFill>
                <a:latin typeface="Calibri"/>
                <a:cs typeface="Calibri"/>
              </a:rPr>
              <a:t>384-</a:t>
            </a:r>
            <a:r>
              <a:rPr dirty="0" sz="900" i="1">
                <a:solidFill>
                  <a:srgbClr val="6B7280"/>
                </a:solidFill>
                <a:latin typeface="Calibri"/>
                <a:cs typeface="Calibri"/>
              </a:rPr>
              <a:t>d,</a:t>
            </a:r>
            <a:r>
              <a:rPr dirty="0" sz="900" spc="-20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6B7280"/>
                </a:solidFill>
                <a:latin typeface="Calibri"/>
                <a:cs typeface="Calibri"/>
              </a:rPr>
              <a:t>OpenCV</a:t>
            </a:r>
            <a:r>
              <a:rPr dirty="0" sz="900" spc="-1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6B7280"/>
                </a:solidFill>
                <a:latin typeface="Calibri"/>
                <a:cs typeface="Calibri"/>
              </a:rPr>
              <a:t>warp</a:t>
            </a:r>
            <a:r>
              <a:rPr dirty="0" sz="900" spc="-1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10" i="1">
                <a:solidFill>
                  <a:srgbClr val="6B7280"/>
                </a:solidFill>
                <a:latin typeface="Calibri"/>
                <a:cs typeface="Calibri"/>
              </a:rPr>
              <a:t>working);</a:t>
            </a:r>
            <a:r>
              <a:rPr dirty="0" sz="900" spc="-20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10" i="1">
                <a:solidFill>
                  <a:srgbClr val="6B7280"/>
                </a:solidFill>
                <a:latin typeface="Calibri"/>
                <a:cs typeface="Calibri"/>
              </a:rPr>
              <a:t>problem,</a:t>
            </a:r>
            <a:r>
              <a:rPr dirty="0" sz="900" spc="-1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6B7280"/>
                </a:solidFill>
                <a:latin typeface="Calibri"/>
                <a:cs typeface="Calibri"/>
              </a:rPr>
              <a:t>dataset</a:t>
            </a:r>
            <a:r>
              <a:rPr dirty="0" sz="900" spc="-20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6B7280"/>
                </a:solidFill>
                <a:latin typeface="Calibri"/>
                <a:cs typeface="Calibri"/>
              </a:rPr>
              <a:t>and</a:t>
            </a:r>
            <a:r>
              <a:rPr dirty="0" sz="900" spc="-1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10" i="1">
                <a:solidFill>
                  <a:srgbClr val="6B7280"/>
                </a:solidFill>
                <a:latin typeface="Calibri"/>
                <a:cs typeface="Calibri"/>
              </a:rPr>
              <a:t>evaluation</a:t>
            </a:r>
            <a:r>
              <a:rPr dirty="0" sz="900" spc="-20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6B7280"/>
                </a:solidFill>
                <a:latin typeface="Calibri"/>
                <a:cs typeface="Calibri"/>
              </a:rPr>
              <a:t>designed.</a:t>
            </a:r>
            <a:r>
              <a:rPr dirty="0" sz="900" spc="-1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6B7280"/>
                </a:solidFill>
                <a:latin typeface="Calibri"/>
                <a:cs typeface="Calibri"/>
              </a:rPr>
              <a:t>Not</a:t>
            </a:r>
            <a:r>
              <a:rPr dirty="0" sz="900" spc="-1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6B7280"/>
                </a:solidFill>
                <a:latin typeface="Calibri"/>
                <a:cs typeface="Calibri"/>
              </a:rPr>
              <a:t>yet:</a:t>
            </a:r>
            <a:r>
              <a:rPr dirty="0" sz="900" spc="-20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6B7280"/>
                </a:solidFill>
                <a:latin typeface="Calibri"/>
                <a:cs typeface="Calibri"/>
              </a:rPr>
              <a:t>data</a:t>
            </a:r>
            <a:r>
              <a:rPr dirty="0" sz="900" spc="-1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10" i="1">
                <a:solidFill>
                  <a:srgbClr val="6B7280"/>
                </a:solidFill>
                <a:latin typeface="Calibri"/>
                <a:cs typeface="Calibri"/>
              </a:rPr>
              <a:t>generation,</a:t>
            </a:r>
            <a:r>
              <a:rPr dirty="0" sz="900" spc="500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10" i="1">
                <a:solidFill>
                  <a:srgbClr val="6B7280"/>
                </a:solidFill>
                <a:latin typeface="Calibri"/>
                <a:cs typeface="Calibri"/>
              </a:rPr>
              <a:t>training</a:t>
            </a:r>
            <a:r>
              <a:rPr dirty="0" sz="900" spc="-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6B7280"/>
                </a:solidFill>
                <a:latin typeface="Calibri"/>
                <a:cs typeface="Calibri"/>
              </a:rPr>
              <a:t>or</a:t>
            </a:r>
            <a:r>
              <a:rPr dirty="0" sz="900" spc="-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10" i="1">
                <a:solidFill>
                  <a:srgbClr val="6B7280"/>
                </a:solidFill>
                <a:latin typeface="Calibri"/>
                <a:cs typeface="Calibri"/>
              </a:rPr>
              <a:t>results.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65"/>
              </a:lnSpc>
            </a:pPr>
            <a:r>
              <a:rPr dirty="0"/>
              <a:t>IE</a:t>
            </a:r>
            <a:r>
              <a:rPr dirty="0" spc="-15"/>
              <a:t> </a:t>
            </a:r>
            <a:r>
              <a:rPr dirty="0"/>
              <a:t>643</a:t>
            </a:r>
            <a:r>
              <a:rPr dirty="0" spc="-15"/>
              <a:t> </a:t>
            </a:r>
            <a:r>
              <a:rPr dirty="0" spc="-10"/>
              <a:t>Course </a:t>
            </a:r>
            <a:r>
              <a:rPr dirty="0"/>
              <a:t>Project</a:t>
            </a:r>
            <a:r>
              <a:rPr dirty="0" spc="135"/>
              <a:t> </a:t>
            </a:r>
            <a:r>
              <a:rPr dirty="0"/>
              <a:t>·</a:t>
            </a:r>
            <a:r>
              <a:rPr dirty="0" spc="140"/>
              <a:t> </a:t>
            </a:r>
            <a:r>
              <a:rPr dirty="0" spc="-20"/>
              <a:t>Team</a:t>
            </a:r>
            <a:r>
              <a:rPr dirty="0" spc="-10"/>
              <a:t> DyoOptix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65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8780" y="244602"/>
            <a:ext cx="86741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E17039"/>
                </a:solidFill>
                <a:latin typeface="Calibri"/>
                <a:cs typeface="Calibri"/>
              </a:rPr>
              <a:t>BLOCK</a:t>
            </a:r>
            <a:r>
              <a:rPr dirty="0" sz="800" spc="-20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E17039"/>
                </a:solidFill>
                <a:latin typeface="Calibri"/>
                <a:cs typeface="Calibri"/>
              </a:rPr>
              <a:t>04</a:t>
            </a:r>
            <a:r>
              <a:rPr dirty="0" sz="800" spc="-1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E17039"/>
                </a:solidFill>
                <a:latin typeface="Calibri"/>
                <a:cs typeface="Calibri"/>
              </a:rPr>
              <a:t>·</a:t>
            </a:r>
            <a:r>
              <a:rPr dirty="0" sz="800" spc="-1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800" spc="-10" b="1">
                <a:solidFill>
                  <a:srgbClr val="E17039"/>
                </a:solidFill>
                <a:latin typeface="Calibri"/>
                <a:cs typeface="Calibri"/>
              </a:rPr>
              <a:t>DATASET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4398" y="507268"/>
            <a:ext cx="158180" cy="158180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Why</a:t>
            </a:r>
            <a:r>
              <a:rPr dirty="0" spc="-95"/>
              <a:t> </a:t>
            </a:r>
            <a:r>
              <a:rPr dirty="0" spc="-60"/>
              <a:t>We</a:t>
            </a:r>
            <a:r>
              <a:rPr dirty="0" spc="-70"/>
              <a:t> </a:t>
            </a:r>
            <a:r>
              <a:rPr dirty="0" spc="-10"/>
              <a:t>Generate</a:t>
            </a:r>
            <a:r>
              <a:rPr dirty="0" spc="-80"/>
              <a:t> </a:t>
            </a:r>
            <a:r>
              <a:rPr dirty="0"/>
              <a:t>the</a:t>
            </a:r>
            <a:r>
              <a:rPr dirty="0" spc="-80"/>
              <a:t> </a:t>
            </a:r>
            <a:r>
              <a:rPr dirty="0" spc="-10"/>
              <a:t>Dataset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406717" y="1058227"/>
            <a:ext cx="8328659" cy="1106805"/>
            <a:chOff x="406717" y="1058227"/>
            <a:chExt cx="8328659" cy="1106805"/>
          </a:xfrm>
        </p:grpSpPr>
        <p:sp>
          <p:nvSpPr>
            <p:cNvPr id="6" name="object 6"/>
            <p:cNvSpPr/>
            <p:nvPr/>
          </p:nvSpPr>
          <p:spPr>
            <a:xfrm>
              <a:off x="411480" y="1062989"/>
              <a:ext cx="8319134" cy="1097280"/>
            </a:xfrm>
            <a:custGeom>
              <a:avLst/>
              <a:gdLst/>
              <a:ahLst/>
              <a:cxnLst/>
              <a:rect l="l" t="t" r="r" b="b"/>
              <a:pathLst>
                <a:path w="8319134" h="1097280">
                  <a:moveTo>
                    <a:pt x="8277605" y="1097279"/>
                  </a:moveTo>
                  <a:lnTo>
                    <a:pt x="41147" y="1097279"/>
                  </a:lnTo>
                  <a:lnTo>
                    <a:pt x="25131" y="1094046"/>
                  </a:lnTo>
                  <a:lnTo>
                    <a:pt x="12051" y="1085228"/>
                  </a:lnTo>
                  <a:lnTo>
                    <a:pt x="3233" y="1072148"/>
                  </a:lnTo>
                  <a:lnTo>
                    <a:pt x="0" y="1056131"/>
                  </a:lnTo>
                  <a:lnTo>
                    <a:pt x="0" y="41147"/>
                  </a:lnTo>
                  <a:lnTo>
                    <a:pt x="3233" y="25131"/>
                  </a:lnTo>
                  <a:lnTo>
                    <a:pt x="12051" y="12051"/>
                  </a:lnTo>
                  <a:lnTo>
                    <a:pt x="25131" y="3233"/>
                  </a:lnTo>
                  <a:lnTo>
                    <a:pt x="41147" y="0"/>
                  </a:lnTo>
                  <a:lnTo>
                    <a:pt x="8277605" y="0"/>
                  </a:lnTo>
                  <a:lnTo>
                    <a:pt x="8311840" y="18319"/>
                  </a:lnTo>
                  <a:lnTo>
                    <a:pt x="8318754" y="41147"/>
                  </a:lnTo>
                  <a:lnTo>
                    <a:pt x="8318754" y="1056131"/>
                  </a:lnTo>
                  <a:lnTo>
                    <a:pt x="8315520" y="1072148"/>
                  </a:lnTo>
                  <a:lnTo>
                    <a:pt x="8306702" y="1085228"/>
                  </a:lnTo>
                  <a:lnTo>
                    <a:pt x="8293622" y="1094046"/>
                  </a:lnTo>
                  <a:lnTo>
                    <a:pt x="8277605" y="1097279"/>
                  </a:lnTo>
                  <a:close/>
                </a:path>
              </a:pathLst>
            </a:custGeom>
            <a:solidFill>
              <a:srgbClr val="F4F4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11480" y="1062989"/>
              <a:ext cx="8319134" cy="1097280"/>
            </a:xfrm>
            <a:custGeom>
              <a:avLst/>
              <a:gdLst/>
              <a:ahLst/>
              <a:cxnLst/>
              <a:rect l="l" t="t" r="r" b="b"/>
              <a:pathLst>
                <a:path w="8319134" h="1097280">
                  <a:moveTo>
                    <a:pt x="0" y="41147"/>
                  </a:moveTo>
                  <a:lnTo>
                    <a:pt x="3233" y="25131"/>
                  </a:lnTo>
                  <a:lnTo>
                    <a:pt x="12051" y="12051"/>
                  </a:lnTo>
                  <a:lnTo>
                    <a:pt x="25131" y="3233"/>
                  </a:lnTo>
                  <a:lnTo>
                    <a:pt x="41147" y="0"/>
                  </a:lnTo>
                  <a:lnTo>
                    <a:pt x="8277605" y="0"/>
                  </a:lnTo>
                  <a:lnTo>
                    <a:pt x="8311840" y="18319"/>
                  </a:lnTo>
                  <a:lnTo>
                    <a:pt x="8318754" y="41147"/>
                  </a:lnTo>
                  <a:lnTo>
                    <a:pt x="8318754" y="1056131"/>
                  </a:lnTo>
                  <a:lnTo>
                    <a:pt x="8315520" y="1072148"/>
                  </a:lnTo>
                  <a:lnTo>
                    <a:pt x="8306702" y="1085228"/>
                  </a:lnTo>
                  <a:lnTo>
                    <a:pt x="8293622" y="1094046"/>
                  </a:lnTo>
                  <a:lnTo>
                    <a:pt x="8277605" y="1097279"/>
                  </a:lnTo>
                  <a:lnTo>
                    <a:pt x="41147" y="1097279"/>
                  </a:lnTo>
                  <a:lnTo>
                    <a:pt x="25131" y="1094046"/>
                  </a:lnTo>
                  <a:lnTo>
                    <a:pt x="12051" y="1085228"/>
                  </a:lnTo>
                  <a:lnTo>
                    <a:pt x="3233" y="1072148"/>
                  </a:lnTo>
                  <a:lnTo>
                    <a:pt x="0" y="1056131"/>
                  </a:lnTo>
                  <a:lnTo>
                    <a:pt x="0" y="41147"/>
                  </a:lnTo>
                  <a:close/>
                </a:path>
              </a:pathLst>
            </a:custGeom>
            <a:ln w="9524">
              <a:solidFill>
                <a:srgbClr val="E3E4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406717" y="2292667"/>
            <a:ext cx="8328659" cy="1209675"/>
            <a:chOff x="406717" y="2292667"/>
            <a:chExt cx="8328659" cy="1209675"/>
          </a:xfrm>
        </p:grpSpPr>
        <p:sp>
          <p:nvSpPr>
            <p:cNvPr id="9" name="object 9"/>
            <p:cNvSpPr/>
            <p:nvPr/>
          </p:nvSpPr>
          <p:spPr>
            <a:xfrm>
              <a:off x="411480" y="2297429"/>
              <a:ext cx="8319134" cy="1200150"/>
            </a:xfrm>
            <a:custGeom>
              <a:avLst/>
              <a:gdLst/>
              <a:ahLst/>
              <a:cxnLst/>
              <a:rect l="l" t="t" r="r" b="b"/>
              <a:pathLst>
                <a:path w="8319134" h="1200150">
                  <a:moveTo>
                    <a:pt x="8277600" y="1200149"/>
                  </a:moveTo>
                  <a:lnTo>
                    <a:pt x="41153" y="1200149"/>
                  </a:lnTo>
                  <a:lnTo>
                    <a:pt x="25134" y="1196915"/>
                  </a:lnTo>
                  <a:lnTo>
                    <a:pt x="12053" y="1188096"/>
                  </a:lnTo>
                  <a:lnTo>
                    <a:pt x="3234" y="1175015"/>
                  </a:lnTo>
                  <a:lnTo>
                    <a:pt x="0" y="1158996"/>
                  </a:lnTo>
                  <a:lnTo>
                    <a:pt x="0" y="41153"/>
                  </a:lnTo>
                  <a:lnTo>
                    <a:pt x="3234" y="25134"/>
                  </a:lnTo>
                  <a:lnTo>
                    <a:pt x="12053" y="12053"/>
                  </a:lnTo>
                  <a:lnTo>
                    <a:pt x="25134" y="3234"/>
                  </a:lnTo>
                  <a:lnTo>
                    <a:pt x="41153" y="0"/>
                  </a:lnTo>
                  <a:lnTo>
                    <a:pt x="8277600" y="0"/>
                  </a:lnTo>
                  <a:lnTo>
                    <a:pt x="8311839" y="18321"/>
                  </a:lnTo>
                  <a:lnTo>
                    <a:pt x="8318754" y="41153"/>
                  </a:lnTo>
                  <a:lnTo>
                    <a:pt x="8318754" y="1158996"/>
                  </a:lnTo>
                  <a:lnTo>
                    <a:pt x="8315520" y="1175015"/>
                  </a:lnTo>
                  <a:lnTo>
                    <a:pt x="8306700" y="1188096"/>
                  </a:lnTo>
                  <a:lnTo>
                    <a:pt x="8293619" y="1196915"/>
                  </a:lnTo>
                  <a:lnTo>
                    <a:pt x="8277600" y="1200149"/>
                  </a:lnTo>
                  <a:close/>
                </a:path>
              </a:pathLst>
            </a:custGeom>
            <a:solidFill>
              <a:srgbClr val="FCF1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411480" y="2297429"/>
              <a:ext cx="8319134" cy="1200150"/>
            </a:xfrm>
            <a:custGeom>
              <a:avLst/>
              <a:gdLst/>
              <a:ahLst/>
              <a:cxnLst/>
              <a:rect l="l" t="t" r="r" b="b"/>
              <a:pathLst>
                <a:path w="8319134" h="1200150">
                  <a:moveTo>
                    <a:pt x="0" y="41153"/>
                  </a:moveTo>
                  <a:lnTo>
                    <a:pt x="3234" y="25134"/>
                  </a:lnTo>
                  <a:lnTo>
                    <a:pt x="12053" y="12053"/>
                  </a:lnTo>
                  <a:lnTo>
                    <a:pt x="25134" y="3234"/>
                  </a:lnTo>
                  <a:lnTo>
                    <a:pt x="41153" y="0"/>
                  </a:lnTo>
                  <a:lnTo>
                    <a:pt x="8277600" y="0"/>
                  </a:lnTo>
                  <a:lnTo>
                    <a:pt x="8311839" y="18321"/>
                  </a:lnTo>
                  <a:lnTo>
                    <a:pt x="8318754" y="41153"/>
                  </a:lnTo>
                  <a:lnTo>
                    <a:pt x="8318754" y="1158996"/>
                  </a:lnTo>
                  <a:lnTo>
                    <a:pt x="8315520" y="1175015"/>
                  </a:lnTo>
                  <a:lnTo>
                    <a:pt x="8306700" y="1188096"/>
                  </a:lnTo>
                  <a:lnTo>
                    <a:pt x="8293619" y="1196915"/>
                  </a:lnTo>
                  <a:lnTo>
                    <a:pt x="8277600" y="1200149"/>
                  </a:lnTo>
                  <a:lnTo>
                    <a:pt x="41153" y="1200149"/>
                  </a:lnTo>
                  <a:lnTo>
                    <a:pt x="25134" y="1196915"/>
                  </a:lnTo>
                  <a:lnTo>
                    <a:pt x="12053" y="1188096"/>
                  </a:lnTo>
                  <a:lnTo>
                    <a:pt x="3234" y="1175015"/>
                  </a:lnTo>
                  <a:lnTo>
                    <a:pt x="0" y="1158996"/>
                  </a:lnTo>
                  <a:lnTo>
                    <a:pt x="0" y="41153"/>
                  </a:lnTo>
                  <a:close/>
                </a:path>
              </a:pathLst>
            </a:custGeom>
            <a:ln w="9524">
              <a:solidFill>
                <a:srgbClr val="E3E4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604520" y="1128381"/>
            <a:ext cx="7868920" cy="2209800"/>
          </a:xfrm>
          <a:prstGeom prst="rect">
            <a:avLst/>
          </a:prstGeom>
        </p:spPr>
        <p:txBody>
          <a:bodyPr wrap="square" lIns="0" tIns="749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dirty="0" sz="1100" b="1">
                <a:solidFill>
                  <a:srgbClr val="1A1F2B"/>
                </a:solidFill>
                <a:latin typeface="Calibri"/>
                <a:cs typeface="Calibri"/>
              </a:rPr>
              <a:t>We</a:t>
            </a:r>
            <a:r>
              <a:rPr dirty="0" sz="1100" spc="-25" b="1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A1F2B"/>
                </a:solidFill>
                <a:latin typeface="Calibri"/>
                <a:cs typeface="Calibri"/>
              </a:rPr>
              <a:t>did</a:t>
            </a:r>
            <a:r>
              <a:rPr dirty="0" sz="1100" spc="-20" b="1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A1F2B"/>
                </a:solidFill>
                <a:latin typeface="Calibri"/>
                <a:cs typeface="Calibri"/>
              </a:rPr>
              <a:t>not</a:t>
            </a:r>
            <a:r>
              <a:rPr dirty="0" sz="1100" spc="-20" b="1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1A1F2B"/>
                </a:solidFill>
                <a:latin typeface="Calibri"/>
                <a:cs typeface="Calibri"/>
              </a:rPr>
              <a:t>identify</a:t>
            </a:r>
            <a:r>
              <a:rPr dirty="0" sz="1100" spc="-20" b="1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A1F2B"/>
                </a:solidFill>
                <a:latin typeface="Calibri"/>
                <a:cs typeface="Calibri"/>
              </a:rPr>
              <a:t>a</a:t>
            </a:r>
            <a:r>
              <a:rPr dirty="0" sz="1100" spc="-25" b="1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1A1F2B"/>
                </a:solidFill>
                <a:latin typeface="Calibri"/>
                <a:cs typeface="Calibri"/>
              </a:rPr>
              <a:t>dataset</a:t>
            </a:r>
            <a:r>
              <a:rPr dirty="0" sz="1100" spc="-20" b="1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A1F2B"/>
                </a:solidFill>
                <a:latin typeface="Calibri"/>
                <a:cs typeface="Calibri"/>
              </a:rPr>
              <a:t>that</a:t>
            </a:r>
            <a:r>
              <a:rPr dirty="0" sz="1100" spc="-20" b="1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A1F2B"/>
                </a:solidFill>
                <a:latin typeface="Calibri"/>
                <a:cs typeface="Calibri"/>
              </a:rPr>
              <a:t>fits</a:t>
            </a:r>
            <a:r>
              <a:rPr dirty="0" sz="1100" spc="-20" b="1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A1F2B"/>
                </a:solidFill>
                <a:latin typeface="Calibri"/>
                <a:cs typeface="Calibri"/>
              </a:rPr>
              <a:t>this</a:t>
            </a:r>
            <a:r>
              <a:rPr dirty="0" sz="1100" spc="-20" b="1">
                <a:solidFill>
                  <a:srgbClr val="1A1F2B"/>
                </a:solidFill>
                <a:latin typeface="Calibri"/>
                <a:cs typeface="Calibri"/>
              </a:rPr>
              <a:t> task</a:t>
            </a:r>
            <a:endParaRPr sz="1100">
              <a:latin typeface="Calibri"/>
              <a:cs typeface="Calibri"/>
            </a:endParaRPr>
          </a:p>
          <a:p>
            <a:pPr marL="266065" indent="-247015">
              <a:lnSpc>
                <a:spcPct val="100000"/>
              </a:lnSpc>
              <a:spcBef>
                <a:spcPts val="400"/>
              </a:spcBef>
              <a:buChar char="•"/>
              <a:tabLst>
                <a:tab pos="266065" algn="l"/>
              </a:tabLst>
            </a:pP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Instruction-editing</a:t>
            </a:r>
            <a:r>
              <a:rPr dirty="0" sz="900" spc="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corpora</a:t>
            </a:r>
            <a:r>
              <a:rPr dirty="0" sz="900" spc="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(e.g.</a:t>
            </a:r>
            <a:r>
              <a:rPr dirty="0" sz="900" spc="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InstructPix2Pix,</a:t>
            </a:r>
            <a:r>
              <a:rPr dirty="0" sz="900" spc="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MagicBrush)</a:t>
            </a:r>
            <a:r>
              <a:rPr dirty="0" sz="900" spc="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provide</a:t>
            </a:r>
            <a:r>
              <a:rPr dirty="0" sz="900" spc="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(image,</a:t>
            </a:r>
            <a:r>
              <a:rPr dirty="0" sz="900" spc="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instruction,</a:t>
            </a:r>
            <a:r>
              <a:rPr dirty="0" sz="900" spc="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edited</a:t>
            </a:r>
            <a:r>
              <a:rPr dirty="0" sz="900" spc="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image)</a:t>
            </a:r>
            <a:r>
              <a:rPr dirty="0" sz="900" spc="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triples</a:t>
            </a:r>
            <a:endParaRPr sz="900">
              <a:latin typeface="Calibri"/>
              <a:cs typeface="Calibri"/>
            </a:endParaRPr>
          </a:p>
          <a:p>
            <a:pPr marL="266065" indent="-247015">
              <a:lnSpc>
                <a:spcPct val="100000"/>
              </a:lnSpc>
              <a:spcBef>
                <a:spcPts val="700"/>
              </a:spcBef>
              <a:buChar char="•"/>
              <a:tabLst>
                <a:tab pos="266065" algn="l"/>
              </a:tabLst>
            </a:pP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numeric transform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was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never recorded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—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these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systems generate pixels directly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and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never compute </a:t>
            </a:r>
            <a:r>
              <a:rPr dirty="0" sz="900" spc="-25">
                <a:solidFill>
                  <a:srgbClr val="1A1F2B"/>
                </a:solidFill>
                <a:latin typeface="Calibri"/>
                <a:cs typeface="Calibri"/>
              </a:rPr>
              <a:t>one</a:t>
            </a:r>
            <a:endParaRPr sz="900">
              <a:latin typeface="Calibri"/>
              <a:cs typeface="Calibri"/>
            </a:endParaRPr>
          </a:p>
          <a:p>
            <a:pPr marL="266065" indent="-247015">
              <a:lnSpc>
                <a:spcPct val="100000"/>
              </a:lnSpc>
              <a:spcBef>
                <a:spcPts val="700"/>
              </a:spcBef>
              <a:buChar char="•"/>
              <a:tabLst>
                <a:tab pos="266065" algn="l"/>
              </a:tabLst>
            </a:pP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Recovering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parameters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from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before/after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pairs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is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a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harder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problem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than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one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we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are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solving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 b="1">
                <a:solidFill>
                  <a:srgbClr val="E17039"/>
                </a:solidFill>
                <a:latin typeface="Calibri"/>
                <a:cs typeface="Calibri"/>
              </a:rPr>
              <a:t>Our</a:t>
            </a:r>
            <a:r>
              <a:rPr dirty="0" sz="1100" spc="-20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E17039"/>
                </a:solidFill>
                <a:latin typeface="Calibri"/>
                <a:cs typeface="Calibri"/>
              </a:rPr>
              <a:t>approach:</a:t>
            </a:r>
            <a:r>
              <a:rPr dirty="0" sz="1100" spc="-20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E17039"/>
                </a:solidFill>
                <a:latin typeface="Calibri"/>
                <a:cs typeface="Calibri"/>
              </a:rPr>
              <a:t>invert</a:t>
            </a:r>
            <a:r>
              <a:rPr dirty="0" sz="1100" spc="-1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E17039"/>
                </a:solidFill>
                <a:latin typeface="Calibri"/>
                <a:cs typeface="Calibri"/>
              </a:rPr>
              <a:t>the</a:t>
            </a:r>
            <a:r>
              <a:rPr dirty="0" sz="1100" spc="-20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E17039"/>
                </a:solidFill>
                <a:latin typeface="Calibri"/>
                <a:cs typeface="Calibri"/>
              </a:rPr>
              <a:t>labelling</a:t>
            </a:r>
            <a:r>
              <a:rPr dirty="0" sz="1100" spc="-1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E17039"/>
                </a:solidFill>
                <a:latin typeface="Calibri"/>
                <a:cs typeface="Calibri"/>
              </a:rPr>
              <a:t>order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1100" spc="-10" b="1">
                <a:solidFill>
                  <a:srgbClr val="1A1F2B"/>
                </a:solidFill>
                <a:latin typeface="Calibri"/>
                <a:cs typeface="Calibri"/>
              </a:rPr>
              <a:t>Sample </a:t>
            </a:r>
            <a:r>
              <a:rPr dirty="0" sz="1100" b="1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1100" spc="-10" b="1">
                <a:solidFill>
                  <a:srgbClr val="1A1F2B"/>
                </a:solidFill>
                <a:latin typeface="Calibri"/>
                <a:cs typeface="Calibri"/>
              </a:rPr>
              <a:t> parameter first, </a:t>
            </a:r>
            <a:r>
              <a:rPr dirty="0" sz="1100" b="1">
                <a:solidFill>
                  <a:srgbClr val="1A1F2B"/>
                </a:solidFill>
                <a:latin typeface="Calibri"/>
                <a:cs typeface="Calibri"/>
              </a:rPr>
              <a:t>then</a:t>
            </a:r>
            <a:r>
              <a:rPr dirty="0" sz="1100" spc="-10" b="1">
                <a:solidFill>
                  <a:srgbClr val="1A1F2B"/>
                </a:solidFill>
                <a:latin typeface="Calibri"/>
                <a:cs typeface="Calibri"/>
              </a:rPr>
              <a:t> construct </a:t>
            </a:r>
            <a:r>
              <a:rPr dirty="0" sz="1100" b="1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1100" spc="-10" b="1">
                <a:solidFill>
                  <a:srgbClr val="1A1F2B"/>
                </a:solidFill>
                <a:latin typeface="Calibri"/>
                <a:cs typeface="Calibri"/>
              </a:rPr>
              <a:t> sentence </a:t>
            </a:r>
            <a:r>
              <a:rPr dirty="0" sz="1100" b="1">
                <a:solidFill>
                  <a:srgbClr val="1A1F2B"/>
                </a:solidFill>
                <a:latin typeface="Calibri"/>
                <a:cs typeface="Calibri"/>
              </a:rPr>
              <a:t>around</a:t>
            </a:r>
            <a:r>
              <a:rPr dirty="0" sz="1100" spc="-5" b="1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100" spc="-25" b="1">
                <a:solidFill>
                  <a:srgbClr val="1A1F2B"/>
                </a:solidFill>
                <a:latin typeface="Calibri"/>
                <a:cs typeface="Calibri"/>
              </a:rPr>
              <a:t>it.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11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Annotation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is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normally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expensive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step.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Generating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number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before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text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makes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labels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exact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and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free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—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there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is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no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annotator disagreement,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no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labelling budget</a:t>
            </a:r>
            <a:r>
              <a:rPr dirty="0" sz="900" spc="50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and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no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measurement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noise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beyond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what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we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deliberately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introduce.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06717" y="3629977"/>
            <a:ext cx="8328659" cy="866775"/>
            <a:chOff x="406717" y="3629977"/>
            <a:chExt cx="8328659" cy="866775"/>
          </a:xfrm>
        </p:grpSpPr>
        <p:sp>
          <p:nvSpPr>
            <p:cNvPr id="13" name="object 13"/>
            <p:cNvSpPr/>
            <p:nvPr/>
          </p:nvSpPr>
          <p:spPr>
            <a:xfrm>
              <a:off x="411480" y="3634740"/>
              <a:ext cx="8319134" cy="857250"/>
            </a:xfrm>
            <a:custGeom>
              <a:avLst/>
              <a:gdLst/>
              <a:ahLst/>
              <a:cxnLst/>
              <a:rect l="l" t="t" r="r" b="b"/>
              <a:pathLst>
                <a:path w="8319134" h="857250">
                  <a:moveTo>
                    <a:pt x="8277605" y="857249"/>
                  </a:moveTo>
                  <a:lnTo>
                    <a:pt x="41147" y="857249"/>
                  </a:lnTo>
                  <a:lnTo>
                    <a:pt x="25131" y="854016"/>
                  </a:lnTo>
                  <a:lnTo>
                    <a:pt x="12051" y="845198"/>
                  </a:lnTo>
                  <a:lnTo>
                    <a:pt x="3233" y="832118"/>
                  </a:lnTo>
                  <a:lnTo>
                    <a:pt x="0" y="816102"/>
                  </a:lnTo>
                  <a:lnTo>
                    <a:pt x="0" y="41147"/>
                  </a:lnTo>
                  <a:lnTo>
                    <a:pt x="3233" y="25131"/>
                  </a:lnTo>
                  <a:lnTo>
                    <a:pt x="12051" y="12051"/>
                  </a:lnTo>
                  <a:lnTo>
                    <a:pt x="25131" y="3233"/>
                  </a:lnTo>
                  <a:lnTo>
                    <a:pt x="41147" y="0"/>
                  </a:lnTo>
                  <a:lnTo>
                    <a:pt x="8277605" y="0"/>
                  </a:lnTo>
                  <a:lnTo>
                    <a:pt x="8311840" y="18318"/>
                  </a:lnTo>
                  <a:lnTo>
                    <a:pt x="8318754" y="41147"/>
                  </a:lnTo>
                  <a:lnTo>
                    <a:pt x="8318754" y="816102"/>
                  </a:lnTo>
                  <a:lnTo>
                    <a:pt x="8315520" y="832118"/>
                  </a:lnTo>
                  <a:lnTo>
                    <a:pt x="8306702" y="845198"/>
                  </a:lnTo>
                  <a:lnTo>
                    <a:pt x="8293622" y="854016"/>
                  </a:lnTo>
                  <a:lnTo>
                    <a:pt x="8277605" y="857249"/>
                  </a:lnTo>
                  <a:close/>
                </a:path>
              </a:pathLst>
            </a:custGeom>
            <a:solidFill>
              <a:srgbClr val="F6F6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11480" y="3634740"/>
              <a:ext cx="8319134" cy="857250"/>
            </a:xfrm>
            <a:custGeom>
              <a:avLst/>
              <a:gdLst/>
              <a:ahLst/>
              <a:cxnLst/>
              <a:rect l="l" t="t" r="r" b="b"/>
              <a:pathLst>
                <a:path w="8319134" h="857250">
                  <a:moveTo>
                    <a:pt x="0" y="41147"/>
                  </a:moveTo>
                  <a:lnTo>
                    <a:pt x="3233" y="25131"/>
                  </a:lnTo>
                  <a:lnTo>
                    <a:pt x="12051" y="12051"/>
                  </a:lnTo>
                  <a:lnTo>
                    <a:pt x="25131" y="3233"/>
                  </a:lnTo>
                  <a:lnTo>
                    <a:pt x="41147" y="0"/>
                  </a:lnTo>
                  <a:lnTo>
                    <a:pt x="8277605" y="0"/>
                  </a:lnTo>
                  <a:lnTo>
                    <a:pt x="8311840" y="18318"/>
                  </a:lnTo>
                  <a:lnTo>
                    <a:pt x="8318754" y="41147"/>
                  </a:lnTo>
                  <a:lnTo>
                    <a:pt x="8318754" y="816102"/>
                  </a:lnTo>
                  <a:lnTo>
                    <a:pt x="8315520" y="832118"/>
                  </a:lnTo>
                  <a:lnTo>
                    <a:pt x="8306702" y="845198"/>
                  </a:lnTo>
                  <a:lnTo>
                    <a:pt x="8293622" y="854016"/>
                  </a:lnTo>
                  <a:lnTo>
                    <a:pt x="8277605" y="857249"/>
                  </a:lnTo>
                  <a:lnTo>
                    <a:pt x="41147" y="857249"/>
                  </a:lnTo>
                  <a:lnTo>
                    <a:pt x="25131" y="854016"/>
                  </a:lnTo>
                  <a:lnTo>
                    <a:pt x="12051" y="845198"/>
                  </a:lnTo>
                  <a:lnTo>
                    <a:pt x="3233" y="832118"/>
                  </a:lnTo>
                  <a:lnTo>
                    <a:pt x="0" y="816102"/>
                  </a:lnTo>
                  <a:lnTo>
                    <a:pt x="0" y="41147"/>
                  </a:lnTo>
                  <a:close/>
                </a:path>
              </a:pathLst>
            </a:custGeom>
            <a:ln w="9524">
              <a:solidFill>
                <a:srgbClr val="E3E4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604520" y="3893185"/>
            <a:ext cx="790257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solidFill>
                  <a:srgbClr val="1A1F2B"/>
                </a:solidFill>
                <a:latin typeface="Calibri"/>
                <a:cs typeface="Calibri"/>
              </a:rPr>
              <a:t>Existing</a:t>
            </a:r>
            <a:r>
              <a:rPr dirty="0" sz="1000" spc="-15" b="1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1A1F2B"/>
                </a:solidFill>
                <a:latin typeface="Calibri"/>
                <a:cs typeface="Calibri"/>
              </a:rPr>
              <a:t>corpora</a:t>
            </a:r>
            <a:r>
              <a:rPr dirty="0" sz="1000" spc="-15" b="1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1A1F2B"/>
                </a:solidFill>
                <a:latin typeface="Calibri"/>
                <a:cs typeface="Calibri"/>
              </a:rPr>
              <a:t>are</a:t>
            </a:r>
            <a:r>
              <a:rPr dirty="0" sz="1000" spc="-10" b="1">
                <a:solidFill>
                  <a:srgbClr val="1A1F2B"/>
                </a:solidFill>
                <a:latin typeface="Calibri"/>
                <a:cs typeface="Calibri"/>
              </a:rPr>
              <a:t> still</a:t>
            </a:r>
            <a:r>
              <a:rPr dirty="0" sz="1000" spc="-15" b="1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1A1F2B"/>
                </a:solidFill>
                <a:latin typeface="Calibri"/>
                <a:cs typeface="Calibri"/>
              </a:rPr>
              <a:t>used</a:t>
            </a:r>
            <a:r>
              <a:rPr dirty="0" sz="1000" spc="210" b="1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—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as</a:t>
            </a:r>
            <a:r>
              <a:rPr dirty="0" sz="10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a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 reference</a:t>
            </a:r>
            <a:r>
              <a:rPr dirty="0" sz="10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for</a:t>
            </a:r>
            <a:r>
              <a:rPr dirty="0" sz="10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realistic phrasing,</a:t>
            </a:r>
            <a:r>
              <a:rPr dirty="0" sz="10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so</a:t>
            </a:r>
            <a:r>
              <a:rPr dirty="0" sz="10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our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 templates</a:t>
            </a:r>
            <a:r>
              <a:rPr dirty="0" sz="10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do</a:t>
            </a:r>
            <a:r>
              <a:rPr dirty="0" sz="10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not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drift</a:t>
            </a:r>
            <a:r>
              <a:rPr dirty="0" sz="10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into</a:t>
            </a:r>
            <a:r>
              <a:rPr dirty="0" sz="10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unnatural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English.</a:t>
            </a:r>
            <a:r>
              <a:rPr dirty="0" sz="10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Real</a:t>
            </a:r>
            <a:r>
              <a:rPr dirty="0" sz="10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images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and</a:t>
            </a:r>
            <a:r>
              <a:rPr dirty="0" sz="10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masks</a:t>
            </a:r>
            <a:r>
              <a:rPr dirty="0" sz="1000" spc="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(COCO)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supply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pictures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to</a:t>
            </a:r>
            <a:r>
              <a:rPr dirty="0" sz="10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which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predicted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transforms</a:t>
            </a:r>
            <a:r>
              <a:rPr dirty="0" sz="10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are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applied.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65"/>
              </a:lnSpc>
            </a:pPr>
            <a:r>
              <a:rPr dirty="0"/>
              <a:t>IE</a:t>
            </a:r>
            <a:r>
              <a:rPr dirty="0" spc="-15"/>
              <a:t> </a:t>
            </a:r>
            <a:r>
              <a:rPr dirty="0"/>
              <a:t>643</a:t>
            </a:r>
            <a:r>
              <a:rPr dirty="0" spc="-15"/>
              <a:t> </a:t>
            </a:r>
            <a:r>
              <a:rPr dirty="0" spc="-10"/>
              <a:t>Course </a:t>
            </a:r>
            <a:r>
              <a:rPr dirty="0"/>
              <a:t>Project</a:t>
            </a:r>
            <a:r>
              <a:rPr dirty="0" spc="135"/>
              <a:t> </a:t>
            </a:r>
            <a:r>
              <a:rPr dirty="0"/>
              <a:t>·</a:t>
            </a:r>
            <a:r>
              <a:rPr dirty="0" spc="140"/>
              <a:t> </a:t>
            </a:r>
            <a:r>
              <a:rPr dirty="0" spc="-20"/>
              <a:t>Team</a:t>
            </a:r>
            <a:r>
              <a:rPr dirty="0" spc="-10"/>
              <a:t> DyoOptix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65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8780" y="244602"/>
            <a:ext cx="86741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E17039"/>
                </a:solidFill>
                <a:latin typeface="Calibri"/>
                <a:cs typeface="Calibri"/>
              </a:rPr>
              <a:t>BLOCK</a:t>
            </a:r>
            <a:r>
              <a:rPr dirty="0" sz="800" spc="-20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E17039"/>
                </a:solidFill>
                <a:latin typeface="Calibri"/>
                <a:cs typeface="Calibri"/>
              </a:rPr>
              <a:t>04</a:t>
            </a:r>
            <a:r>
              <a:rPr dirty="0" sz="800" spc="-1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E17039"/>
                </a:solidFill>
                <a:latin typeface="Calibri"/>
                <a:cs typeface="Calibri"/>
              </a:rPr>
              <a:t>·</a:t>
            </a:r>
            <a:r>
              <a:rPr dirty="0" sz="800" spc="-1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800" spc="-10" b="1">
                <a:solidFill>
                  <a:srgbClr val="E17039"/>
                </a:solidFill>
                <a:latin typeface="Calibri"/>
                <a:cs typeface="Calibri"/>
              </a:rPr>
              <a:t>DATASET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4398" y="507268"/>
            <a:ext cx="158180" cy="158180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Generation</a:t>
            </a:r>
            <a:r>
              <a:rPr dirty="0" spc="-55"/>
              <a:t> </a:t>
            </a:r>
            <a:r>
              <a:rPr dirty="0" spc="-10"/>
              <a:t>Grammar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406717" y="1058227"/>
            <a:ext cx="2645410" cy="1483995"/>
            <a:chOff x="406717" y="1058227"/>
            <a:chExt cx="2645410" cy="1483995"/>
          </a:xfrm>
        </p:grpSpPr>
        <p:sp>
          <p:nvSpPr>
            <p:cNvPr id="6" name="object 6"/>
            <p:cNvSpPr/>
            <p:nvPr/>
          </p:nvSpPr>
          <p:spPr>
            <a:xfrm>
              <a:off x="411480" y="1062989"/>
              <a:ext cx="2635885" cy="1474470"/>
            </a:xfrm>
            <a:custGeom>
              <a:avLst/>
              <a:gdLst/>
              <a:ahLst/>
              <a:cxnLst/>
              <a:rect l="l" t="t" r="r" b="b"/>
              <a:pathLst>
                <a:path w="2635885" h="1474470">
                  <a:moveTo>
                    <a:pt x="2594605" y="1474469"/>
                  </a:moveTo>
                  <a:lnTo>
                    <a:pt x="41152" y="1474469"/>
                  </a:lnTo>
                  <a:lnTo>
                    <a:pt x="25134" y="1471236"/>
                  </a:lnTo>
                  <a:lnTo>
                    <a:pt x="12053" y="1462416"/>
                  </a:lnTo>
                  <a:lnTo>
                    <a:pt x="3233" y="1449335"/>
                  </a:lnTo>
                  <a:lnTo>
                    <a:pt x="0" y="1433317"/>
                  </a:lnTo>
                  <a:lnTo>
                    <a:pt x="0" y="41152"/>
                  </a:lnTo>
                  <a:lnTo>
                    <a:pt x="3233" y="25134"/>
                  </a:lnTo>
                  <a:lnTo>
                    <a:pt x="12053" y="12053"/>
                  </a:lnTo>
                  <a:lnTo>
                    <a:pt x="25134" y="3233"/>
                  </a:lnTo>
                  <a:lnTo>
                    <a:pt x="41152" y="0"/>
                  </a:lnTo>
                  <a:lnTo>
                    <a:pt x="2594605" y="0"/>
                  </a:lnTo>
                  <a:lnTo>
                    <a:pt x="2628843" y="18321"/>
                  </a:lnTo>
                  <a:lnTo>
                    <a:pt x="2635757" y="41152"/>
                  </a:lnTo>
                  <a:lnTo>
                    <a:pt x="2635757" y="1433317"/>
                  </a:lnTo>
                  <a:lnTo>
                    <a:pt x="2632524" y="1449335"/>
                  </a:lnTo>
                  <a:lnTo>
                    <a:pt x="2623704" y="1462416"/>
                  </a:lnTo>
                  <a:lnTo>
                    <a:pt x="2610623" y="1471236"/>
                  </a:lnTo>
                  <a:lnTo>
                    <a:pt x="2594605" y="1474469"/>
                  </a:lnTo>
                  <a:close/>
                </a:path>
              </a:pathLst>
            </a:custGeom>
            <a:solidFill>
              <a:srgbClr val="F4F4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11480" y="1062989"/>
              <a:ext cx="2635885" cy="1474470"/>
            </a:xfrm>
            <a:custGeom>
              <a:avLst/>
              <a:gdLst/>
              <a:ahLst/>
              <a:cxnLst/>
              <a:rect l="l" t="t" r="r" b="b"/>
              <a:pathLst>
                <a:path w="2635885" h="1474470">
                  <a:moveTo>
                    <a:pt x="0" y="41152"/>
                  </a:moveTo>
                  <a:lnTo>
                    <a:pt x="3233" y="25134"/>
                  </a:lnTo>
                  <a:lnTo>
                    <a:pt x="12053" y="12053"/>
                  </a:lnTo>
                  <a:lnTo>
                    <a:pt x="25134" y="3233"/>
                  </a:lnTo>
                  <a:lnTo>
                    <a:pt x="41152" y="0"/>
                  </a:lnTo>
                  <a:lnTo>
                    <a:pt x="2594605" y="0"/>
                  </a:lnTo>
                  <a:lnTo>
                    <a:pt x="2628843" y="18321"/>
                  </a:lnTo>
                  <a:lnTo>
                    <a:pt x="2635757" y="41152"/>
                  </a:lnTo>
                  <a:lnTo>
                    <a:pt x="2635757" y="1433317"/>
                  </a:lnTo>
                  <a:lnTo>
                    <a:pt x="2632524" y="1449335"/>
                  </a:lnTo>
                  <a:lnTo>
                    <a:pt x="2623704" y="1462416"/>
                  </a:lnTo>
                  <a:lnTo>
                    <a:pt x="2610623" y="1471236"/>
                  </a:lnTo>
                  <a:lnTo>
                    <a:pt x="2594605" y="1474469"/>
                  </a:lnTo>
                  <a:lnTo>
                    <a:pt x="41152" y="1474469"/>
                  </a:lnTo>
                  <a:lnTo>
                    <a:pt x="25134" y="1471236"/>
                  </a:lnTo>
                  <a:lnTo>
                    <a:pt x="12053" y="1462416"/>
                  </a:lnTo>
                  <a:lnTo>
                    <a:pt x="3233" y="1449335"/>
                  </a:lnTo>
                  <a:lnTo>
                    <a:pt x="0" y="1433317"/>
                  </a:lnTo>
                  <a:lnTo>
                    <a:pt x="0" y="41152"/>
                  </a:lnTo>
                  <a:close/>
                </a:path>
              </a:pathLst>
            </a:custGeom>
            <a:ln w="9524">
              <a:solidFill>
                <a:srgbClr val="E3E4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549656" y="1118012"/>
            <a:ext cx="1122045" cy="433070"/>
          </a:xfrm>
          <a:prstGeom prst="rect">
            <a:avLst/>
          </a:prstGeom>
        </p:spPr>
        <p:txBody>
          <a:bodyPr wrap="square" lIns="0" tIns="908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dirty="0" sz="900" spc="-20" b="1">
                <a:solidFill>
                  <a:srgbClr val="2E6171"/>
                </a:solidFill>
                <a:latin typeface="Calibri"/>
                <a:cs typeface="Calibri"/>
              </a:rPr>
              <a:t>VERB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determines</a:t>
            </a:r>
            <a:r>
              <a:rPr dirty="0" sz="800" spc="1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transform</a:t>
            </a:r>
            <a:r>
              <a:rPr dirty="0" sz="800" spc="1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spc="-20" i="1">
                <a:solidFill>
                  <a:srgbClr val="6B7280"/>
                </a:solidFill>
                <a:latin typeface="Calibri"/>
                <a:cs typeface="Calibri"/>
              </a:rPr>
              <a:t>type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9656" y="1840611"/>
            <a:ext cx="13525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move</a:t>
            </a:r>
            <a:r>
              <a:rPr dirty="0" sz="8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·</a:t>
            </a:r>
            <a:r>
              <a:rPr dirty="0" sz="8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shift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·</a:t>
            </a:r>
            <a:r>
              <a:rPr dirty="0" sz="8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nudge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·</a:t>
            </a:r>
            <a:r>
              <a:rPr dirty="0" sz="8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slide</a:t>
            </a:r>
            <a:r>
              <a:rPr dirty="0" sz="8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·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1A1F2B"/>
                </a:solidFill>
                <a:latin typeface="Calibri"/>
                <a:cs typeface="Calibri"/>
              </a:rPr>
              <a:t>drag</a:t>
            </a:r>
            <a:r>
              <a:rPr dirty="0" sz="800" spc="50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rotate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·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turn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·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spin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·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1A1F2B"/>
                </a:solidFill>
                <a:latin typeface="Calibri"/>
                <a:cs typeface="Calibri"/>
              </a:rPr>
              <a:t>tilt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scale</a:t>
            </a:r>
            <a:r>
              <a:rPr dirty="0" sz="8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·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resize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 ·</a:t>
            </a:r>
            <a:r>
              <a:rPr dirty="0" sz="8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enlarge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 ·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shrink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248215" y="1058227"/>
            <a:ext cx="2645410" cy="1483995"/>
            <a:chOff x="3248215" y="1058227"/>
            <a:chExt cx="2645410" cy="1483995"/>
          </a:xfrm>
        </p:grpSpPr>
        <p:sp>
          <p:nvSpPr>
            <p:cNvPr id="11" name="object 11"/>
            <p:cNvSpPr/>
            <p:nvPr/>
          </p:nvSpPr>
          <p:spPr>
            <a:xfrm>
              <a:off x="3252977" y="1062989"/>
              <a:ext cx="2635885" cy="1474470"/>
            </a:xfrm>
            <a:custGeom>
              <a:avLst/>
              <a:gdLst/>
              <a:ahLst/>
              <a:cxnLst/>
              <a:rect l="l" t="t" r="r" b="b"/>
              <a:pathLst>
                <a:path w="2635885" h="1474470">
                  <a:moveTo>
                    <a:pt x="2594605" y="1474469"/>
                  </a:moveTo>
                  <a:lnTo>
                    <a:pt x="41152" y="1474469"/>
                  </a:lnTo>
                  <a:lnTo>
                    <a:pt x="25134" y="1471236"/>
                  </a:lnTo>
                  <a:lnTo>
                    <a:pt x="12053" y="1462416"/>
                  </a:lnTo>
                  <a:lnTo>
                    <a:pt x="3233" y="1449335"/>
                  </a:lnTo>
                  <a:lnTo>
                    <a:pt x="0" y="1433317"/>
                  </a:lnTo>
                  <a:lnTo>
                    <a:pt x="0" y="41152"/>
                  </a:lnTo>
                  <a:lnTo>
                    <a:pt x="3233" y="25134"/>
                  </a:lnTo>
                  <a:lnTo>
                    <a:pt x="12053" y="12053"/>
                  </a:lnTo>
                  <a:lnTo>
                    <a:pt x="25134" y="3233"/>
                  </a:lnTo>
                  <a:lnTo>
                    <a:pt x="41152" y="0"/>
                  </a:lnTo>
                  <a:lnTo>
                    <a:pt x="2594605" y="0"/>
                  </a:lnTo>
                  <a:lnTo>
                    <a:pt x="2628843" y="18321"/>
                  </a:lnTo>
                  <a:lnTo>
                    <a:pt x="2635757" y="41152"/>
                  </a:lnTo>
                  <a:lnTo>
                    <a:pt x="2635757" y="1433317"/>
                  </a:lnTo>
                  <a:lnTo>
                    <a:pt x="2632524" y="1449335"/>
                  </a:lnTo>
                  <a:lnTo>
                    <a:pt x="2623704" y="1462416"/>
                  </a:lnTo>
                  <a:lnTo>
                    <a:pt x="2610623" y="1471236"/>
                  </a:lnTo>
                  <a:lnTo>
                    <a:pt x="2594605" y="1474469"/>
                  </a:lnTo>
                  <a:close/>
                </a:path>
              </a:pathLst>
            </a:custGeom>
            <a:solidFill>
              <a:srgbClr val="F4F4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252977" y="1062989"/>
              <a:ext cx="2635885" cy="1474470"/>
            </a:xfrm>
            <a:custGeom>
              <a:avLst/>
              <a:gdLst/>
              <a:ahLst/>
              <a:cxnLst/>
              <a:rect l="l" t="t" r="r" b="b"/>
              <a:pathLst>
                <a:path w="2635885" h="1474470">
                  <a:moveTo>
                    <a:pt x="0" y="41152"/>
                  </a:moveTo>
                  <a:lnTo>
                    <a:pt x="3233" y="25134"/>
                  </a:lnTo>
                  <a:lnTo>
                    <a:pt x="12053" y="12053"/>
                  </a:lnTo>
                  <a:lnTo>
                    <a:pt x="25134" y="3233"/>
                  </a:lnTo>
                  <a:lnTo>
                    <a:pt x="41152" y="0"/>
                  </a:lnTo>
                  <a:lnTo>
                    <a:pt x="2594605" y="0"/>
                  </a:lnTo>
                  <a:lnTo>
                    <a:pt x="2628843" y="18321"/>
                  </a:lnTo>
                  <a:lnTo>
                    <a:pt x="2635757" y="41152"/>
                  </a:lnTo>
                  <a:lnTo>
                    <a:pt x="2635757" y="1433317"/>
                  </a:lnTo>
                  <a:lnTo>
                    <a:pt x="2632524" y="1449335"/>
                  </a:lnTo>
                  <a:lnTo>
                    <a:pt x="2623704" y="1462416"/>
                  </a:lnTo>
                  <a:lnTo>
                    <a:pt x="2610623" y="1471236"/>
                  </a:lnTo>
                  <a:lnTo>
                    <a:pt x="2594605" y="1474469"/>
                  </a:lnTo>
                  <a:lnTo>
                    <a:pt x="41152" y="1474469"/>
                  </a:lnTo>
                  <a:lnTo>
                    <a:pt x="25134" y="1471236"/>
                  </a:lnTo>
                  <a:lnTo>
                    <a:pt x="12053" y="1462416"/>
                  </a:lnTo>
                  <a:lnTo>
                    <a:pt x="3233" y="1449335"/>
                  </a:lnTo>
                  <a:lnTo>
                    <a:pt x="0" y="1433317"/>
                  </a:lnTo>
                  <a:lnTo>
                    <a:pt x="0" y="41152"/>
                  </a:lnTo>
                  <a:close/>
                </a:path>
              </a:pathLst>
            </a:custGeom>
            <a:ln w="9524">
              <a:solidFill>
                <a:srgbClr val="E3E4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3391154" y="1118012"/>
            <a:ext cx="1037590" cy="433070"/>
          </a:xfrm>
          <a:prstGeom prst="rect">
            <a:avLst/>
          </a:prstGeom>
        </p:spPr>
        <p:txBody>
          <a:bodyPr wrap="square" lIns="0" tIns="908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dirty="0" sz="900" spc="-10" b="1">
                <a:solidFill>
                  <a:srgbClr val="2E6171"/>
                </a:solidFill>
                <a:latin typeface="Calibri"/>
                <a:cs typeface="Calibri"/>
              </a:rPr>
              <a:t>DIRECTION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determines</a:t>
            </a:r>
            <a:r>
              <a:rPr dirty="0" sz="800" spc="-1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6B7280"/>
                </a:solidFill>
                <a:latin typeface="Calibri"/>
                <a:cs typeface="Calibri"/>
              </a:rPr>
              <a:t>sign</a:t>
            </a:r>
            <a:r>
              <a:rPr dirty="0" sz="800" spc="-1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6B7280"/>
                </a:solidFill>
                <a:latin typeface="Calibri"/>
                <a:cs typeface="Calibri"/>
              </a:rPr>
              <a:t>and</a:t>
            </a:r>
            <a:r>
              <a:rPr dirty="0" sz="800" spc="-1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spc="-20" i="1">
                <a:solidFill>
                  <a:srgbClr val="6B7280"/>
                </a:solidFill>
                <a:latin typeface="Calibri"/>
                <a:cs typeface="Calibri"/>
              </a:rPr>
              <a:t>axis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91154" y="1840611"/>
            <a:ext cx="151701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left</a:t>
            </a:r>
            <a:r>
              <a:rPr dirty="0" sz="8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·</a:t>
            </a:r>
            <a:r>
              <a:rPr dirty="0" sz="8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right</a:t>
            </a:r>
            <a:r>
              <a:rPr dirty="0" sz="8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·</a:t>
            </a:r>
            <a:r>
              <a:rPr dirty="0" sz="8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up</a:t>
            </a:r>
            <a:r>
              <a:rPr dirty="0" sz="8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·</a:t>
            </a:r>
            <a:r>
              <a:rPr dirty="0" sz="800" spc="-20">
                <a:solidFill>
                  <a:srgbClr val="1A1F2B"/>
                </a:solidFill>
                <a:latin typeface="Calibri"/>
                <a:cs typeface="Calibri"/>
              </a:rPr>
              <a:t> down</a:t>
            </a:r>
            <a:endParaRPr sz="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dirty="0" sz="800" spc="-20">
                <a:solidFill>
                  <a:srgbClr val="1A1F2B"/>
                </a:solidFill>
                <a:latin typeface="Calibri"/>
                <a:cs typeface="Calibri"/>
              </a:rPr>
              <a:t>upper-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left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·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 toward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 bottom-</a:t>
            </a:r>
            <a:r>
              <a:rPr dirty="0" sz="800" spc="-20">
                <a:solidFill>
                  <a:srgbClr val="1A1F2B"/>
                </a:solidFill>
                <a:latin typeface="Calibri"/>
                <a:cs typeface="Calibri"/>
              </a:rPr>
              <a:t>right</a:t>
            </a:r>
            <a:r>
              <a:rPr dirty="0" sz="800" spc="50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clockwise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 ·</a:t>
            </a:r>
            <a:r>
              <a:rPr dirty="0" sz="800" spc="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anticlockwise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089713" y="1058227"/>
            <a:ext cx="2645410" cy="1483995"/>
            <a:chOff x="6089713" y="1058227"/>
            <a:chExt cx="2645410" cy="1483995"/>
          </a:xfrm>
        </p:grpSpPr>
        <p:sp>
          <p:nvSpPr>
            <p:cNvPr id="16" name="object 16"/>
            <p:cNvSpPr/>
            <p:nvPr/>
          </p:nvSpPr>
          <p:spPr>
            <a:xfrm>
              <a:off x="6094476" y="1062989"/>
              <a:ext cx="2635885" cy="1474470"/>
            </a:xfrm>
            <a:custGeom>
              <a:avLst/>
              <a:gdLst/>
              <a:ahLst/>
              <a:cxnLst/>
              <a:rect l="l" t="t" r="r" b="b"/>
              <a:pathLst>
                <a:path w="2635884" h="1474470">
                  <a:moveTo>
                    <a:pt x="2594604" y="1474469"/>
                  </a:moveTo>
                  <a:lnTo>
                    <a:pt x="41152" y="1474469"/>
                  </a:lnTo>
                  <a:lnTo>
                    <a:pt x="25133" y="1471236"/>
                  </a:lnTo>
                  <a:lnTo>
                    <a:pt x="12053" y="1462416"/>
                  </a:lnTo>
                  <a:lnTo>
                    <a:pt x="3233" y="1449335"/>
                  </a:lnTo>
                  <a:lnTo>
                    <a:pt x="0" y="1433317"/>
                  </a:lnTo>
                  <a:lnTo>
                    <a:pt x="0" y="41152"/>
                  </a:lnTo>
                  <a:lnTo>
                    <a:pt x="3233" y="25134"/>
                  </a:lnTo>
                  <a:lnTo>
                    <a:pt x="12053" y="12053"/>
                  </a:lnTo>
                  <a:lnTo>
                    <a:pt x="25133" y="3233"/>
                  </a:lnTo>
                  <a:lnTo>
                    <a:pt x="41152" y="0"/>
                  </a:lnTo>
                  <a:lnTo>
                    <a:pt x="2594604" y="0"/>
                  </a:lnTo>
                  <a:lnTo>
                    <a:pt x="2628843" y="18321"/>
                  </a:lnTo>
                  <a:lnTo>
                    <a:pt x="2635758" y="41152"/>
                  </a:lnTo>
                  <a:lnTo>
                    <a:pt x="2635758" y="1433317"/>
                  </a:lnTo>
                  <a:lnTo>
                    <a:pt x="2632524" y="1449335"/>
                  </a:lnTo>
                  <a:lnTo>
                    <a:pt x="2623704" y="1462416"/>
                  </a:lnTo>
                  <a:lnTo>
                    <a:pt x="2610623" y="1471236"/>
                  </a:lnTo>
                  <a:lnTo>
                    <a:pt x="2594604" y="1474469"/>
                  </a:lnTo>
                  <a:close/>
                </a:path>
              </a:pathLst>
            </a:custGeom>
            <a:solidFill>
              <a:srgbClr val="FCF1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094476" y="1062989"/>
              <a:ext cx="2635885" cy="1474470"/>
            </a:xfrm>
            <a:custGeom>
              <a:avLst/>
              <a:gdLst/>
              <a:ahLst/>
              <a:cxnLst/>
              <a:rect l="l" t="t" r="r" b="b"/>
              <a:pathLst>
                <a:path w="2635884" h="1474470">
                  <a:moveTo>
                    <a:pt x="0" y="41152"/>
                  </a:moveTo>
                  <a:lnTo>
                    <a:pt x="3233" y="25134"/>
                  </a:lnTo>
                  <a:lnTo>
                    <a:pt x="12053" y="12053"/>
                  </a:lnTo>
                  <a:lnTo>
                    <a:pt x="25133" y="3233"/>
                  </a:lnTo>
                  <a:lnTo>
                    <a:pt x="41152" y="0"/>
                  </a:lnTo>
                  <a:lnTo>
                    <a:pt x="2594604" y="0"/>
                  </a:lnTo>
                  <a:lnTo>
                    <a:pt x="2628843" y="18321"/>
                  </a:lnTo>
                  <a:lnTo>
                    <a:pt x="2635758" y="41152"/>
                  </a:lnTo>
                  <a:lnTo>
                    <a:pt x="2635758" y="1433317"/>
                  </a:lnTo>
                  <a:lnTo>
                    <a:pt x="2632524" y="1449335"/>
                  </a:lnTo>
                  <a:lnTo>
                    <a:pt x="2623704" y="1462416"/>
                  </a:lnTo>
                  <a:lnTo>
                    <a:pt x="2610623" y="1471236"/>
                  </a:lnTo>
                  <a:lnTo>
                    <a:pt x="2594604" y="1474469"/>
                  </a:lnTo>
                  <a:lnTo>
                    <a:pt x="41152" y="1474469"/>
                  </a:lnTo>
                  <a:lnTo>
                    <a:pt x="25133" y="1471236"/>
                  </a:lnTo>
                  <a:lnTo>
                    <a:pt x="12053" y="1462416"/>
                  </a:lnTo>
                  <a:lnTo>
                    <a:pt x="3233" y="1449335"/>
                  </a:lnTo>
                  <a:lnTo>
                    <a:pt x="0" y="1433317"/>
                  </a:lnTo>
                  <a:lnTo>
                    <a:pt x="0" y="41152"/>
                  </a:lnTo>
                  <a:close/>
                </a:path>
              </a:pathLst>
            </a:custGeom>
            <a:ln w="9524">
              <a:solidFill>
                <a:srgbClr val="E3E4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6232652" y="1118012"/>
            <a:ext cx="986790" cy="433070"/>
          </a:xfrm>
          <a:prstGeom prst="rect">
            <a:avLst/>
          </a:prstGeom>
        </p:spPr>
        <p:txBody>
          <a:bodyPr wrap="square" lIns="0" tIns="908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dirty="0" sz="900" spc="-10" b="1">
                <a:solidFill>
                  <a:srgbClr val="E17039"/>
                </a:solidFill>
                <a:latin typeface="Calibri"/>
                <a:cs typeface="Calibri"/>
              </a:rPr>
              <a:t>MAGNITUDE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determines</a:t>
            </a:r>
            <a:r>
              <a:rPr dirty="0" sz="800" spc="-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6B7280"/>
                </a:solidFill>
                <a:latin typeface="Calibri"/>
                <a:cs typeface="Calibri"/>
              </a:rPr>
              <a:t>the</a:t>
            </a:r>
            <a:r>
              <a:rPr dirty="0" sz="800" spc="-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number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232652" y="1840611"/>
            <a:ext cx="15906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vague: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slightly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 ·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moderately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50">
                <a:solidFill>
                  <a:srgbClr val="1A1F2B"/>
                </a:solidFill>
                <a:latin typeface="Calibri"/>
                <a:cs typeface="Calibri"/>
              </a:rPr>
              <a:t>·</a:t>
            </a:r>
            <a:r>
              <a:rPr dirty="0" sz="800" spc="50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considerably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 ·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significantly</a:t>
            </a:r>
            <a:r>
              <a:rPr dirty="0" sz="800" spc="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·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drastically</a:t>
            </a:r>
            <a:r>
              <a:rPr dirty="0" sz="800" spc="50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explicit: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by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30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px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·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by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45°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·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by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25">
                <a:solidFill>
                  <a:srgbClr val="1A1F2B"/>
                </a:solidFill>
                <a:latin typeface="Calibri"/>
                <a:cs typeface="Calibri"/>
              </a:rPr>
              <a:t>2×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06717" y="2683573"/>
            <a:ext cx="4947285" cy="935355"/>
            <a:chOff x="406717" y="2683573"/>
            <a:chExt cx="4947285" cy="935355"/>
          </a:xfrm>
        </p:grpSpPr>
        <p:sp>
          <p:nvSpPr>
            <p:cNvPr id="21" name="object 21"/>
            <p:cNvSpPr/>
            <p:nvPr/>
          </p:nvSpPr>
          <p:spPr>
            <a:xfrm>
              <a:off x="411480" y="2688335"/>
              <a:ext cx="4937760" cy="925830"/>
            </a:xfrm>
            <a:custGeom>
              <a:avLst/>
              <a:gdLst/>
              <a:ahLst/>
              <a:cxnLst/>
              <a:rect l="l" t="t" r="r" b="b"/>
              <a:pathLst>
                <a:path w="4937760" h="925829">
                  <a:moveTo>
                    <a:pt x="4896615" y="925829"/>
                  </a:moveTo>
                  <a:lnTo>
                    <a:pt x="41143" y="925829"/>
                  </a:lnTo>
                  <a:lnTo>
                    <a:pt x="25128" y="922596"/>
                  </a:lnTo>
                  <a:lnTo>
                    <a:pt x="12050" y="913779"/>
                  </a:lnTo>
                  <a:lnTo>
                    <a:pt x="3233" y="900701"/>
                  </a:lnTo>
                  <a:lnTo>
                    <a:pt x="0" y="884686"/>
                  </a:lnTo>
                  <a:lnTo>
                    <a:pt x="0" y="41143"/>
                  </a:lnTo>
                  <a:lnTo>
                    <a:pt x="3233" y="25128"/>
                  </a:lnTo>
                  <a:lnTo>
                    <a:pt x="12050" y="12050"/>
                  </a:lnTo>
                  <a:lnTo>
                    <a:pt x="25128" y="3233"/>
                  </a:lnTo>
                  <a:lnTo>
                    <a:pt x="41143" y="0"/>
                  </a:lnTo>
                  <a:lnTo>
                    <a:pt x="4896615" y="0"/>
                  </a:lnTo>
                  <a:lnTo>
                    <a:pt x="4930847" y="18317"/>
                  </a:lnTo>
                  <a:lnTo>
                    <a:pt x="4937759" y="41143"/>
                  </a:lnTo>
                  <a:lnTo>
                    <a:pt x="4937759" y="884686"/>
                  </a:lnTo>
                  <a:lnTo>
                    <a:pt x="4934526" y="900701"/>
                  </a:lnTo>
                  <a:lnTo>
                    <a:pt x="4925709" y="913779"/>
                  </a:lnTo>
                  <a:lnTo>
                    <a:pt x="4912631" y="922596"/>
                  </a:lnTo>
                  <a:lnTo>
                    <a:pt x="4896615" y="925829"/>
                  </a:lnTo>
                  <a:close/>
                </a:path>
              </a:pathLst>
            </a:custGeom>
            <a:solidFill>
              <a:srgbClr val="F6F1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11480" y="2688335"/>
              <a:ext cx="4937760" cy="925830"/>
            </a:xfrm>
            <a:custGeom>
              <a:avLst/>
              <a:gdLst/>
              <a:ahLst/>
              <a:cxnLst/>
              <a:rect l="l" t="t" r="r" b="b"/>
              <a:pathLst>
                <a:path w="4937760" h="925829">
                  <a:moveTo>
                    <a:pt x="0" y="41143"/>
                  </a:moveTo>
                  <a:lnTo>
                    <a:pt x="3233" y="25128"/>
                  </a:lnTo>
                  <a:lnTo>
                    <a:pt x="12050" y="12050"/>
                  </a:lnTo>
                  <a:lnTo>
                    <a:pt x="25128" y="3233"/>
                  </a:lnTo>
                  <a:lnTo>
                    <a:pt x="41143" y="0"/>
                  </a:lnTo>
                  <a:lnTo>
                    <a:pt x="4896615" y="0"/>
                  </a:lnTo>
                  <a:lnTo>
                    <a:pt x="4930847" y="18317"/>
                  </a:lnTo>
                  <a:lnTo>
                    <a:pt x="4937759" y="41143"/>
                  </a:lnTo>
                  <a:lnTo>
                    <a:pt x="4937759" y="884686"/>
                  </a:lnTo>
                  <a:lnTo>
                    <a:pt x="4934526" y="900701"/>
                  </a:lnTo>
                  <a:lnTo>
                    <a:pt x="4925709" y="913779"/>
                  </a:lnTo>
                  <a:lnTo>
                    <a:pt x="4912631" y="922596"/>
                  </a:lnTo>
                  <a:lnTo>
                    <a:pt x="4896615" y="925829"/>
                  </a:lnTo>
                  <a:lnTo>
                    <a:pt x="41143" y="925829"/>
                  </a:lnTo>
                  <a:lnTo>
                    <a:pt x="25128" y="922596"/>
                  </a:lnTo>
                  <a:lnTo>
                    <a:pt x="12050" y="913779"/>
                  </a:lnTo>
                  <a:lnTo>
                    <a:pt x="3233" y="900701"/>
                  </a:lnTo>
                  <a:lnTo>
                    <a:pt x="0" y="884686"/>
                  </a:lnTo>
                  <a:lnTo>
                    <a:pt x="0" y="41143"/>
                  </a:lnTo>
                  <a:close/>
                </a:path>
              </a:pathLst>
            </a:custGeom>
            <a:ln w="9524">
              <a:solidFill>
                <a:srgbClr val="E3E4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590804" y="2751697"/>
            <a:ext cx="2093595" cy="66865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900" spc="-20" b="1">
                <a:solidFill>
                  <a:srgbClr val="6B7280"/>
                </a:solidFill>
                <a:latin typeface="Calibri"/>
                <a:cs typeface="Calibri"/>
              </a:rPr>
              <a:t>Worked</a:t>
            </a:r>
            <a:r>
              <a:rPr dirty="0" sz="900" spc="-5" b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10" b="1">
                <a:solidFill>
                  <a:srgbClr val="6B7280"/>
                </a:solidFill>
                <a:latin typeface="Calibri"/>
                <a:cs typeface="Calibri"/>
              </a:rPr>
              <a:t>example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14"/>
              </a:spcBef>
            </a:pPr>
            <a:r>
              <a:rPr dirty="0" sz="1100" i="1">
                <a:solidFill>
                  <a:srgbClr val="1A1F2B"/>
                </a:solidFill>
                <a:latin typeface="Calibri"/>
                <a:cs typeface="Calibri"/>
              </a:rPr>
              <a:t>"nudge</a:t>
            </a:r>
            <a:r>
              <a:rPr dirty="0" sz="1100" spc="-25" i="1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1100" spc="-25" i="1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1A1F2B"/>
                </a:solidFill>
                <a:latin typeface="Calibri"/>
                <a:cs typeface="Calibri"/>
              </a:rPr>
              <a:t>shape</a:t>
            </a:r>
            <a:r>
              <a:rPr dirty="0" sz="1100" spc="-25" i="1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1A1F2B"/>
                </a:solidFill>
                <a:latin typeface="Calibri"/>
                <a:cs typeface="Calibri"/>
              </a:rPr>
              <a:t>slightly</a:t>
            </a:r>
            <a:r>
              <a:rPr dirty="0" sz="1100" spc="-20" i="1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1A1F2B"/>
                </a:solidFill>
                <a:latin typeface="Calibri"/>
                <a:cs typeface="Calibri"/>
              </a:rPr>
              <a:t>to</a:t>
            </a:r>
            <a:r>
              <a:rPr dirty="0" sz="1100" spc="-25" i="1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1100" spc="-25" i="1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100" spc="-10" i="1">
                <a:solidFill>
                  <a:srgbClr val="1A1F2B"/>
                </a:solidFill>
                <a:latin typeface="Calibri"/>
                <a:cs typeface="Calibri"/>
              </a:rPr>
              <a:t>left"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dirty="0" sz="900" b="1">
                <a:solidFill>
                  <a:srgbClr val="2E6171"/>
                </a:solidFill>
                <a:latin typeface="Courier New"/>
                <a:cs typeface="Courier New"/>
              </a:rPr>
              <a:t>→</a:t>
            </a:r>
            <a:r>
              <a:rPr dirty="0" sz="900" spc="-10" b="1">
                <a:solidFill>
                  <a:srgbClr val="2E6171"/>
                </a:solidFill>
                <a:latin typeface="Courier New"/>
                <a:cs typeface="Courier New"/>
              </a:rPr>
              <a:t>  </a:t>
            </a:r>
            <a:r>
              <a:rPr dirty="0" sz="900" b="1">
                <a:solidFill>
                  <a:srgbClr val="2E6171"/>
                </a:solidFill>
                <a:latin typeface="Courier New"/>
                <a:cs typeface="Courier New"/>
              </a:rPr>
              <a:t>{</a:t>
            </a:r>
            <a:r>
              <a:rPr dirty="0" sz="900" spc="-10" b="1">
                <a:solidFill>
                  <a:srgbClr val="2E6171"/>
                </a:solidFill>
                <a:latin typeface="Courier New"/>
                <a:cs typeface="Courier New"/>
              </a:rPr>
              <a:t> </a:t>
            </a:r>
            <a:r>
              <a:rPr dirty="0" sz="900" b="1">
                <a:solidFill>
                  <a:srgbClr val="2E6171"/>
                </a:solidFill>
                <a:latin typeface="Courier New"/>
                <a:cs typeface="Courier New"/>
              </a:rPr>
              <a:t>tx</a:t>
            </a:r>
            <a:r>
              <a:rPr dirty="0" sz="900" spc="-10" b="1">
                <a:solidFill>
                  <a:srgbClr val="2E6171"/>
                </a:solidFill>
                <a:latin typeface="Courier New"/>
                <a:cs typeface="Courier New"/>
              </a:rPr>
              <a:t> </a:t>
            </a:r>
            <a:r>
              <a:rPr dirty="0" sz="900" b="1">
                <a:solidFill>
                  <a:srgbClr val="2E6171"/>
                </a:solidFill>
                <a:latin typeface="Courier New"/>
                <a:cs typeface="Courier New"/>
              </a:rPr>
              <a:t>:</a:t>
            </a:r>
            <a:r>
              <a:rPr dirty="0" sz="900" spc="-10" b="1">
                <a:solidFill>
                  <a:srgbClr val="2E6171"/>
                </a:solidFill>
                <a:latin typeface="Courier New"/>
                <a:cs typeface="Courier New"/>
              </a:rPr>
              <a:t> </a:t>
            </a:r>
            <a:r>
              <a:rPr dirty="0" sz="900" b="1">
                <a:solidFill>
                  <a:srgbClr val="2E6171"/>
                </a:solidFill>
                <a:latin typeface="Courier New"/>
                <a:cs typeface="Courier New"/>
              </a:rPr>
              <a:t>−0.043,</a:t>
            </a:r>
            <a:r>
              <a:rPr dirty="0" sz="900" spc="-10" b="1">
                <a:solidFill>
                  <a:srgbClr val="2E6171"/>
                </a:solidFill>
                <a:latin typeface="Courier New"/>
                <a:cs typeface="Courier New"/>
              </a:rPr>
              <a:t>  </a:t>
            </a:r>
            <a:r>
              <a:rPr dirty="0" sz="900" b="1">
                <a:solidFill>
                  <a:srgbClr val="2E6171"/>
                </a:solidFill>
                <a:latin typeface="Courier New"/>
                <a:cs typeface="Courier New"/>
              </a:rPr>
              <a:t>ty</a:t>
            </a:r>
            <a:r>
              <a:rPr dirty="0" sz="900" spc="-5" b="1">
                <a:solidFill>
                  <a:srgbClr val="2E6171"/>
                </a:solidFill>
                <a:latin typeface="Courier New"/>
                <a:cs typeface="Courier New"/>
              </a:rPr>
              <a:t> </a:t>
            </a:r>
            <a:r>
              <a:rPr dirty="0" sz="900" b="1">
                <a:solidFill>
                  <a:srgbClr val="2E6171"/>
                </a:solidFill>
                <a:latin typeface="Courier New"/>
                <a:cs typeface="Courier New"/>
              </a:rPr>
              <a:t>:</a:t>
            </a:r>
            <a:r>
              <a:rPr dirty="0" sz="900" spc="-10" b="1">
                <a:solidFill>
                  <a:srgbClr val="2E6171"/>
                </a:solidFill>
                <a:latin typeface="Courier New"/>
                <a:cs typeface="Courier New"/>
              </a:rPr>
              <a:t> </a:t>
            </a:r>
            <a:r>
              <a:rPr dirty="0" sz="900" b="1">
                <a:solidFill>
                  <a:srgbClr val="2E6171"/>
                </a:solidFill>
                <a:latin typeface="Courier New"/>
                <a:cs typeface="Courier New"/>
              </a:rPr>
              <a:t>0.0</a:t>
            </a:r>
            <a:r>
              <a:rPr dirty="0" sz="900" spc="-10" b="1">
                <a:solidFill>
                  <a:srgbClr val="2E6171"/>
                </a:solidFill>
                <a:latin typeface="Courier New"/>
                <a:cs typeface="Courier New"/>
              </a:rPr>
              <a:t> </a:t>
            </a:r>
            <a:r>
              <a:rPr dirty="0" sz="900" spc="-25" b="1">
                <a:solidFill>
                  <a:srgbClr val="2E6171"/>
                </a:solidFill>
                <a:latin typeface="Courier New"/>
                <a:cs typeface="Courier New"/>
              </a:rPr>
              <a:t>},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853944" y="3257422"/>
            <a:ext cx="125984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2E6171"/>
                </a:solidFill>
                <a:latin typeface="Courier New"/>
                <a:cs typeface="Courier New"/>
              </a:rPr>
              <a:t>presence</a:t>
            </a:r>
            <a:r>
              <a:rPr dirty="0" sz="900" spc="-25" b="1">
                <a:solidFill>
                  <a:srgbClr val="2E6171"/>
                </a:solidFill>
                <a:latin typeface="Courier New"/>
                <a:cs typeface="Courier New"/>
              </a:rPr>
              <a:t> </a:t>
            </a:r>
            <a:r>
              <a:rPr dirty="0" sz="900" b="1">
                <a:solidFill>
                  <a:srgbClr val="2E6171"/>
                </a:solidFill>
                <a:latin typeface="Courier New"/>
                <a:cs typeface="Courier New"/>
              </a:rPr>
              <a:t>[1,</a:t>
            </a:r>
            <a:r>
              <a:rPr dirty="0" sz="900" spc="-20" b="1">
                <a:solidFill>
                  <a:srgbClr val="2E6171"/>
                </a:solidFill>
                <a:latin typeface="Courier New"/>
                <a:cs typeface="Courier New"/>
              </a:rPr>
              <a:t> </a:t>
            </a:r>
            <a:r>
              <a:rPr dirty="0" sz="900" b="1">
                <a:solidFill>
                  <a:srgbClr val="2E6171"/>
                </a:solidFill>
                <a:latin typeface="Courier New"/>
                <a:cs typeface="Courier New"/>
              </a:rPr>
              <a:t>0,</a:t>
            </a:r>
            <a:r>
              <a:rPr dirty="0" sz="900" spc="-20" b="1">
                <a:solidFill>
                  <a:srgbClr val="2E6171"/>
                </a:solidFill>
                <a:latin typeface="Courier New"/>
                <a:cs typeface="Courier New"/>
              </a:rPr>
              <a:t> </a:t>
            </a:r>
            <a:r>
              <a:rPr dirty="0" sz="900" spc="-25" b="1">
                <a:solidFill>
                  <a:srgbClr val="2E6171"/>
                </a:solidFill>
                <a:latin typeface="Courier New"/>
                <a:cs typeface="Courier New"/>
              </a:rPr>
              <a:t>0]</a:t>
            </a:r>
            <a:endParaRPr sz="900">
              <a:latin typeface="Courier New"/>
              <a:cs typeface="Courier New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550217" y="2683573"/>
            <a:ext cx="3185160" cy="935355"/>
            <a:chOff x="5550217" y="2683573"/>
            <a:chExt cx="3185160" cy="935355"/>
          </a:xfrm>
        </p:grpSpPr>
        <p:sp>
          <p:nvSpPr>
            <p:cNvPr id="26" name="object 26"/>
            <p:cNvSpPr/>
            <p:nvPr/>
          </p:nvSpPr>
          <p:spPr>
            <a:xfrm>
              <a:off x="5554979" y="2688335"/>
              <a:ext cx="3175635" cy="925830"/>
            </a:xfrm>
            <a:custGeom>
              <a:avLst/>
              <a:gdLst/>
              <a:ahLst/>
              <a:cxnLst/>
              <a:rect l="l" t="t" r="r" b="b"/>
              <a:pathLst>
                <a:path w="3175634" h="925829">
                  <a:moveTo>
                    <a:pt x="3134109" y="925829"/>
                  </a:moveTo>
                  <a:lnTo>
                    <a:pt x="41143" y="925829"/>
                  </a:lnTo>
                  <a:lnTo>
                    <a:pt x="25128" y="922596"/>
                  </a:lnTo>
                  <a:lnTo>
                    <a:pt x="12050" y="913779"/>
                  </a:lnTo>
                  <a:lnTo>
                    <a:pt x="3233" y="900701"/>
                  </a:lnTo>
                  <a:lnTo>
                    <a:pt x="0" y="884686"/>
                  </a:lnTo>
                  <a:lnTo>
                    <a:pt x="0" y="41143"/>
                  </a:lnTo>
                  <a:lnTo>
                    <a:pt x="3233" y="25128"/>
                  </a:lnTo>
                  <a:lnTo>
                    <a:pt x="12050" y="12050"/>
                  </a:lnTo>
                  <a:lnTo>
                    <a:pt x="25128" y="3233"/>
                  </a:lnTo>
                  <a:lnTo>
                    <a:pt x="41143" y="0"/>
                  </a:lnTo>
                  <a:lnTo>
                    <a:pt x="3134109" y="0"/>
                  </a:lnTo>
                  <a:lnTo>
                    <a:pt x="3168341" y="18317"/>
                  </a:lnTo>
                  <a:lnTo>
                    <a:pt x="3175254" y="41143"/>
                  </a:lnTo>
                  <a:lnTo>
                    <a:pt x="3175254" y="884686"/>
                  </a:lnTo>
                  <a:lnTo>
                    <a:pt x="3172021" y="900701"/>
                  </a:lnTo>
                  <a:lnTo>
                    <a:pt x="3163203" y="913779"/>
                  </a:lnTo>
                  <a:lnTo>
                    <a:pt x="3150125" y="922596"/>
                  </a:lnTo>
                  <a:lnTo>
                    <a:pt x="3134109" y="925829"/>
                  </a:lnTo>
                  <a:close/>
                </a:path>
              </a:pathLst>
            </a:custGeom>
            <a:solidFill>
              <a:srgbClr val="F4F4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5554979" y="2688335"/>
              <a:ext cx="3175635" cy="925830"/>
            </a:xfrm>
            <a:custGeom>
              <a:avLst/>
              <a:gdLst/>
              <a:ahLst/>
              <a:cxnLst/>
              <a:rect l="l" t="t" r="r" b="b"/>
              <a:pathLst>
                <a:path w="3175634" h="925829">
                  <a:moveTo>
                    <a:pt x="0" y="41143"/>
                  </a:moveTo>
                  <a:lnTo>
                    <a:pt x="3233" y="25128"/>
                  </a:lnTo>
                  <a:lnTo>
                    <a:pt x="12050" y="12050"/>
                  </a:lnTo>
                  <a:lnTo>
                    <a:pt x="25128" y="3233"/>
                  </a:lnTo>
                  <a:lnTo>
                    <a:pt x="41143" y="0"/>
                  </a:lnTo>
                  <a:lnTo>
                    <a:pt x="3134109" y="0"/>
                  </a:lnTo>
                  <a:lnTo>
                    <a:pt x="3168341" y="18317"/>
                  </a:lnTo>
                  <a:lnTo>
                    <a:pt x="3175254" y="41143"/>
                  </a:lnTo>
                  <a:lnTo>
                    <a:pt x="3175254" y="884686"/>
                  </a:lnTo>
                  <a:lnTo>
                    <a:pt x="3172021" y="900701"/>
                  </a:lnTo>
                  <a:lnTo>
                    <a:pt x="3163203" y="913779"/>
                  </a:lnTo>
                  <a:lnTo>
                    <a:pt x="3150125" y="922596"/>
                  </a:lnTo>
                  <a:lnTo>
                    <a:pt x="3134109" y="925829"/>
                  </a:lnTo>
                  <a:lnTo>
                    <a:pt x="41143" y="925829"/>
                  </a:lnTo>
                  <a:lnTo>
                    <a:pt x="25128" y="922596"/>
                  </a:lnTo>
                  <a:lnTo>
                    <a:pt x="12050" y="913779"/>
                  </a:lnTo>
                  <a:lnTo>
                    <a:pt x="3233" y="900701"/>
                  </a:lnTo>
                  <a:lnTo>
                    <a:pt x="0" y="884686"/>
                  </a:lnTo>
                  <a:lnTo>
                    <a:pt x="0" y="41143"/>
                  </a:lnTo>
                  <a:close/>
                </a:path>
              </a:pathLst>
            </a:custGeom>
            <a:ln w="9524">
              <a:solidFill>
                <a:srgbClr val="E3E4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5734304" y="2786705"/>
            <a:ext cx="1182370" cy="725805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dirty="0" sz="900" spc="-10" b="1">
                <a:solidFill>
                  <a:srgbClr val="6B7280"/>
                </a:solidFill>
                <a:latin typeface="Calibri"/>
                <a:cs typeface="Calibri"/>
              </a:rPr>
              <a:t>Scale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 sz="2300" b="1">
                <a:solidFill>
                  <a:srgbClr val="E17039"/>
                </a:solidFill>
                <a:latin typeface="Times New Roman"/>
                <a:cs typeface="Times New Roman"/>
              </a:rPr>
              <a:t>≈</a:t>
            </a:r>
            <a:r>
              <a:rPr dirty="0" sz="2300" spc="-85" b="1">
                <a:solidFill>
                  <a:srgbClr val="E17039"/>
                </a:solidFill>
                <a:latin typeface="Times New Roman"/>
                <a:cs typeface="Times New Roman"/>
              </a:rPr>
              <a:t> </a:t>
            </a:r>
            <a:r>
              <a:rPr dirty="0" sz="2300" spc="-10" b="1">
                <a:solidFill>
                  <a:srgbClr val="E17039"/>
                </a:solidFill>
                <a:latin typeface="Cambria"/>
                <a:cs typeface="Cambria"/>
              </a:rPr>
              <a:t>20,000</a:t>
            </a:r>
            <a:endParaRPr sz="23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dirty="0" sz="800" spc="-10">
                <a:solidFill>
                  <a:srgbClr val="6B7280"/>
                </a:solidFill>
                <a:latin typeface="Calibri"/>
                <a:cs typeface="Calibri"/>
              </a:rPr>
              <a:t>instruction–parameter</a:t>
            </a:r>
            <a:r>
              <a:rPr dirty="0" sz="800" spc="2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6B7280"/>
                </a:solidFill>
                <a:latin typeface="Calibri"/>
                <a:cs typeface="Calibri"/>
              </a:rPr>
              <a:t>pairs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06717" y="3732847"/>
            <a:ext cx="8328659" cy="866775"/>
            <a:chOff x="406717" y="3732847"/>
            <a:chExt cx="8328659" cy="866775"/>
          </a:xfrm>
        </p:grpSpPr>
        <p:sp>
          <p:nvSpPr>
            <p:cNvPr id="30" name="object 30"/>
            <p:cNvSpPr/>
            <p:nvPr/>
          </p:nvSpPr>
          <p:spPr>
            <a:xfrm>
              <a:off x="411480" y="3737609"/>
              <a:ext cx="8319134" cy="857250"/>
            </a:xfrm>
            <a:custGeom>
              <a:avLst/>
              <a:gdLst/>
              <a:ahLst/>
              <a:cxnLst/>
              <a:rect l="l" t="t" r="r" b="b"/>
              <a:pathLst>
                <a:path w="8319134" h="857250">
                  <a:moveTo>
                    <a:pt x="8277605" y="857249"/>
                  </a:moveTo>
                  <a:lnTo>
                    <a:pt x="41147" y="857249"/>
                  </a:lnTo>
                  <a:lnTo>
                    <a:pt x="25131" y="854016"/>
                  </a:lnTo>
                  <a:lnTo>
                    <a:pt x="12051" y="845198"/>
                  </a:lnTo>
                  <a:lnTo>
                    <a:pt x="3233" y="832118"/>
                  </a:lnTo>
                  <a:lnTo>
                    <a:pt x="0" y="816101"/>
                  </a:lnTo>
                  <a:lnTo>
                    <a:pt x="0" y="41147"/>
                  </a:lnTo>
                  <a:lnTo>
                    <a:pt x="3233" y="25131"/>
                  </a:lnTo>
                  <a:lnTo>
                    <a:pt x="12051" y="12051"/>
                  </a:lnTo>
                  <a:lnTo>
                    <a:pt x="25131" y="3233"/>
                  </a:lnTo>
                  <a:lnTo>
                    <a:pt x="41147" y="0"/>
                  </a:lnTo>
                  <a:lnTo>
                    <a:pt x="8277605" y="0"/>
                  </a:lnTo>
                  <a:lnTo>
                    <a:pt x="8311840" y="18319"/>
                  </a:lnTo>
                  <a:lnTo>
                    <a:pt x="8318754" y="41147"/>
                  </a:lnTo>
                  <a:lnTo>
                    <a:pt x="8318754" y="816101"/>
                  </a:lnTo>
                  <a:lnTo>
                    <a:pt x="8315520" y="832118"/>
                  </a:lnTo>
                  <a:lnTo>
                    <a:pt x="8306702" y="845198"/>
                  </a:lnTo>
                  <a:lnTo>
                    <a:pt x="8293622" y="854016"/>
                  </a:lnTo>
                  <a:lnTo>
                    <a:pt x="8277605" y="857249"/>
                  </a:lnTo>
                  <a:close/>
                </a:path>
              </a:pathLst>
            </a:custGeom>
            <a:solidFill>
              <a:srgbClr val="FCF1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411480" y="3737609"/>
              <a:ext cx="8319134" cy="857250"/>
            </a:xfrm>
            <a:custGeom>
              <a:avLst/>
              <a:gdLst/>
              <a:ahLst/>
              <a:cxnLst/>
              <a:rect l="l" t="t" r="r" b="b"/>
              <a:pathLst>
                <a:path w="8319134" h="857250">
                  <a:moveTo>
                    <a:pt x="0" y="41147"/>
                  </a:moveTo>
                  <a:lnTo>
                    <a:pt x="3233" y="25131"/>
                  </a:lnTo>
                  <a:lnTo>
                    <a:pt x="12051" y="12051"/>
                  </a:lnTo>
                  <a:lnTo>
                    <a:pt x="25131" y="3233"/>
                  </a:lnTo>
                  <a:lnTo>
                    <a:pt x="41147" y="0"/>
                  </a:lnTo>
                  <a:lnTo>
                    <a:pt x="8277605" y="0"/>
                  </a:lnTo>
                  <a:lnTo>
                    <a:pt x="8311840" y="18319"/>
                  </a:lnTo>
                  <a:lnTo>
                    <a:pt x="8318754" y="41147"/>
                  </a:lnTo>
                  <a:lnTo>
                    <a:pt x="8318754" y="816101"/>
                  </a:lnTo>
                  <a:lnTo>
                    <a:pt x="8315520" y="832118"/>
                  </a:lnTo>
                  <a:lnTo>
                    <a:pt x="8306702" y="845198"/>
                  </a:lnTo>
                  <a:lnTo>
                    <a:pt x="8293622" y="854016"/>
                  </a:lnTo>
                  <a:lnTo>
                    <a:pt x="8277605" y="857249"/>
                  </a:lnTo>
                  <a:lnTo>
                    <a:pt x="41147" y="857249"/>
                  </a:lnTo>
                  <a:lnTo>
                    <a:pt x="25131" y="854016"/>
                  </a:lnTo>
                  <a:lnTo>
                    <a:pt x="12051" y="845198"/>
                  </a:lnTo>
                  <a:lnTo>
                    <a:pt x="3233" y="832118"/>
                  </a:lnTo>
                  <a:lnTo>
                    <a:pt x="0" y="816101"/>
                  </a:lnTo>
                  <a:lnTo>
                    <a:pt x="0" y="41147"/>
                  </a:lnTo>
                  <a:close/>
                </a:path>
              </a:pathLst>
            </a:custGeom>
            <a:ln w="9524">
              <a:solidFill>
                <a:srgbClr val="E3E4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604520" y="3782060"/>
            <a:ext cx="7830820" cy="6896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905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E17039"/>
                </a:solidFill>
                <a:latin typeface="Calibri"/>
                <a:cs typeface="Calibri"/>
              </a:rPr>
              <a:t>Deliberate</a:t>
            </a:r>
            <a:r>
              <a:rPr dirty="0" sz="900" spc="-1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900" spc="-10" b="1">
                <a:solidFill>
                  <a:srgbClr val="E17039"/>
                </a:solidFill>
                <a:latin typeface="Calibri"/>
                <a:cs typeface="Calibri"/>
              </a:rPr>
              <a:t>hard </a:t>
            </a:r>
            <a:r>
              <a:rPr dirty="0" sz="900" b="1">
                <a:solidFill>
                  <a:srgbClr val="E17039"/>
                </a:solidFill>
                <a:latin typeface="Calibri"/>
                <a:cs typeface="Calibri"/>
              </a:rPr>
              <a:t>cases:</a:t>
            </a:r>
            <a:r>
              <a:rPr dirty="0" sz="900" spc="190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compositional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("move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it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right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and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shrink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it")</a:t>
            </a:r>
            <a:r>
              <a:rPr dirty="0" sz="900" spc="18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·</a:t>
            </a:r>
            <a:r>
              <a:rPr dirty="0" sz="900" spc="18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partial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("just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rotate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it,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don't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move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it")</a:t>
            </a:r>
            <a:r>
              <a:rPr dirty="0" sz="900" spc="18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·</a:t>
            </a:r>
            <a:r>
              <a:rPr dirty="0" sz="900" spc="18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negation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("don't rotate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it")</a:t>
            </a:r>
            <a:r>
              <a:rPr dirty="0" sz="900" spc="18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·</a:t>
            </a:r>
            <a:r>
              <a:rPr dirty="0" sz="900" spc="18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paraphrase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("turn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it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halfway</a:t>
            </a:r>
            <a:r>
              <a:rPr dirty="0" sz="900" spc="50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around"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 =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180°)</a:t>
            </a:r>
            <a:endParaRPr sz="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9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Excluded</a:t>
            </a:r>
            <a:r>
              <a:rPr dirty="0" sz="800" spc="-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6B7280"/>
                </a:solidFill>
                <a:latin typeface="Calibri"/>
                <a:cs typeface="Calibri"/>
              </a:rPr>
              <a:t>by</a:t>
            </a:r>
            <a:r>
              <a:rPr dirty="0" sz="800" spc="-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design:</a:t>
            </a:r>
            <a:r>
              <a:rPr dirty="0" sz="800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spc="-20" i="1">
                <a:solidFill>
                  <a:srgbClr val="6B7280"/>
                </a:solidFill>
                <a:latin typeface="Calibri"/>
                <a:cs typeface="Calibri"/>
              </a:rPr>
              <a:t>context-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dependent</a:t>
            </a:r>
            <a:r>
              <a:rPr dirty="0" sz="800" spc="-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instructions</a:t>
            </a:r>
            <a:r>
              <a:rPr dirty="0" sz="800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("centre</a:t>
            </a:r>
            <a:r>
              <a:rPr dirty="0" sz="800" spc="-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6B7280"/>
                </a:solidFill>
                <a:latin typeface="Calibri"/>
                <a:cs typeface="Calibri"/>
              </a:rPr>
              <a:t>it"), 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whose</a:t>
            </a:r>
            <a:r>
              <a:rPr dirty="0" sz="800" spc="-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target</a:t>
            </a:r>
            <a:r>
              <a:rPr dirty="0" sz="800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depends</a:t>
            </a:r>
            <a:r>
              <a:rPr dirty="0" sz="800" spc="-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6B7280"/>
                </a:solidFill>
                <a:latin typeface="Calibri"/>
                <a:cs typeface="Calibri"/>
              </a:rPr>
              <a:t>on</a:t>
            </a:r>
            <a:r>
              <a:rPr dirty="0" sz="800" spc="-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where</a:t>
            </a:r>
            <a:r>
              <a:rPr dirty="0" sz="800" i="1">
                <a:solidFill>
                  <a:srgbClr val="6B7280"/>
                </a:solidFill>
                <a:latin typeface="Calibri"/>
                <a:cs typeface="Calibri"/>
              </a:rPr>
              <a:t> the</a:t>
            </a:r>
            <a:r>
              <a:rPr dirty="0" sz="800" spc="-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object</a:t>
            </a:r>
            <a:r>
              <a:rPr dirty="0" sz="800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currently</a:t>
            </a:r>
            <a:r>
              <a:rPr dirty="0" sz="800" spc="-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6B7280"/>
                </a:solidFill>
                <a:latin typeface="Calibri"/>
                <a:cs typeface="Calibri"/>
              </a:rPr>
              <a:t>is and</a:t>
            </a:r>
            <a:r>
              <a:rPr dirty="0" sz="800" spc="-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6B7280"/>
                </a:solidFill>
                <a:latin typeface="Calibri"/>
                <a:cs typeface="Calibri"/>
              </a:rPr>
              <a:t>so cannot</a:t>
            </a:r>
            <a:r>
              <a:rPr dirty="0" sz="800" spc="-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6B7280"/>
                </a:solidFill>
                <a:latin typeface="Calibri"/>
                <a:cs typeface="Calibri"/>
              </a:rPr>
              <a:t>be</a:t>
            </a:r>
            <a:r>
              <a:rPr dirty="0" sz="800" spc="-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determined</a:t>
            </a:r>
            <a:r>
              <a:rPr dirty="0" sz="800" i="1">
                <a:solidFill>
                  <a:srgbClr val="6B7280"/>
                </a:solidFill>
                <a:latin typeface="Calibri"/>
                <a:cs typeface="Calibri"/>
              </a:rPr>
              <a:t> from</a:t>
            </a:r>
            <a:r>
              <a:rPr dirty="0" sz="800" spc="-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6B7280"/>
                </a:solidFill>
                <a:latin typeface="Calibri"/>
                <a:cs typeface="Calibri"/>
              </a:rPr>
              <a:t>text 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alone,</a:t>
            </a:r>
            <a:r>
              <a:rPr dirty="0" sz="800" spc="-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6B7280"/>
                </a:solidFill>
                <a:latin typeface="Calibri"/>
                <a:cs typeface="Calibri"/>
              </a:rPr>
              <a:t>and 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reflections</a:t>
            </a:r>
            <a:r>
              <a:rPr dirty="0" sz="800" spc="-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("flip</a:t>
            </a:r>
            <a:r>
              <a:rPr dirty="0" sz="800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it"),</a:t>
            </a:r>
            <a:r>
              <a:rPr dirty="0" sz="800" spc="500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which </a:t>
            </a:r>
            <a:r>
              <a:rPr dirty="0" sz="800" i="1">
                <a:solidFill>
                  <a:srgbClr val="6B7280"/>
                </a:solidFill>
                <a:latin typeface="Calibri"/>
                <a:cs typeface="Calibri"/>
              </a:rPr>
              <a:t>lie</a:t>
            </a:r>
            <a:r>
              <a:rPr dirty="0" sz="800" spc="-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outside</a:t>
            </a:r>
            <a:r>
              <a:rPr dirty="0" sz="800" spc="-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6B7280"/>
                </a:solidFill>
                <a:latin typeface="Calibri"/>
                <a:cs typeface="Calibri"/>
              </a:rPr>
              <a:t>the</a:t>
            </a:r>
            <a:r>
              <a:rPr dirty="0" sz="800" spc="-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similarity subgroup</a:t>
            </a:r>
            <a:r>
              <a:rPr dirty="0" sz="800" spc="-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6B7280"/>
                </a:solidFill>
                <a:latin typeface="Calibri"/>
                <a:cs typeface="Calibri"/>
              </a:rPr>
              <a:t>(det</a:t>
            </a:r>
            <a:r>
              <a:rPr dirty="0" sz="800" spc="-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6B7280"/>
                </a:solidFill>
                <a:latin typeface="Calibri"/>
                <a:cs typeface="Calibri"/>
              </a:rPr>
              <a:t>M</a:t>
            </a:r>
            <a:r>
              <a:rPr dirty="0" sz="800" spc="-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6B7280"/>
                </a:solidFill>
                <a:latin typeface="Calibri"/>
                <a:cs typeface="Calibri"/>
              </a:rPr>
              <a:t>&lt;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spc="-25" i="1">
                <a:solidFill>
                  <a:srgbClr val="6B7280"/>
                </a:solidFill>
                <a:latin typeface="Calibri"/>
                <a:cs typeface="Calibri"/>
              </a:rPr>
              <a:t>0).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65"/>
              </a:lnSpc>
            </a:pPr>
            <a:r>
              <a:rPr dirty="0"/>
              <a:t>IE</a:t>
            </a:r>
            <a:r>
              <a:rPr dirty="0" spc="-15"/>
              <a:t> </a:t>
            </a:r>
            <a:r>
              <a:rPr dirty="0"/>
              <a:t>643</a:t>
            </a:r>
            <a:r>
              <a:rPr dirty="0" spc="-15"/>
              <a:t> </a:t>
            </a:r>
            <a:r>
              <a:rPr dirty="0" spc="-10"/>
              <a:t>Course </a:t>
            </a:r>
            <a:r>
              <a:rPr dirty="0"/>
              <a:t>Project</a:t>
            </a:r>
            <a:r>
              <a:rPr dirty="0" spc="135"/>
              <a:t> </a:t>
            </a:r>
            <a:r>
              <a:rPr dirty="0"/>
              <a:t>·</a:t>
            </a:r>
            <a:r>
              <a:rPr dirty="0" spc="140"/>
              <a:t> </a:t>
            </a:r>
            <a:r>
              <a:rPr dirty="0" spc="-20"/>
              <a:t>Team</a:t>
            </a:r>
            <a:r>
              <a:rPr dirty="0" spc="-10"/>
              <a:t> DyoOptix</a:t>
            </a:r>
          </a:p>
        </p:txBody>
      </p:sp>
      <p:sp>
        <p:nvSpPr>
          <p:cNvPr id="34" name="object 3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65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8780" y="244602"/>
            <a:ext cx="86741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E17039"/>
                </a:solidFill>
                <a:latin typeface="Calibri"/>
                <a:cs typeface="Calibri"/>
              </a:rPr>
              <a:t>BLOCK</a:t>
            </a:r>
            <a:r>
              <a:rPr dirty="0" sz="800" spc="-20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E17039"/>
                </a:solidFill>
                <a:latin typeface="Calibri"/>
                <a:cs typeface="Calibri"/>
              </a:rPr>
              <a:t>04</a:t>
            </a:r>
            <a:r>
              <a:rPr dirty="0" sz="800" spc="-1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E17039"/>
                </a:solidFill>
                <a:latin typeface="Calibri"/>
                <a:cs typeface="Calibri"/>
              </a:rPr>
              <a:t>·</a:t>
            </a:r>
            <a:r>
              <a:rPr dirty="0" sz="800" spc="-1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800" spc="-10" b="1">
                <a:solidFill>
                  <a:srgbClr val="E17039"/>
                </a:solidFill>
                <a:latin typeface="Calibri"/>
                <a:cs typeface="Calibri"/>
              </a:rPr>
              <a:t>DATASET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4398" y="507268"/>
            <a:ext cx="158180" cy="158180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Magnitude</a:t>
            </a:r>
            <a:r>
              <a:rPr dirty="0" spc="-40"/>
              <a:t> </a:t>
            </a:r>
            <a:r>
              <a:rPr dirty="0"/>
              <a:t>Is</a:t>
            </a:r>
            <a:r>
              <a:rPr dirty="0" spc="-35"/>
              <a:t> </a:t>
            </a:r>
            <a:r>
              <a:rPr dirty="0"/>
              <a:t>a</a:t>
            </a:r>
            <a:r>
              <a:rPr dirty="0" spc="-35"/>
              <a:t> </a:t>
            </a:r>
            <a:r>
              <a:rPr dirty="0" spc="-10"/>
              <a:t>Distribution,</a:t>
            </a:r>
            <a:r>
              <a:rPr dirty="0" spc="-35"/>
              <a:t> </a:t>
            </a:r>
            <a:r>
              <a:rPr dirty="0"/>
              <a:t>Not</a:t>
            </a:r>
            <a:r>
              <a:rPr dirty="0" spc="-35"/>
              <a:t> </a:t>
            </a:r>
            <a:r>
              <a:rPr dirty="0"/>
              <a:t>a</a:t>
            </a:r>
            <a:r>
              <a:rPr dirty="0" spc="-35"/>
              <a:t> </a:t>
            </a:r>
            <a:r>
              <a:rPr dirty="0" spc="-10"/>
              <a:t>Number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22834" y="1091946"/>
          <a:ext cx="7632700" cy="14573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07795"/>
                <a:gridCol w="2299335"/>
                <a:gridCol w="1697354"/>
                <a:gridCol w="892175"/>
                <a:gridCol w="1261745"/>
              </a:tblGrid>
              <a:tr h="128905">
                <a:tc>
                  <a:txBody>
                    <a:bodyPr/>
                    <a:lstStyle/>
                    <a:p>
                      <a:pPr marL="88265">
                        <a:lnSpc>
                          <a:spcPts val="760"/>
                        </a:lnSpc>
                      </a:pPr>
                      <a:r>
                        <a:rPr dirty="0" sz="800" spc="-10" b="1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ADVERB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3175">
                      <a:solidFill>
                        <a:srgbClr val="F6F6F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9290">
                        <a:lnSpc>
                          <a:spcPts val="760"/>
                        </a:lnSpc>
                      </a:pPr>
                      <a:r>
                        <a:rPr dirty="0" sz="800" spc="-20" b="1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TRANSLATION</a:t>
                      </a:r>
                      <a:r>
                        <a:rPr dirty="0" sz="800" spc="35" b="1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 b="1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(frac.</a:t>
                      </a:r>
                      <a:r>
                        <a:rPr dirty="0" sz="800" spc="35" b="1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 b="1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width)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3175">
                      <a:solidFill>
                        <a:srgbClr val="F6F6F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6570">
                        <a:lnSpc>
                          <a:spcPts val="760"/>
                        </a:lnSpc>
                      </a:pPr>
                      <a:r>
                        <a:rPr dirty="0" sz="800" spc="-10" b="1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ROTATION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3175">
                      <a:solidFill>
                        <a:srgbClr val="F6F6F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6555">
                        <a:lnSpc>
                          <a:spcPts val="760"/>
                        </a:lnSpc>
                      </a:pPr>
                      <a:r>
                        <a:rPr dirty="0" sz="800" b="1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|log</a:t>
                      </a:r>
                      <a:r>
                        <a:rPr dirty="0" sz="800" spc="-20" b="1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25" b="1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s|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3175">
                      <a:solidFill>
                        <a:srgbClr val="F6F6F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3175">
                      <a:solidFill>
                        <a:srgbClr val="F6F6F4"/>
                      </a:solidFill>
                      <a:prstDash val="solid"/>
                    </a:lnB>
                  </a:tcPr>
                </a:tc>
              </a:tr>
              <a:tr h="368935"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dirty="0" sz="900" spc="-10" b="1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slightly</a:t>
                      </a:r>
                      <a:r>
                        <a:rPr dirty="0" sz="900" spc="-5" b="1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b="1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900" spc="-5" b="1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b="1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900" spc="-5" b="1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25" b="1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bit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111125"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 marL="669290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dirty="0" sz="900">
                          <a:solidFill>
                            <a:srgbClr val="2E6171"/>
                          </a:solidFill>
                          <a:latin typeface="Courier New"/>
                          <a:cs typeface="Courier New"/>
                        </a:rPr>
                        <a:t>U(0.02,</a:t>
                      </a:r>
                      <a:r>
                        <a:rPr dirty="0" sz="900" spc="-35">
                          <a:solidFill>
                            <a:srgbClr val="2E617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00" spc="-10">
                          <a:solidFill>
                            <a:srgbClr val="2E6171"/>
                          </a:solidFill>
                          <a:latin typeface="Courier New"/>
                          <a:cs typeface="Courier New"/>
                        </a:rPr>
                        <a:t>0.06)</a:t>
                      </a:r>
                      <a:endParaRPr sz="900">
                        <a:latin typeface="Courier New"/>
                        <a:cs typeface="Courier New"/>
                      </a:endParaRPr>
                    </a:p>
                  </a:txBody>
                  <a:tcPr marL="0" marR="0" marB="0" marT="111125"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 marL="496570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dirty="0" sz="900">
                          <a:solidFill>
                            <a:srgbClr val="2E6171"/>
                          </a:solidFill>
                          <a:latin typeface="Courier New"/>
                          <a:cs typeface="Courier New"/>
                        </a:rPr>
                        <a:t>U(3°,</a:t>
                      </a:r>
                      <a:r>
                        <a:rPr dirty="0" sz="900" spc="-25">
                          <a:solidFill>
                            <a:srgbClr val="2E617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00" spc="-20">
                          <a:solidFill>
                            <a:srgbClr val="2E6171"/>
                          </a:solidFill>
                          <a:latin typeface="Courier New"/>
                          <a:cs typeface="Courier New"/>
                        </a:rPr>
                        <a:t>10°)</a:t>
                      </a:r>
                      <a:endParaRPr sz="900">
                        <a:latin typeface="Courier New"/>
                        <a:cs typeface="Courier New"/>
                      </a:endParaRPr>
                    </a:p>
                  </a:txBody>
                  <a:tcPr marL="0" marR="0" marB="0" marT="111125"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 marL="376555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dirty="0" sz="900" spc="-10">
                          <a:solidFill>
                            <a:srgbClr val="2E6171"/>
                          </a:solidFill>
                          <a:latin typeface="Courier New"/>
                          <a:cs typeface="Courier New"/>
                        </a:rPr>
                        <a:t>U(0.05,</a:t>
                      </a:r>
                      <a:endParaRPr sz="900">
                        <a:latin typeface="Courier New"/>
                        <a:cs typeface="Courier New"/>
                      </a:endParaRPr>
                    </a:p>
                  </a:txBody>
                  <a:tcPr marL="0" marR="0" marB="0" marT="111125"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dirty="0" sz="900" spc="-10">
                          <a:solidFill>
                            <a:srgbClr val="2E6171"/>
                          </a:solidFill>
                          <a:latin typeface="Courier New"/>
                          <a:cs typeface="Courier New"/>
                        </a:rPr>
                        <a:t>0.15)</a:t>
                      </a:r>
                      <a:endParaRPr sz="900">
                        <a:latin typeface="Courier New"/>
                        <a:cs typeface="Courier New"/>
                      </a:endParaRPr>
                    </a:p>
                  </a:txBody>
                  <a:tcPr marL="0" marR="0" marB="0" marT="111125">
                    <a:solidFill>
                      <a:srgbClr val="F6F6F4"/>
                    </a:solidFill>
                  </a:tcPr>
                </a:tc>
              </a:tr>
              <a:tr h="343535"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dirty="0" sz="900" spc="-10" b="1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moderately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98425">
                    <a:lnT w="3175">
                      <a:solidFill>
                        <a:srgbClr val="F6F6F4"/>
                      </a:solidFill>
                      <a:prstDash val="solid"/>
                    </a:lnT>
                    <a:lnB w="3175">
                      <a:solidFill>
                        <a:srgbClr val="F6F6F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9290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dirty="0" sz="900">
                          <a:solidFill>
                            <a:srgbClr val="2E6171"/>
                          </a:solidFill>
                          <a:latin typeface="Courier New"/>
                          <a:cs typeface="Courier New"/>
                        </a:rPr>
                        <a:t>U(0.10,</a:t>
                      </a:r>
                      <a:r>
                        <a:rPr dirty="0" sz="900" spc="-35">
                          <a:solidFill>
                            <a:srgbClr val="2E617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00" spc="-10">
                          <a:solidFill>
                            <a:srgbClr val="2E6171"/>
                          </a:solidFill>
                          <a:latin typeface="Courier New"/>
                          <a:cs typeface="Courier New"/>
                        </a:rPr>
                        <a:t>0.18)</a:t>
                      </a:r>
                      <a:endParaRPr sz="900">
                        <a:latin typeface="Courier New"/>
                        <a:cs typeface="Courier New"/>
                      </a:endParaRPr>
                    </a:p>
                  </a:txBody>
                  <a:tcPr marL="0" marR="0" marB="0" marT="98425">
                    <a:lnT w="3175">
                      <a:solidFill>
                        <a:srgbClr val="F6F6F4"/>
                      </a:solidFill>
                      <a:prstDash val="solid"/>
                    </a:lnT>
                    <a:lnB w="3175">
                      <a:solidFill>
                        <a:srgbClr val="F6F6F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96570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dirty="0" sz="900">
                          <a:solidFill>
                            <a:srgbClr val="2E6171"/>
                          </a:solidFill>
                          <a:latin typeface="Courier New"/>
                          <a:cs typeface="Courier New"/>
                        </a:rPr>
                        <a:t>U(15°,</a:t>
                      </a:r>
                      <a:r>
                        <a:rPr dirty="0" sz="900" spc="-30">
                          <a:solidFill>
                            <a:srgbClr val="2E617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00" spc="-20">
                          <a:solidFill>
                            <a:srgbClr val="2E6171"/>
                          </a:solidFill>
                          <a:latin typeface="Courier New"/>
                          <a:cs typeface="Courier New"/>
                        </a:rPr>
                        <a:t>30°)</a:t>
                      </a:r>
                      <a:endParaRPr sz="900">
                        <a:latin typeface="Courier New"/>
                        <a:cs typeface="Courier New"/>
                      </a:endParaRPr>
                    </a:p>
                  </a:txBody>
                  <a:tcPr marL="0" marR="0" marB="0" marT="98425">
                    <a:lnT w="3175">
                      <a:solidFill>
                        <a:srgbClr val="F6F6F4"/>
                      </a:solidFill>
                      <a:prstDash val="solid"/>
                    </a:lnT>
                    <a:lnB w="3175">
                      <a:solidFill>
                        <a:srgbClr val="F6F6F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6555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dirty="0" sz="900" spc="-10">
                          <a:solidFill>
                            <a:srgbClr val="2E6171"/>
                          </a:solidFill>
                          <a:latin typeface="Courier New"/>
                          <a:cs typeface="Courier New"/>
                        </a:rPr>
                        <a:t>U(0.20,</a:t>
                      </a:r>
                      <a:endParaRPr sz="900">
                        <a:latin typeface="Courier New"/>
                        <a:cs typeface="Courier New"/>
                      </a:endParaRPr>
                    </a:p>
                  </a:txBody>
                  <a:tcPr marL="0" marR="0" marB="0" marT="98425">
                    <a:lnT w="3175">
                      <a:solidFill>
                        <a:srgbClr val="F6F6F4"/>
                      </a:solidFill>
                      <a:prstDash val="solid"/>
                    </a:lnT>
                    <a:lnB w="3175">
                      <a:solidFill>
                        <a:srgbClr val="F6F6F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dirty="0" sz="900" spc="-10">
                          <a:solidFill>
                            <a:srgbClr val="2E6171"/>
                          </a:solidFill>
                          <a:latin typeface="Courier New"/>
                          <a:cs typeface="Courier New"/>
                        </a:rPr>
                        <a:t>0.40)</a:t>
                      </a:r>
                      <a:endParaRPr sz="900">
                        <a:latin typeface="Courier New"/>
                        <a:cs typeface="Courier New"/>
                      </a:endParaRPr>
                    </a:p>
                  </a:txBody>
                  <a:tcPr marL="0" marR="0" marB="0" marT="98425">
                    <a:lnT w="3175">
                      <a:solidFill>
                        <a:srgbClr val="F6F6F4"/>
                      </a:solidFill>
                      <a:prstDash val="solid"/>
                    </a:lnT>
                    <a:lnB w="3175">
                      <a:solidFill>
                        <a:srgbClr val="F6F6F4"/>
                      </a:solidFill>
                      <a:prstDash val="solid"/>
                    </a:lnB>
                  </a:tcPr>
                </a:tc>
              </a:tr>
              <a:tr h="368935">
                <a:tc>
                  <a:txBody>
                    <a:bodyPr/>
                    <a:lstStyle/>
                    <a:p>
                      <a:pPr marL="88265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dirty="0" sz="900" spc="-10" b="1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significantly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111125">
                    <a:lnT w="3175">
                      <a:solidFill>
                        <a:srgbClr val="F6F6F4"/>
                      </a:solidFill>
                      <a:prstDash val="solid"/>
                    </a:lnT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 marL="669290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dirty="0" sz="900">
                          <a:solidFill>
                            <a:srgbClr val="2E6171"/>
                          </a:solidFill>
                          <a:latin typeface="Courier New"/>
                          <a:cs typeface="Courier New"/>
                        </a:rPr>
                        <a:t>U(0.22,</a:t>
                      </a:r>
                      <a:r>
                        <a:rPr dirty="0" sz="900" spc="-35">
                          <a:solidFill>
                            <a:srgbClr val="2E617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00" spc="-10">
                          <a:solidFill>
                            <a:srgbClr val="2E6171"/>
                          </a:solidFill>
                          <a:latin typeface="Courier New"/>
                          <a:cs typeface="Courier New"/>
                        </a:rPr>
                        <a:t>0.32)</a:t>
                      </a:r>
                      <a:endParaRPr sz="900">
                        <a:latin typeface="Courier New"/>
                        <a:cs typeface="Courier New"/>
                      </a:endParaRPr>
                    </a:p>
                  </a:txBody>
                  <a:tcPr marL="0" marR="0" marB="0" marT="111125">
                    <a:lnT w="3175">
                      <a:solidFill>
                        <a:srgbClr val="F6F6F4"/>
                      </a:solidFill>
                      <a:prstDash val="solid"/>
                    </a:lnT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 marL="496570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dirty="0" sz="900">
                          <a:solidFill>
                            <a:srgbClr val="2E6171"/>
                          </a:solidFill>
                          <a:latin typeface="Courier New"/>
                          <a:cs typeface="Courier New"/>
                        </a:rPr>
                        <a:t>U(40°,</a:t>
                      </a:r>
                      <a:r>
                        <a:rPr dirty="0" sz="900" spc="-30">
                          <a:solidFill>
                            <a:srgbClr val="2E617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00" spc="-20">
                          <a:solidFill>
                            <a:srgbClr val="2E6171"/>
                          </a:solidFill>
                          <a:latin typeface="Courier New"/>
                          <a:cs typeface="Courier New"/>
                        </a:rPr>
                        <a:t>70°)</a:t>
                      </a:r>
                      <a:endParaRPr sz="900">
                        <a:latin typeface="Courier New"/>
                        <a:cs typeface="Courier New"/>
                      </a:endParaRPr>
                    </a:p>
                  </a:txBody>
                  <a:tcPr marL="0" marR="0" marB="0" marT="111125">
                    <a:lnT w="3175">
                      <a:solidFill>
                        <a:srgbClr val="F6F6F4"/>
                      </a:solidFill>
                      <a:prstDash val="solid"/>
                    </a:lnT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 marL="376555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dirty="0" sz="900" spc="-10">
                          <a:solidFill>
                            <a:srgbClr val="2E6171"/>
                          </a:solidFill>
                          <a:latin typeface="Courier New"/>
                          <a:cs typeface="Courier New"/>
                        </a:rPr>
                        <a:t>U(0.50,</a:t>
                      </a:r>
                      <a:endParaRPr sz="900">
                        <a:latin typeface="Courier New"/>
                        <a:cs typeface="Courier New"/>
                      </a:endParaRPr>
                    </a:p>
                  </a:txBody>
                  <a:tcPr marL="0" marR="0" marB="0" marT="111125">
                    <a:lnT w="3175">
                      <a:solidFill>
                        <a:srgbClr val="F6F6F4"/>
                      </a:solidFill>
                      <a:prstDash val="solid"/>
                    </a:lnT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 marL="34290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dirty="0" sz="900" spc="-10">
                          <a:solidFill>
                            <a:srgbClr val="2E6171"/>
                          </a:solidFill>
                          <a:latin typeface="Courier New"/>
                          <a:cs typeface="Courier New"/>
                        </a:rPr>
                        <a:t>0.80)</a:t>
                      </a:r>
                      <a:endParaRPr sz="900">
                        <a:latin typeface="Courier New"/>
                        <a:cs typeface="Courier New"/>
                      </a:endParaRPr>
                    </a:p>
                  </a:txBody>
                  <a:tcPr marL="0" marR="0" marB="0" marT="111125">
                    <a:lnT w="3175">
                      <a:solidFill>
                        <a:srgbClr val="F6F6F4"/>
                      </a:solidFill>
                      <a:prstDash val="solid"/>
                    </a:lnT>
                    <a:solidFill>
                      <a:srgbClr val="F6F6F4"/>
                    </a:solidFill>
                  </a:tcPr>
                </a:tc>
              </a:tr>
              <a:tr h="247015">
                <a:tc>
                  <a:txBody>
                    <a:bodyPr/>
                    <a:lstStyle/>
                    <a:p>
                      <a:pPr marL="88265">
                        <a:lnSpc>
                          <a:spcPts val="1070"/>
                        </a:lnSpc>
                        <a:spcBef>
                          <a:spcPts val="775"/>
                        </a:spcBef>
                      </a:pPr>
                      <a:r>
                        <a:rPr dirty="0" sz="900" spc="-10" b="1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drastically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98425">
                    <a:lnT w="3175">
                      <a:solidFill>
                        <a:srgbClr val="F6F6F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69290">
                        <a:lnSpc>
                          <a:spcPts val="1070"/>
                        </a:lnSpc>
                        <a:spcBef>
                          <a:spcPts val="775"/>
                        </a:spcBef>
                      </a:pPr>
                      <a:r>
                        <a:rPr dirty="0" sz="900">
                          <a:solidFill>
                            <a:srgbClr val="2E6171"/>
                          </a:solidFill>
                          <a:latin typeface="Courier New"/>
                          <a:cs typeface="Courier New"/>
                        </a:rPr>
                        <a:t>U(0.35,</a:t>
                      </a:r>
                      <a:r>
                        <a:rPr dirty="0" sz="900" spc="-35">
                          <a:solidFill>
                            <a:srgbClr val="2E617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00" spc="-10">
                          <a:solidFill>
                            <a:srgbClr val="2E6171"/>
                          </a:solidFill>
                          <a:latin typeface="Courier New"/>
                          <a:cs typeface="Courier New"/>
                        </a:rPr>
                        <a:t>0.45)</a:t>
                      </a:r>
                      <a:endParaRPr sz="900">
                        <a:latin typeface="Courier New"/>
                        <a:cs typeface="Courier New"/>
                      </a:endParaRPr>
                    </a:p>
                  </a:txBody>
                  <a:tcPr marL="0" marR="0" marB="0" marT="98425">
                    <a:lnT w="3175">
                      <a:solidFill>
                        <a:srgbClr val="F6F6F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96570">
                        <a:lnSpc>
                          <a:spcPts val="1070"/>
                        </a:lnSpc>
                        <a:spcBef>
                          <a:spcPts val="775"/>
                        </a:spcBef>
                      </a:pPr>
                      <a:r>
                        <a:rPr dirty="0" sz="900">
                          <a:solidFill>
                            <a:srgbClr val="2E6171"/>
                          </a:solidFill>
                          <a:latin typeface="Courier New"/>
                          <a:cs typeface="Courier New"/>
                        </a:rPr>
                        <a:t>U(75°,</a:t>
                      </a:r>
                      <a:r>
                        <a:rPr dirty="0" sz="900" spc="-30">
                          <a:solidFill>
                            <a:srgbClr val="2E617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900" spc="-10">
                          <a:solidFill>
                            <a:srgbClr val="2E6171"/>
                          </a:solidFill>
                          <a:latin typeface="Courier New"/>
                          <a:cs typeface="Courier New"/>
                        </a:rPr>
                        <a:t>110°)</a:t>
                      </a:r>
                      <a:endParaRPr sz="900">
                        <a:latin typeface="Courier New"/>
                        <a:cs typeface="Courier New"/>
                      </a:endParaRPr>
                    </a:p>
                  </a:txBody>
                  <a:tcPr marL="0" marR="0" marB="0" marT="98425">
                    <a:lnT w="3175">
                      <a:solidFill>
                        <a:srgbClr val="F6F6F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76555">
                        <a:lnSpc>
                          <a:spcPts val="1070"/>
                        </a:lnSpc>
                        <a:spcBef>
                          <a:spcPts val="775"/>
                        </a:spcBef>
                      </a:pPr>
                      <a:r>
                        <a:rPr dirty="0" sz="900" spc="-10">
                          <a:solidFill>
                            <a:srgbClr val="2E6171"/>
                          </a:solidFill>
                          <a:latin typeface="Courier New"/>
                          <a:cs typeface="Courier New"/>
                        </a:rPr>
                        <a:t>U(0.90,</a:t>
                      </a:r>
                      <a:endParaRPr sz="900">
                        <a:latin typeface="Courier New"/>
                        <a:cs typeface="Courier New"/>
                      </a:endParaRPr>
                    </a:p>
                  </a:txBody>
                  <a:tcPr marL="0" marR="0" marB="0" marT="98425">
                    <a:lnT w="3175">
                      <a:solidFill>
                        <a:srgbClr val="F6F6F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4290">
                        <a:lnSpc>
                          <a:spcPts val="1070"/>
                        </a:lnSpc>
                        <a:spcBef>
                          <a:spcPts val="775"/>
                        </a:spcBef>
                      </a:pPr>
                      <a:r>
                        <a:rPr dirty="0" sz="900" spc="-10">
                          <a:solidFill>
                            <a:srgbClr val="2E6171"/>
                          </a:solidFill>
                          <a:latin typeface="Courier New"/>
                          <a:cs typeface="Courier New"/>
                        </a:rPr>
                        <a:t>1.30)</a:t>
                      </a:r>
                      <a:endParaRPr sz="900">
                        <a:latin typeface="Courier New"/>
                        <a:cs typeface="Courier New"/>
                      </a:endParaRPr>
                    </a:p>
                  </a:txBody>
                  <a:tcPr marL="0" marR="0" marB="0" marT="98425">
                    <a:lnT w="3175">
                      <a:solidFill>
                        <a:srgbClr val="F6F6F4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406717" y="2635567"/>
            <a:ext cx="8328659" cy="592455"/>
            <a:chOff x="406717" y="2635567"/>
            <a:chExt cx="8328659" cy="592455"/>
          </a:xfrm>
        </p:grpSpPr>
        <p:sp>
          <p:nvSpPr>
            <p:cNvPr id="7" name="object 7"/>
            <p:cNvSpPr/>
            <p:nvPr/>
          </p:nvSpPr>
          <p:spPr>
            <a:xfrm>
              <a:off x="411480" y="2640329"/>
              <a:ext cx="8319134" cy="582930"/>
            </a:xfrm>
            <a:custGeom>
              <a:avLst/>
              <a:gdLst/>
              <a:ahLst/>
              <a:cxnLst/>
              <a:rect l="l" t="t" r="r" b="b"/>
              <a:pathLst>
                <a:path w="8319134" h="582930">
                  <a:moveTo>
                    <a:pt x="8277604" y="582929"/>
                  </a:moveTo>
                  <a:lnTo>
                    <a:pt x="41149" y="582929"/>
                  </a:lnTo>
                  <a:lnTo>
                    <a:pt x="25131" y="579696"/>
                  </a:lnTo>
                  <a:lnTo>
                    <a:pt x="12052" y="570877"/>
                  </a:lnTo>
                  <a:lnTo>
                    <a:pt x="3233" y="557798"/>
                  </a:lnTo>
                  <a:lnTo>
                    <a:pt x="0" y="541780"/>
                  </a:lnTo>
                  <a:lnTo>
                    <a:pt x="0" y="41149"/>
                  </a:lnTo>
                  <a:lnTo>
                    <a:pt x="3233" y="25132"/>
                  </a:lnTo>
                  <a:lnTo>
                    <a:pt x="12052" y="12052"/>
                  </a:lnTo>
                  <a:lnTo>
                    <a:pt x="25131" y="3233"/>
                  </a:lnTo>
                  <a:lnTo>
                    <a:pt x="41149" y="0"/>
                  </a:lnTo>
                  <a:lnTo>
                    <a:pt x="8277604" y="0"/>
                  </a:lnTo>
                  <a:lnTo>
                    <a:pt x="8311840" y="18319"/>
                  </a:lnTo>
                  <a:lnTo>
                    <a:pt x="8318754" y="41149"/>
                  </a:lnTo>
                  <a:lnTo>
                    <a:pt x="8318754" y="541780"/>
                  </a:lnTo>
                  <a:lnTo>
                    <a:pt x="8315520" y="557798"/>
                  </a:lnTo>
                  <a:lnTo>
                    <a:pt x="8306701" y="570877"/>
                  </a:lnTo>
                  <a:lnTo>
                    <a:pt x="8293622" y="579696"/>
                  </a:lnTo>
                  <a:lnTo>
                    <a:pt x="8277604" y="582929"/>
                  </a:lnTo>
                  <a:close/>
                </a:path>
              </a:pathLst>
            </a:custGeom>
            <a:solidFill>
              <a:srgbClr val="FCF1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11480" y="2640329"/>
              <a:ext cx="8319134" cy="582930"/>
            </a:xfrm>
            <a:custGeom>
              <a:avLst/>
              <a:gdLst/>
              <a:ahLst/>
              <a:cxnLst/>
              <a:rect l="l" t="t" r="r" b="b"/>
              <a:pathLst>
                <a:path w="8319134" h="582930">
                  <a:moveTo>
                    <a:pt x="0" y="41149"/>
                  </a:moveTo>
                  <a:lnTo>
                    <a:pt x="3233" y="25132"/>
                  </a:lnTo>
                  <a:lnTo>
                    <a:pt x="12052" y="12052"/>
                  </a:lnTo>
                  <a:lnTo>
                    <a:pt x="25131" y="3233"/>
                  </a:lnTo>
                  <a:lnTo>
                    <a:pt x="41149" y="0"/>
                  </a:lnTo>
                  <a:lnTo>
                    <a:pt x="8277604" y="0"/>
                  </a:lnTo>
                  <a:lnTo>
                    <a:pt x="8311840" y="18319"/>
                  </a:lnTo>
                  <a:lnTo>
                    <a:pt x="8318754" y="41149"/>
                  </a:lnTo>
                  <a:lnTo>
                    <a:pt x="8318754" y="541780"/>
                  </a:lnTo>
                  <a:lnTo>
                    <a:pt x="8315520" y="557798"/>
                  </a:lnTo>
                  <a:lnTo>
                    <a:pt x="8306701" y="570877"/>
                  </a:lnTo>
                  <a:lnTo>
                    <a:pt x="8293622" y="579696"/>
                  </a:lnTo>
                  <a:lnTo>
                    <a:pt x="8277604" y="582929"/>
                  </a:lnTo>
                  <a:lnTo>
                    <a:pt x="41149" y="582929"/>
                  </a:lnTo>
                  <a:lnTo>
                    <a:pt x="25131" y="579696"/>
                  </a:lnTo>
                  <a:lnTo>
                    <a:pt x="12052" y="570877"/>
                  </a:lnTo>
                  <a:lnTo>
                    <a:pt x="3233" y="557798"/>
                  </a:lnTo>
                  <a:lnTo>
                    <a:pt x="0" y="541780"/>
                  </a:lnTo>
                  <a:lnTo>
                    <a:pt x="0" y="41149"/>
                  </a:lnTo>
                  <a:close/>
                </a:path>
              </a:pathLst>
            </a:custGeom>
            <a:ln w="9524">
              <a:solidFill>
                <a:srgbClr val="E3E4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604520" y="2821559"/>
            <a:ext cx="771270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1A1F2B"/>
                </a:solidFill>
                <a:latin typeface="Cambria"/>
                <a:cs typeface="Cambria"/>
              </a:rPr>
              <a:t>"Slightly"</a:t>
            </a:r>
            <a:r>
              <a:rPr dirty="0" sz="1200" spc="-25" b="1">
                <a:solidFill>
                  <a:srgbClr val="1A1F2B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1A1F2B"/>
                </a:solidFill>
                <a:latin typeface="Cambria"/>
                <a:cs typeface="Cambria"/>
              </a:rPr>
              <a:t>has</a:t>
            </a:r>
            <a:r>
              <a:rPr dirty="0" sz="1200" spc="-20" b="1">
                <a:solidFill>
                  <a:srgbClr val="1A1F2B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1A1F2B"/>
                </a:solidFill>
                <a:latin typeface="Cambria"/>
                <a:cs typeface="Cambria"/>
              </a:rPr>
              <a:t>no</a:t>
            </a:r>
            <a:r>
              <a:rPr dirty="0" sz="1200" spc="-25" b="1">
                <a:solidFill>
                  <a:srgbClr val="1A1F2B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1A1F2B"/>
                </a:solidFill>
                <a:latin typeface="Cambria"/>
                <a:cs typeface="Cambria"/>
              </a:rPr>
              <a:t>correct</a:t>
            </a:r>
            <a:r>
              <a:rPr dirty="0" sz="1200" spc="-20" b="1">
                <a:solidFill>
                  <a:srgbClr val="1A1F2B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1A1F2B"/>
                </a:solidFill>
                <a:latin typeface="Cambria"/>
                <a:cs typeface="Cambria"/>
              </a:rPr>
              <a:t>numeric</a:t>
            </a:r>
            <a:r>
              <a:rPr dirty="0" sz="1200" spc="-20" b="1">
                <a:solidFill>
                  <a:srgbClr val="1A1F2B"/>
                </a:solidFill>
                <a:latin typeface="Cambria"/>
                <a:cs typeface="Cambria"/>
              </a:rPr>
              <a:t> </a:t>
            </a:r>
            <a:r>
              <a:rPr dirty="0" sz="1200" spc="-25" b="1">
                <a:solidFill>
                  <a:srgbClr val="1A1F2B"/>
                </a:solidFill>
                <a:latin typeface="Cambria"/>
                <a:cs typeface="Cambria"/>
              </a:rPr>
              <a:t>answer. </a:t>
            </a:r>
            <a:r>
              <a:rPr dirty="0" sz="1200" b="1">
                <a:solidFill>
                  <a:srgbClr val="1A1F2B"/>
                </a:solidFill>
                <a:latin typeface="Cambria"/>
                <a:cs typeface="Cambria"/>
              </a:rPr>
              <a:t>Sampling</a:t>
            </a:r>
            <a:r>
              <a:rPr dirty="0" sz="1200" spc="-20" b="1">
                <a:solidFill>
                  <a:srgbClr val="1A1F2B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1A1F2B"/>
                </a:solidFill>
                <a:latin typeface="Cambria"/>
                <a:cs typeface="Cambria"/>
              </a:rPr>
              <a:t>rather</a:t>
            </a:r>
            <a:r>
              <a:rPr dirty="0" sz="1200" spc="-20" b="1">
                <a:solidFill>
                  <a:srgbClr val="1A1F2B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1A1F2B"/>
                </a:solidFill>
                <a:latin typeface="Cambria"/>
                <a:cs typeface="Cambria"/>
              </a:rPr>
              <a:t>than</a:t>
            </a:r>
            <a:r>
              <a:rPr dirty="0" sz="1200" spc="-25" b="1">
                <a:solidFill>
                  <a:srgbClr val="1A1F2B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1A1F2B"/>
                </a:solidFill>
                <a:latin typeface="Cambria"/>
                <a:cs typeface="Cambria"/>
              </a:rPr>
              <a:t>fixing</a:t>
            </a:r>
            <a:r>
              <a:rPr dirty="0" sz="1200" spc="-20" b="1">
                <a:solidFill>
                  <a:srgbClr val="1A1F2B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1A1F2B"/>
                </a:solidFill>
                <a:latin typeface="Cambria"/>
                <a:cs typeface="Cambria"/>
              </a:rPr>
              <a:t>means</a:t>
            </a:r>
            <a:r>
              <a:rPr dirty="0" sz="1200" spc="-20" b="1">
                <a:solidFill>
                  <a:srgbClr val="1A1F2B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1A1F2B"/>
                </a:solidFill>
                <a:latin typeface="Cambria"/>
                <a:cs typeface="Cambria"/>
              </a:rPr>
              <a:t>the</a:t>
            </a:r>
            <a:r>
              <a:rPr dirty="0" sz="1200" spc="-25" b="1">
                <a:solidFill>
                  <a:srgbClr val="1A1F2B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1A1F2B"/>
                </a:solidFill>
                <a:latin typeface="Cambria"/>
                <a:cs typeface="Cambria"/>
              </a:rPr>
              <a:t>labels</a:t>
            </a:r>
            <a:r>
              <a:rPr dirty="0" sz="1200" spc="-20" b="1">
                <a:solidFill>
                  <a:srgbClr val="1A1F2B"/>
                </a:solidFill>
                <a:latin typeface="Cambria"/>
                <a:cs typeface="Cambria"/>
              </a:rPr>
              <a:t> </a:t>
            </a:r>
            <a:r>
              <a:rPr dirty="0" sz="1200" b="1">
                <a:solidFill>
                  <a:srgbClr val="1A1F2B"/>
                </a:solidFill>
                <a:latin typeface="Cambria"/>
                <a:cs typeface="Cambria"/>
              </a:rPr>
              <a:t>carry</a:t>
            </a:r>
            <a:r>
              <a:rPr dirty="0" sz="1200" spc="-25" b="1">
                <a:solidFill>
                  <a:srgbClr val="1A1F2B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1A1F2B"/>
                </a:solidFill>
                <a:latin typeface="Cambria"/>
                <a:cs typeface="Cambria"/>
              </a:rPr>
              <a:t>irreducible</a:t>
            </a:r>
            <a:r>
              <a:rPr dirty="0" sz="1200" spc="-20" b="1">
                <a:solidFill>
                  <a:srgbClr val="1A1F2B"/>
                </a:solidFill>
                <a:latin typeface="Cambria"/>
                <a:cs typeface="Cambria"/>
              </a:rPr>
              <a:t> </a:t>
            </a:r>
            <a:r>
              <a:rPr dirty="0" sz="1200" spc="-10" b="1">
                <a:solidFill>
                  <a:srgbClr val="1A1F2B"/>
                </a:solidFill>
                <a:latin typeface="Cambria"/>
                <a:cs typeface="Cambria"/>
              </a:rPr>
              <a:t>noise.</a:t>
            </a:r>
            <a:endParaRPr sz="1200">
              <a:latin typeface="Cambria"/>
              <a:cs typeface="Cambri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06717" y="3341941"/>
            <a:ext cx="2645410" cy="1120775"/>
            <a:chOff x="406717" y="3341941"/>
            <a:chExt cx="2645410" cy="1120775"/>
          </a:xfrm>
        </p:grpSpPr>
        <p:sp>
          <p:nvSpPr>
            <p:cNvPr id="11" name="object 11"/>
            <p:cNvSpPr/>
            <p:nvPr/>
          </p:nvSpPr>
          <p:spPr>
            <a:xfrm>
              <a:off x="411480" y="3346703"/>
              <a:ext cx="2635885" cy="1111250"/>
            </a:xfrm>
            <a:custGeom>
              <a:avLst/>
              <a:gdLst/>
              <a:ahLst/>
              <a:cxnLst/>
              <a:rect l="l" t="t" r="r" b="b"/>
              <a:pathLst>
                <a:path w="2635885" h="1111250">
                  <a:moveTo>
                    <a:pt x="2594606" y="1110995"/>
                  </a:moveTo>
                  <a:lnTo>
                    <a:pt x="41151" y="1110995"/>
                  </a:lnTo>
                  <a:lnTo>
                    <a:pt x="25133" y="1107762"/>
                  </a:lnTo>
                  <a:lnTo>
                    <a:pt x="12052" y="1098942"/>
                  </a:lnTo>
                  <a:lnTo>
                    <a:pt x="3233" y="1085862"/>
                  </a:lnTo>
                  <a:lnTo>
                    <a:pt x="0" y="1069844"/>
                  </a:lnTo>
                  <a:lnTo>
                    <a:pt x="0" y="41151"/>
                  </a:lnTo>
                  <a:lnTo>
                    <a:pt x="3233" y="25133"/>
                  </a:lnTo>
                  <a:lnTo>
                    <a:pt x="12052" y="12052"/>
                  </a:lnTo>
                  <a:lnTo>
                    <a:pt x="25133" y="3233"/>
                  </a:lnTo>
                  <a:lnTo>
                    <a:pt x="41151" y="0"/>
                  </a:lnTo>
                  <a:lnTo>
                    <a:pt x="2594606" y="0"/>
                  </a:lnTo>
                  <a:lnTo>
                    <a:pt x="2628844" y="18320"/>
                  </a:lnTo>
                  <a:lnTo>
                    <a:pt x="2635757" y="41151"/>
                  </a:lnTo>
                  <a:lnTo>
                    <a:pt x="2635757" y="1069844"/>
                  </a:lnTo>
                  <a:lnTo>
                    <a:pt x="2632524" y="1085862"/>
                  </a:lnTo>
                  <a:lnTo>
                    <a:pt x="2623705" y="1098942"/>
                  </a:lnTo>
                  <a:lnTo>
                    <a:pt x="2610624" y="1107762"/>
                  </a:lnTo>
                  <a:lnTo>
                    <a:pt x="2594606" y="1110995"/>
                  </a:lnTo>
                  <a:close/>
                </a:path>
              </a:pathLst>
            </a:custGeom>
            <a:solidFill>
              <a:srgbClr val="F4F4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11480" y="3346703"/>
              <a:ext cx="2635885" cy="1111250"/>
            </a:xfrm>
            <a:custGeom>
              <a:avLst/>
              <a:gdLst/>
              <a:ahLst/>
              <a:cxnLst/>
              <a:rect l="l" t="t" r="r" b="b"/>
              <a:pathLst>
                <a:path w="2635885" h="1111250">
                  <a:moveTo>
                    <a:pt x="0" y="41151"/>
                  </a:moveTo>
                  <a:lnTo>
                    <a:pt x="3233" y="25133"/>
                  </a:lnTo>
                  <a:lnTo>
                    <a:pt x="12052" y="12052"/>
                  </a:lnTo>
                  <a:lnTo>
                    <a:pt x="25133" y="3233"/>
                  </a:lnTo>
                  <a:lnTo>
                    <a:pt x="41151" y="0"/>
                  </a:lnTo>
                  <a:lnTo>
                    <a:pt x="2594606" y="0"/>
                  </a:lnTo>
                  <a:lnTo>
                    <a:pt x="2628844" y="18320"/>
                  </a:lnTo>
                  <a:lnTo>
                    <a:pt x="2635757" y="41151"/>
                  </a:lnTo>
                  <a:lnTo>
                    <a:pt x="2635757" y="1069844"/>
                  </a:lnTo>
                  <a:lnTo>
                    <a:pt x="2632524" y="1085862"/>
                  </a:lnTo>
                  <a:lnTo>
                    <a:pt x="2623705" y="1098942"/>
                  </a:lnTo>
                  <a:lnTo>
                    <a:pt x="2610624" y="1107762"/>
                  </a:lnTo>
                  <a:lnTo>
                    <a:pt x="2594606" y="1110995"/>
                  </a:lnTo>
                  <a:lnTo>
                    <a:pt x="41151" y="1110995"/>
                  </a:lnTo>
                  <a:lnTo>
                    <a:pt x="25133" y="1107762"/>
                  </a:lnTo>
                  <a:lnTo>
                    <a:pt x="12052" y="1098942"/>
                  </a:lnTo>
                  <a:lnTo>
                    <a:pt x="3233" y="1085862"/>
                  </a:lnTo>
                  <a:lnTo>
                    <a:pt x="0" y="1069844"/>
                  </a:lnTo>
                  <a:lnTo>
                    <a:pt x="0" y="41151"/>
                  </a:lnTo>
                  <a:close/>
                </a:path>
              </a:pathLst>
            </a:custGeom>
            <a:ln w="9524">
              <a:solidFill>
                <a:srgbClr val="E3E4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549656" y="3446017"/>
            <a:ext cx="5467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E17039"/>
                </a:solidFill>
                <a:latin typeface="Calibri"/>
                <a:cs typeface="Calibri"/>
              </a:rPr>
              <a:t>Noise</a:t>
            </a:r>
            <a:r>
              <a:rPr dirty="0" sz="900" spc="-50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900" spc="-10" b="1">
                <a:solidFill>
                  <a:srgbClr val="E17039"/>
                </a:solidFill>
                <a:latin typeface="Calibri"/>
                <a:cs typeface="Calibri"/>
              </a:rPr>
              <a:t>floor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49656" y="3771900"/>
            <a:ext cx="223964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An</a:t>
            </a:r>
            <a:r>
              <a:rPr dirty="0" sz="8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error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level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no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model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can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beat: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under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MAE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25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800" spc="50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optimal</a:t>
            </a:r>
            <a:r>
              <a:rPr dirty="0" sz="8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point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predictor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 is the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conditional</a:t>
            </a:r>
            <a:r>
              <a:rPr dirty="0" sz="8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median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1A1F2B"/>
                </a:solidFill>
                <a:latin typeface="Calibri"/>
                <a:cs typeface="Calibri"/>
              </a:rPr>
              <a:t>(the</a:t>
            </a:r>
            <a:r>
              <a:rPr dirty="0" sz="800" spc="50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mean,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under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MSE).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 Absolute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MAE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alone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25">
                <a:solidFill>
                  <a:srgbClr val="1A1F2B"/>
                </a:solidFill>
                <a:latin typeface="Calibri"/>
                <a:cs typeface="Calibri"/>
              </a:rPr>
              <a:t>is</a:t>
            </a:r>
            <a:r>
              <a:rPr dirty="0" sz="800" spc="50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uninterpretable;</a:t>
            </a:r>
            <a:r>
              <a:rPr dirty="0" sz="8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we</a:t>
            </a:r>
            <a:r>
              <a:rPr dirty="0" sz="8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report</a:t>
            </a:r>
            <a:r>
              <a:rPr dirty="0" sz="8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model</a:t>
            </a:r>
            <a:r>
              <a:rPr dirty="0" sz="8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MAE ÷</a:t>
            </a:r>
            <a:r>
              <a:rPr dirty="0" sz="8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oracle</a:t>
            </a:r>
            <a:r>
              <a:rPr dirty="0" sz="8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1A1F2B"/>
                </a:solidFill>
                <a:latin typeface="Calibri"/>
                <a:cs typeface="Calibri"/>
              </a:rPr>
              <a:t>MAE.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248215" y="3341941"/>
            <a:ext cx="2645410" cy="1120775"/>
            <a:chOff x="3248215" y="3341941"/>
            <a:chExt cx="2645410" cy="1120775"/>
          </a:xfrm>
        </p:grpSpPr>
        <p:sp>
          <p:nvSpPr>
            <p:cNvPr id="16" name="object 16"/>
            <p:cNvSpPr/>
            <p:nvPr/>
          </p:nvSpPr>
          <p:spPr>
            <a:xfrm>
              <a:off x="3252977" y="3346703"/>
              <a:ext cx="2635885" cy="1111250"/>
            </a:xfrm>
            <a:custGeom>
              <a:avLst/>
              <a:gdLst/>
              <a:ahLst/>
              <a:cxnLst/>
              <a:rect l="l" t="t" r="r" b="b"/>
              <a:pathLst>
                <a:path w="2635885" h="1111250">
                  <a:moveTo>
                    <a:pt x="2594606" y="1110995"/>
                  </a:moveTo>
                  <a:lnTo>
                    <a:pt x="41151" y="1110995"/>
                  </a:lnTo>
                  <a:lnTo>
                    <a:pt x="25133" y="1107762"/>
                  </a:lnTo>
                  <a:lnTo>
                    <a:pt x="12052" y="1098942"/>
                  </a:lnTo>
                  <a:lnTo>
                    <a:pt x="3233" y="1085862"/>
                  </a:lnTo>
                  <a:lnTo>
                    <a:pt x="0" y="1069844"/>
                  </a:lnTo>
                  <a:lnTo>
                    <a:pt x="0" y="41151"/>
                  </a:lnTo>
                  <a:lnTo>
                    <a:pt x="3233" y="25133"/>
                  </a:lnTo>
                  <a:lnTo>
                    <a:pt x="12052" y="12052"/>
                  </a:lnTo>
                  <a:lnTo>
                    <a:pt x="25133" y="3233"/>
                  </a:lnTo>
                  <a:lnTo>
                    <a:pt x="41151" y="0"/>
                  </a:lnTo>
                  <a:lnTo>
                    <a:pt x="2594606" y="0"/>
                  </a:lnTo>
                  <a:lnTo>
                    <a:pt x="2628844" y="18320"/>
                  </a:lnTo>
                  <a:lnTo>
                    <a:pt x="2635757" y="41151"/>
                  </a:lnTo>
                  <a:lnTo>
                    <a:pt x="2635757" y="1069844"/>
                  </a:lnTo>
                  <a:lnTo>
                    <a:pt x="2632524" y="1085862"/>
                  </a:lnTo>
                  <a:lnTo>
                    <a:pt x="2623705" y="1098942"/>
                  </a:lnTo>
                  <a:lnTo>
                    <a:pt x="2610624" y="1107762"/>
                  </a:lnTo>
                  <a:lnTo>
                    <a:pt x="2594606" y="1110995"/>
                  </a:lnTo>
                  <a:close/>
                </a:path>
              </a:pathLst>
            </a:custGeom>
            <a:solidFill>
              <a:srgbClr val="F4F4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252977" y="3346703"/>
              <a:ext cx="2635885" cy="1111250"/>
            </a:xfrm>
            <a:custGeom>
              <a:avLst/>
              <a:gdLst/>
              <a:ahLst/>
              <a:cxnLst/>
              <a:rect l="l" t="t" r="r" b="b"/>
              <a:pathLst>
                <a:path w="2635885" h="1111250">
                  <a:moveTo>
                    <a:pt x="0" y="41151"/>
                  </a:moveTo>
                  <a:lnTo>
                    <a:pt x="3233" y="25133"/>
                  </a:lnTo>
                  <a:lnTo>
                    <a:pt x="12052" y="12052"/>
                  </a:lnTo>
                  <a:lnTo>
                    <a:pt x="25133" y="3233"/>
                  </a:lnTo>
                  <a:lnTo>
                    <a:pt x="41151" y="0"/>
                  </a:lnTo>
                  <a:lnTo>
                    <a:pt x="2594606" y="0"/>
                  </a:lnTo>
                  <a:lnTo>
                    <a:pt x="2628844" y="18320"/>
                  </a:lnTo>
                  <a:lnTo>
                    <a:pt x="2635757" y="41151"/>
                  </a:lnTo>
                  <a:lnTo>
                    <a:pt x="2635757" y="1069844"/>
                  </a:lnTo>
                  <a:lnTo>
                    <a:pt x="2632524" y="1085862"/>
                  </a:lnTo>
                  <a:lnTo>
                    <a:pt x="2623705" y="1098942"/>
                  </a:lnTo>
                  <a:lnTo>
                    <a:pt x="2610624" y="1107762"/>
                  </a:lnTo>
                  <a:lnTo>
                    <a:pt x="2594606" y="1110995"/>
                  </a:lnTo>
                  <a:lnTo>
                    <a:pt x="41151" y="1110995"/>
                  </a:lnTo>
                  <a:lnTo>
                    <a:pt x="25133" y="1107762"/>
                  </a:lnTo>
                  <a:lnTo>
                    <a:pt x="12052" y="1098942"/>
                  </a:lnTo>
                  <a:lnTo>
                    <a:pt x="3233" y="1085862"/>
                  </a:lnTo>
                  <a:lnTo>
                    <a:pt x="0" y="1069844"/>
                  </a:lnTo>
                  <a:lnTo>
                    <a:pt x="0" y="41151"/>
                  </a:lnTo>
                  <a:close/>
                </a:path>
              </a:pathLst>
            </a:custGeom>
            <a:ln w="9524">
              <a:solidFill>
                <a:srgbClr val="E3E4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3391154" y="3446017"/>
            <a:ext cx="64960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E17039"/>
                </a:solidFill>
                <a:latin typeface="Calibri"/>
                <a:cs typeface="Calibri"/>
              </a:rPr>
              <a:t>Free</a:t>
            </a:r>
            <a:r>
              <a:rPr dirty="0" sz="900" spc="-40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900" spc="-10" b="1">
                <a:solidFill>
                  <a:srgbClr val="E17039"/>
                </a:solidFill>
                <a:latin typeface="Calibri"/>
                <a:cs typeface="Calibri"/>
              </a:rPr>
              <a:t>ablation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391154" y="3832860"/>
            <a:ext cx="21856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Explicit</a:t>
            </a:r>
            <a:r>
              <a:rPr dirty="0" sz="8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magnitudes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 ("by 45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degrees")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25">
                <a:solidFill>
                  <a:srgbClr val="1A1F2B"/>
                </a:solidFill>
                <a:latin typeface="Calibri"/>
                <a:cs typeface="Calibri"/>
              </a:rPr>
              <a:t>are</a:t>
            </a:r>
            <a:endParaRPr sz="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dirty="0" sz="800" spc="-20">
                <a:solidFill>
                  <a:srgbClr val="1A1F2B"/>
                </a:solidFill>
                <a:latin typeface="Calibri"/>
                <a:cs typeface="Calibri"/>
              </a:rPr>
              <a:t>near-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noiseless,</a:t>
            </a:r>
            <a:r>
              <a:rPr dirty="0" sz="8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giving</a:t>
            </a:r>
            <a:r>
              <a:rPr dirty="0" sz="8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a</a:t>
            </a:r>
            <a:r>
              <a:rPr dirty="0" sz="8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1A1F2B"/>
                </a:solidFill>
                <a:latin typeface="Calibri"/>
                <a:cs typeface="Calibri"/>
              </a:rPr>
              <a:t>low-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noise subset</a:t>
            </a:r>
            <a:r>
              <a:rPr dirty="0" sz="8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to</a:t>
            </a:r>
            <a:r>
              <a:rPr dirty="0" sz="8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compare</a:t>
            </a:r>
            <a:r>
              <a:rPr dirty="0" sz="800" spc="50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against</a:t>
            </a:r>
            <a:r>
              <a:rPr dirty="0" sz="800" spc="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800" spc="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1A1F2B"/>
                </a:solidFill>
                <a:latin typeface="Calibri"/>
                <a:cs typeface="Calibri"/>
              </a:rPr>
              <a:t>vague-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adverb</a:t>
            </a:r>
            <a:r>
              <a:rPr dirty="0" sz="800" spc="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subset.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089713" y="3341941"/>
            <a:ext cx="2645410" cy="1120775"/>
            <a:chOff x="6089713" y="3341941"/>
            <a:chExt cx="2645410" cy="1120775"/>
          </a:xfrm>
        </p:grpSpPr>
        <p:sp>
          <p:nvSpPr>
            <p:cNvPr id="21" name="object 21"/>
            <p:cNvSpPr/>
            <p:nvPr/>
          </p:nvSpPr>
          <p:spPr>
            <a:xfrm>
              <a:off x="6094476" y="3346703"/>
              <a:ext cx="2635885" cy="1111250"/>
            </a:xfrm>
            <a:custGeom>
              <a:avLst/>
              <a:gdLst/>
              <a:ahLst/>
              <a:cxnLst/>
              <a:rect l="l" t="t" r="r" b="b"/>
              <a:pathLst>
                <a:path w="2635884" h="1111250">
                  <a:moveTo>
                    <a:pt x="2594606" y="1110995"/>
                  </a:moveTo>
                  <a:lnTo>
                    <a:pt x="41151" y="1110995"/>
                  </a:lnTo>
                  <a:lnTo>
                    <a:pt x="25133" y="1107762"/>
                  </a:lnTo>
                  <a:lnTo>
                    <a:pt x="12052" y="1098942"/>
                  </a:lnTo>
                  <a:lnTo>
                    <a:pt x="3233" y="1085862"/>
                  </a:lnTo>
                  <a:lnTo>
                    <a:pt x="0" y="1069844"/>
                  </a:lnTo>
                  <a:lnTo>
                    <a:pt x="0" y="41151"/>
                  </a:lnTo>
                  <a:lnTo>
                    <a:pt x="3233" y="25133"/>
                  </a:lnTo>
                  <a:lnTo>
                    <a:pt x="12052" y="12052"/>
                  </a:lnTo>
                  <a:lnTo>
                    <a:pt x="25133" y="3233"/>
                  </a:lnTo>
                  <a:lnTo>
                    <a:pt x="41151" y="0"/>
                  </a:lnTo>
                  <a:lnTo>
                    <a:pt x="2594606" y="0"/>
                  </a:lnTo>
                  <a:lnTo>
                    <a:pt x="2628844" y="18320"/>
                  </a:lnTo>
                  <a:lnTo>
                    <a:pt x="2635758" y="41151"/>
                  </a:lnTo>
                  <a:lnTo>
                    <a:pt x="2635758" y="1069844"/>
                  </a:lnTo>
                  <a:lnTo>
                    <a:pt x="2632524" y="1085862"/>
                  </a:lnTo>
                  <a:lnTo>
                    <a:pt x="2623705" y="1098942"/>
                  </a:lnTo>
                  <a:lnTo>
                    <a:pt x="2610624" y="1107762"/>
                  </a:lnTo>
                  <a:lnTo>
                    <a:pt x="2594606" y="1110995"/>
                  </a:lnTo>
                  <a:close/>
                </a:path>
              </a:pathLst>
            </a:custGeom>
            <a:solidFill>
              <a:srgbClr val="F4F4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6094476" y="3346703"/>
              <a:ext cx="2635885" cy="1111250"/>
            </a:xfrm>
            <a:custGeom>
              <a:avLst/>
              <a:gdLst/>
              <a:ahLst/>
              <a:cxnLst/>
              <a:rect l="l" t="t" r="r" b="b"/>
              <a:pathLst>
                <a:path w="2635884" h="1111250">
                  <a:moveTo>
                    <a:pt x="0" y="41151"/>
                  </a:moveTo>
                  <a:lnTo>
                    <a:pt x="3233" y="25133"/>
                  </a:lnTo>
                  <a:lnTo>
                    <a:pt x="12052" y="12052"/>
                  </a:lnTo>
                  <a:lnTo>
                    <a:pt x="25133" y="3233"/>
                  </a:lnTo>
                  <a:lnTo>
                    <a:pt x="41151" y="0"/>
                  </a:lnTo>
                  <a:lnTo>
                    <a:pt x="2594606" y="0"/>
                  </a:lnTo>
                  <a:lnTo>
                    <a:pt x="2628844" y="18320"/>
                  </a:lnTo>
                  <a:lnTo>
                    <a:pt x="2635758" y="41151"/>
                  </a:lnTo>
                  <a:lnTo>
                    <a:pt x="2635758" y="1069844"/>
                  </a:lnTo>
                  <a:lnTo>
                    <a:pt x="2632524" y="1085862"/>
                  </a:lnTo>
                  <a:lnTo>
                    <a:pt x="2623705" y="1098942"/>
                  </a:lnTo>
                  <a:lnTo>
                    <a:pt x="2610624" y="1107762"/>
                  </a:lnTo>
                  <a:lnTo>
                    <a:pt x="2594606" y="1110995"/>
                  </a:lnTo>
                  <a:lnTo>
                    <a:pt x="41151" y="1110995"/>
                  </a:lnTo>
                  <a:lnTo>
                    <a:pt x="25133" y="1107762"/>
                  </a:lnTo>
                  <a:lnTo>
                    <a:pt x="12052" y="1098942"/>
                  </a:lnTo>
                  <a:lnTo>
                    <a:pt x="3233" y="1085862"/>
                  </a:lnTo>
                  <a:lnTo>
                    <a:pt x="0" y="1069844"/>
                  </a:lnTo>
                  <a:lnTo>
                    <a:pt x="0" y="41151"/>
                  </a:lnTo>
                  <a:close/>
                </a:path>
              </a:pathLst>
            </a:custGeom>
            <a:ln w="9524">
              <a:solidFill>
                <a:srgbClr val="E3E4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6232652" y="3446017"/>
            <a:ext cx="84391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E17039"/>
                </a:solidFill>
                <a:latin typeface="Calibri"/>
                <a:cs typeface="Calibri"/>
              </a:rPr>
              <a:t>Novelty</a:t>
            </a:r>
            <a:r>
              <a:rPr dirty="0" sz="900" spc="10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900" spc="-10" b="1">
                <a:solidFill>
                  <a:srgbClr val="E17039"/>
                </a:solidFill>
                <a:latin typeface="Calibri"/>
                <a:cs typeface="Calibri"/>
              </a:rPr>
              <a:t>direction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232652" y="3771900"/>
            <a:ext cx="227647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Motivates predicting</a:t>
            </a:r>
            <a:r>
              <a:rPr dirty="0" sz="8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a</a:t>
            </a:r>
            <a:r>
              <a:rPr dirty="0" sz="8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distribution</a:t>
            </a:r>
            <a:r>
              <a:rPr dirty="0" sz="8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rather</a:t>
            </a:r>
            <a:r>
              <a:rPr dirty="0" sz="8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than</a:t>
            </a:r>
            <a:r>
              <a:rPr dirty="0" sz="8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a</a:t>
            </a:r>
            <a:r>
              <a:rPr dirty="0" sz="8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point,</a:t>
            </a:r>
            <a:r>
              <a:rPr dirty="0" sz="800" spc="50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so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model learns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that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"by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45°"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is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confident </a:t>
            </a:r>
            <a:r>
              <a:rPr dirty="0" sz="800" spc="-25">
                <a:solidFill>
                  <a:srgbClr val="1A1F2B"/>
                </a:solidFill>
                <a:latin typeface="Calibri"/>
                <a:cs typeface="Calibri"/>
              </a:rPr>
              <a:t>and</a:t>
            </a:r>
            <a:r>
              <a:rPr dirty="0" sz="800" spc="50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"slightly"</a:t>
            </a:r>
            <a:r>
              <a:rPr dirty="0" sz="8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is</a:t>
            </a:r>
            <a:r>
              <a:rPr dirty="0" sz="8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not</a:t>
            </a:r>
            <a:r>
              <a:rPr dirty="0" sz="8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—</a:t>
            </a:r>
            <a:r>
              <a:rPr dirty="0" sz="8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our</a:t>
            </a:r>
            <a:r>
              <a:rPr dirty="0" sz="8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planned</a:t>
            </a:r>
            <a:r>
              <a:rPr dirty="0" sz="8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task</a:t>
            </a:r>
            <a:r>
              <a:rPr dirty="0" sz="8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for</a:t>
            </a:r>
            <a:r>
              <a:rPr dirty="0" sz="8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8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novelty</a:t>
            </a:r>
            <a:r>
              <a:rPr dirty="0" sz="800" spc="50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assessment.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98780" y="4534280"/>
            <a:ext cx="8160384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These</a:t>
            </a:r>
            <a:r>
              <a:rPr dirty="0" sz="800" spc="-1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ranges </a:t>
            </a:r>
            <a:r>
              <a:rPr dirty="0" sz="800" i="1">
                <a:solidFill>
                  <a:srgbClr val="6B7280"/>
                </a:solidFill>
                <a:latin typeface="Calibri"/>
                <a:cs typeface="Calibri"/>
              </a:rPr>
              <a:t>are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6B7280"/>
                </a:solidFill>
                <a:latin typeface="Calibri"/>
                <a:cs typeface="Calibri"/>
              </a:rPr>
              <a:t>an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 operational convention </a:t>
            </a:r>
            <a:r>
              <a:rPr dirty="0" sz="800" i="1">
                <a:solidFill>
                  <a:srgbClr val="6B7280"/>
                </a:solidFill>
                <a:latin typeface="Calibri"/>
                <a:cs typeface="Calibri"/>
              </a:rPr>
              <a:t>for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 dataset</a:t>
            </a:r>
            <a:r>
              <a:rPr dirty="0" sz="800" spc="-1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generation, </a:t>
            </a:r>
            <a:r>
              <a:rPr dirty="0" sz="800" i="1">
                <a:solidFill>
                  <a:srgbClr val="6B7280"/>
                </a:solidFill>
                <a:latin typeface="Calibri"/>
                <a:cs typeface="Calibri"/>
              </a:rPr>
              <a:t>not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6B7280"/>
                </a:solidFill>
                <a:latin typeface="Calibri"/>
                <a:cs typeface="Calibri"/>
              </a:rPr>
              <a:t>a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6B7280"/>
                </a:solidFill>
                <a:latin typeface="Calibri"/>
                <a:cs typeface="Calibri"/>
              </a:rPr>
              <a:t>claim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6B7280"/>
                </a:solidFill>
                <a:latin typeface="Calibri"/>
                <a:cs typeface="Calibri"/>
              </a:rPr>
              <a:t>about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 linguistic ground</a:t>
            </a:r>
            <a:r>
              <a:rPr dirty="0" sz="800" spc="-1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6B7280"/>
                </a:solidFill>
                <a:latin typeface="Calibri"/>
                <a:cs typeface="Calibri"/>
              </a:rPr>
              <a:t>truth.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6B7280"/>
                </a:solidFill>
                <a:latin typeface="Calibri"/>
                <a:cs typeface="Calibri"/>
              </a:rPr>
              <a:t>What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6B7280"/>
                </a:solidFill>
                <a:latin typeface="Calibri"/>
                <a:cs typeface="Calibri"/>
              </a:rPr>
              <a:t>the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 experiments depend </a:t>
            </a:r>
            <a:r>
              <a:rPr dirty="0" sz="800" i="1">
                <a:solidFill>
                  <a:srgbClr val="6B7280"/>
                </a:solidFill>
                <a:latin typeface="Calibri"/>
                <a:cs typeface="Calibri"/>
              </a:rPr>
              <a:t>on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6B7280"/>
                </a:solidFill>
                <a:latin typeface="Calibri"/>
                <a:cs typeface="Calibri"/>
              </a:rPr>
              <a:t>is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6B7280"/>
                </a:solidFill>
                <a:latin typeface="Calibri"/>
                <a:cs typeface="Calibri"/>
              </a:rPr>
              <a:t>the</a:t>
            </a:r>
            <a:r>
              <a:rPr dirty="0" sz="800" spc="-1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ordering </a:t>
            </a:r>
            <a:r>
              <a:rPr dirty="0" sz="800" i="1">
                <a:solidFill>
                  <a:srgbClr val="6B7280"/>
                </a:solidFill>
                <a:latin typeface="Calibri"/>
                <a:cs typeface="Calibri"/>
              </a:rPr>
              <a:t>of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6B7280"/>
                </a:solidFill>
                <a:latin typeface="Calibri"/>
                <a:cs typeface="Calibri"/>
              </a:rPr>
              <a:t>the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 adverbs, </a:t>
            </a:r>
            <a:r>
              <a:rPr dirty="0" sz="800" i="1">
                <a:solidFill>
                  <a:srgbClr val="6B7280"/>
                </a:solidFill>
                <a:latin typeface="Calibri"/>
                <a:cs typeface="Calibri"/>
              </a:rPr>
              <a:t>not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6B7280"/>
                </a:solidFill>
                <a:latin typeface="Calibri"/>
                <a:cs typeface="Calibri"/>
              </a:rPr>
              <a:t>the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 exact</a:t>
            </a:r>
            <a:r>
              <a:rPr dirty="0" sz="800" spc="-1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endpoints.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65"/>
              </a:lnSpc>
            </a:pPr>
            <a:r>
              <a:rPr dirty="0"/>
              <a:t>IE</a:t>
            </a:r>
            <a:r>
              <a:rPr dirty="0" spc="-15"/>
              <a:t> </a:t>
            </a:r>
            <a:r>
              <a:rPr dirty="0"/>
              <a:t>643</a:t>
            </a:r>
            <a:r>
              <a:rPr dirty="0" spc="-15"/>
              <a:t> </a:t>
            </a:r>
            <a:r>
              <a:rPr dirty="0" spc="-10"/>
              <a:t>Course </a:t>
            </a:r>
            <a:r>
              <a:rPr dirty="0"/>
              <a:t>Project</a:t>
            </a:r>
            <a:r>
              <a:rPr dirty="0" spc="135"/>
              <a:t> </a:t>
            </a:r>
            <a:r>
              <a:rPr dirty="0"/>
              <a:t>·</a:t>
            </a:r>
            <a:r>
              <a:rPr dirty="0" spc="140"/>
              <a:t> </a:t>
            </a:r>
            <a:r>
              <a:rPr dirty="0" spc="-20"/>
              <a:t>Team</a:t>
            </a:r>
            <a:r>
              <a:rPr dirty="0" spc="-10"/>
              <a:t> DyoOptix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65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8780" y="244602"/>
            <a:ext cx="86741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E17039"/>
                </a:solidFill>
                <a:latin typeface="Calibri"/>
                <a:cs typeface="Calibri"/>
              </a:rPr>
              <a:t>BLOCK</a:t>
            </a:r>
            <a:r>
              <a:rPr dirty="0" sz="800" spc="-20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E17039"/>
                </a:solidFill>
                <a:latin typeface="Calibri"/>
                <a:cs typeface="Calibri"/>
              </a:rPr>
              <a:t>04</a:t>
            </a:r>
            <a:r>
              <a:rPr dirty="0" sz="800" spc="-1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E17039"/>
                </a:solidFill>
                <a:latin typeface="Calibri"/>
                <a:cs typeface="Calibri"/>
              </a:rPr>
              <a:t>·</a:t>
            </a:r>
            <a:r>
              <a:rPr dirty="0" sz="800" spc="-1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800" spc="-10" b="1">
                <a:solidFill>
                  <a:srgbClr val="E17039"/>
                </a:solidFill>
                <a:latin typeface="Calibri"/>
                <a:cs typeface="Calibri"/>
              </a:rPr>
              <a:t>DATASET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4398" y="507268"/>
            <a:ext cx="158180" cy="158180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59384" y="438150"/>
            <a:ext cx="3842385" cy="375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Splits</a:t>
            </a:r>
            <a:r>
              <a:rPr dirty="0" spc="-25"/>
              <a:t> </a:t>
            </a:r>
            <a:r>
              <a:rPr dirty="0"/>
              <a:t>&amp;</a:t>
            </a:r>
            <a:r>
              <a:rPr dirty="0" spc="-25"/>
              <a:t> </a:t>
            </a:r>
            <a:r>
              <a:rPr dirty="0" spc="-10"/>
              <a:t>Generalisation</a:t>
            </a:r>
            <a:r>
              <a:rPr dirty="0" spc="-20"/>
              <a:t> </a:t>
            </a:r>
            <a:r>
              <a:rPr dirty="0" spc="-10"/>
              <a:t>Tests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98780" y="1053846"/>
            <a:ext cx="24828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 b="1">
                <a:solidFill>
                  <a:srgbClr val="6B7280"/>
                </a:solidFill>
                <a:latin typeface="Calibri"/>
                <a:cs typeface="Calibri"/>
              </a:rPr>
              <a:t>SPLIT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87600" y="1053846"/>
            <a:ext cx="70167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 b="1">
                <a:solidFill>
                  <a:srgbClr val="6B7280"/>
                </a:solidFill>
                <a:latin typeface="Calibri"/>
                <a:cs typeface="Calibri"/>
              </a:rPr>
              <a:t>CONSTRUCTION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73700" y="1053846"/>
            <a:ext cx="65278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0" b="1">
                <a:solidFill>
                  <a:srgbClr val="6B7280"/>
                </a:solidFill>
                <a:latin typeface="Calibri"/>
                <a:cs typeface="Calibri"/>
              </a:rPr>
              <a:t>WHAT</a:t>
            </a:r>
            <a:r>
              <a:rPr dirty="0" sz="800" spc="-15" b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6B7280"/>
                </a:solidFill>
                <a:latin typeface="Calibri"/>
                <a:cs typeface="Calibri"/>
              </a:rPr>
              <a:t>IT</a:t>
            </a:r>
            <a:r>
              <a:rPr dirty="0" sz="800" spc="-10" b="1">
                <a:solidFill>
                  <a:srgbClr val="6B7280"/>
                </a:solidFill>
                <a:latin typeface="Calibri"/>
                <a:cs typeface="Calibri"/>
              </a:rPr>
              <a:t> TESTS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24421" y="1236535"/>
            <a:ext cx="8493125" cy="517525"/>
            <a:chOff x="324421" y="1236535"/>
            <a:chExt cx="8493125" cy="517525"/>
          </a:xfrm>
        </p:grpSpPr>
        <p:sp>
          <p:nvSpPr>
            <p:cNvPr id="9" name="object 9"/>
            <p:cNvSpPr/>
            <p:nvPr/>
          </p:nvSpPr>
          <p:spPr>
            <a:xfrm>
              <a:off x="329184" y="1241297"/>
              <a:ext cx="8483600" cy="508000"/>
            </a:xfrm>
            <a:custGeom>
              <a:avLst/>
              <a:gdLst/>
              <a:ahLst/>
              <a:cxnLst/>
              <a:rect l="l" t="t" r="r" b="b"/>
              <a:pathLst>
                <a:path w="8483600" h="508000">
                  <a:moveTo>
                    <a:pt x="8442198" y="507491"/>
                  </a:moveTo>
                  <a:lnTo>
                    <a:pt x="41147" y="507491"/>
                  </a:lnTo>
                  <a:lnTo>
                    <a:pt x="25131" y="504258"/>
                  </a:lnTo>
                  <a:lnTo>
                    <a:pt x="12051" y="495440"/>
                  </a:lnTo>
                  <a:lnTo>
                    <a:pt x="3233" y="482360"/>
                  </a:lnTo>
                  <a:lnTo>
                    <a:pt x="0" y="466344"/>
                  </a:lnTo>
                  <a:lnTo>
                    <a:pt x="0" y="41147"/>
                  </a:lnTo>
                  <a:lnTo>
                    <a:pt x="3233" y="25130"/>
                  </a:lnTo>
                  <a:lnTo>
                    <a:pt x="12051" y="12051"/>
                  </a:lnTo>
                  <a:lnTo>
                    <a:pt x="25131" y="3233"/>
                  </a:lnTo>
                  <a:lnTo>
                    <a:pt x="41147" y="0"/>
                  </a:lnTo>
                  <a:lnTo>
                    <a:pt x="8442198" y="0"/>
                  </a:lnTo>
                  <a:lnTo>
                    <a:pt x="8476432" y="18318"/>
                  </a:lnTo>
                  <a:lnTo>
                    <a:pt x="8483345" y="41147"/>
                  </a:lnTo>
                  <a:lnTo>
                    <a:pt x="8483345" y="466344"/>
                  </a:lnTo>
                  <a:lnTo>
                    <a:pt x="8480112" y="482360"/>
                  </a:lnTo>
                  <a:lnTo>
                    <a:pt x="8471294" y="495440"/>
                  </a:lnTo>
                  <a:lnTo>
                    <a:pt x="8458214" y="504258"/>
                  </a:lnTo>
                  <a:lnTo>
                    <a:pt x="8442198" y="507491"/>
                  </a:lnTo>
                  <a:close/>
                </a:path>
              </a:pathLst>
            </a:custGeom>
            <a:solidFill>
              <a:srgbClr val="F6F6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29184" y="1241297"/>
              <a:ext cx="8483600" cy="508000"/>
            </a:xfrm>
            <a:custGeom>
              <a:avLst/>
              <a:gdLst/>
              <a:ahLst/>
              <a:cxnLst/>
              <a:rect l="l" t="t" r="r" b="b"/>
              <a:pathLst>
                <a:path w="8483600" h="508000">
                  <a:moveTo>
                    <a:pt x="0" y="41147"/>
                  </a:moveTo>
                  <a:lnTo>
                    <a:pt x="3233" y="25130"/>
                  </a:lnTo>
                  <a:lnTo>
                    <a:pt x="12051" y="12051"/>
                  </a:lnTo>
                  <a:lnTo>
                    <a:pt x="25131" y="3233"/>
                  </a:lnTo>
                  <a:lnTo>
                    <a:pt x="41147" y="0"/>
                  </a:lnTo>
                  <a:lnTo>
                    <a:pt x="8442198" y="0"/>
                  </a:lnTo>
                  <a:lnTo>
                    <a:pt x="8476432" y="18318"/>
                  </a:lnTo>
                  <a:lnTo>
                    <a:pt x="8483345" y="41147"/>
                  </a:lnTo>
                  <a:lnTo>
                    <a:pt x="8483345" y="466344"/>
                  </a:lnTo>
                  <a:lnTo>
                    <a:pt x="8480112" y="482360"/>
                  </a:lnTo>
                  <a:lnTo>
                    <a:pt x="8471294" y="495440"/>
                  </a:lnTo>
                  <a:lnTo>
                    <a:pt x="8458214" y="504258"/>
                  </a:lnTo>
                  <a:lnTo>
                    <a:pt x="8442198" y="507491"/>
                  </a:lnTo>
                  <a:lnTo>
                    <a:pt x="41147" y="507491"/>
                  </a:lnTo>
                  <a:lnTo>
                    <a:pt x="25131" y="504258"/>
                  </a:lnTo>
                  <a:lnTo>
                    <a:pt x="12051" y="495440"/>
                  </a:lnTo>
                  <a:lnTo>
                    <a:pt x="3233" y="482360"/>
                  </a:lnTo>
                  <a:lnTo>
                    <a:pt x="0" y="466344"/>
                  </a:lnTo>
                  <a:lnTo>
                    <a:pt x="0" y="41147"/>
                  </a:lnTo>
                  <a:close/>
                </a:path>
              </a:pathLst>
            </a:custGeom>
            <a:ln w="9524">
              <a:solidFill>
                <a:srgbClr val="E3E4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398780" y="1409191"/>
            <a:ext cx="1010919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 b="1">
                <a:solidFill>
                  <a:srgbClr val="1A1F2B"/>
                </a:solidFill>
                <a:latin typeface="Calibri"/>
                <a:cs typeface="Calibri"/>
              </a:rPr>
              <a:t>Templated</a:t>
            </a:r>
            <a:r>
              <a:rPr dirty="0" sz="900" spc="-10" b="1">
                <a:solidFill>
                  <a:srgbClr val="1A1F2B"/>
                </a:solidFill>
                <a:latin typeface="Calibri"/>
                <a:cs typeface="Calibri"/>
              </a:rPr>
              <a:t> train </a:t>
            </a:r>
            <a:r>
              <a:rPr dirty="0" sz="900" b="1">
                <a:solidFill>
                  <a:srgbClr val="1A1F2B"/>
                </a:solidFill>
                <a:latin typeface="Calibri"/>
                <a:cs typeface="Calibri"/>
              </a:rPr>
              <a:t>/</a:t>
            </a:r>
            <a:r>
              <a:rPr dirty="0" sz="900" spc="-5" b="1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25" b="1">
                <a:solidFill>
                  <a:srgbClr val="1A1F2B"/>
                </a:solidFill>
                <a:latin typeface="Calibri"/>
                <a:cs typeface="Calibri"/>
              </a:rPr>
              <a:t>val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87600" y="1409191"/>
            <a:ext cx="8128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In-distribution</a:t>
            </a:r>
            <a:r>
              <a:rPr dirty="0" sz="900" spc="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1A1F2B"/>
                </a:solidFill>
                <a:latin typeface="Calibri"/>
                <a:cs typeface="Calibri"/>
              </a:rPr>
              <a:t>fit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73700" y="1409191"/>
            <a:ext cx="1039494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Baseline</a:t>
            </a:r>
            <a:r>
              <a:rPr dirty="0" sz="900" spc="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performance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24421" y="1798891"/>
            <a:ext cx="8493125" cy="517525"/>
            <a:chOff x="324421" y="1798891"/>
            <a:chExt cx="8493125" cy="517525"/>
          </a:xfrm>
        </p:grpSpPr>
        <p:sp>
          <p:nvSpPr>
            <p:cNvPr id="15" name="object 15"/>
            <p:cNvSpPr/>
            <p:nvPr/>
          </p:nvSpPr>
          <p:spPr>
            <a:xfrm>
              <a:off x="329184" y="1803654"/>
              <a:ext cx="8483600" cy="508000"/>
            </a:xfrm>
            <a:custGeom>
              <a:avLst/>
              <a:gdLst/>
              <a:ahLst/>
              <a:cxnLst/>
              <a:rect l="l" t="t" r="r" b="b"/>
              <a:pathLst>
                <a:path w="8483600" h="508000">
                  <a:moveTo>
                    <a:pt x="8442198" y="507491"/>
                  </a:moveTo>
                  <a:lnTo>
                    <a:pt x="41147" y="507491"/>
                  </a:lnTo>
                  <a:lnTo>
                    <a:pt x="25131" y="504258"/>
                  </a:lnTo>
                  <a:lnTo>
                    <a:pt x="12051" y="495440"/>
                  </a:lnTo>
                  <a:lnTo>
                    <a:pt x="3233" y="482361"/>
                  </a:lnTo>
                  <a:lnTo>
                    <a:pt x="0" y="466344"/>
                  </a:lnTo>
                  <a:lnTo>
                    <a:pt x="0" y="41147"/>
                  </a:lnTo>
                  <a:lnTo>
                    <a:pt x="3233" y="25130"/>
                  </a:lnTo>
                  <a:lnTo>
                    <a:pt x="12051" y="12051"/>
                  </a:lnTo>
                  <a:lnTo>
                    <a:pt x="25131" y="3233"/>
                  </a:lnTo>
                  <a:lnTo>
                    <a:pt x="41147" y="0"/>
                  </a:lnTo>
                  <a:lnTo>
                    <a:pt x="8442198" y="0"/>
                  </a:lnTo>
                  <a:lnTo>
                    <a:pt x="8476432" y="18318"/>
                  </a:lnTo>
                  <a:lnTo>
                    <a:pt x="8483345" y="41147"/>
                  </a:lnTo>
                  <a:lnTo>
                    <a:pt x="8483345" y="466344"/>
                  </a:lnTo>
                  <a:lnTo>
                    <a:pt x="8480112" y="482361"/>
                  </a:lnTo>
                  <a:lnTo>
                    <a:pt x="8471294" y="495440"/>
                  </a:lnTo>
                  <a:lnTo>
                    <a:pt x="8458214" y="504258"/>
                  </a:lnTo>
                  <a:lnTo>
                    <a:pt x="8442198" y="507491"/>
                  </a:lnTo>
                  <a:close/>
                </a:path>
              </a:pathLst>
            </a:custGeom>
            <a:solidFill>
              <a:srgbClr val="F6F6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29184" y="1803654"/>
              <a:ext cx="8483600" cy="508000"/>
            </a:xfrm>
            <a:custGeom>
              <a:avLst/>
              <a:gdLst/>
              <a:ahLst/>
              <a:cxnLst/>
              <a:rect l="l" t="t" r="r" b="b"/>
              <a:pathLst>
                <a:path w="8483600" h="508000">
                  <a:moveTo>
                    <a:pt x="0" y="41147"/>
                  </a:moveTo>
                  <a:lnTo>
                    <a:pt x="3233" y="25130"/>
                  </a:lnTo>
                  <a:lnTo>
                    <a:pt x="12051" y="12051"/>
                  </a:lnTo>
                  <a:lnTo>
                    <a:pt x="25131" y="3233"/>
                  </a:lnTo>
                  <a:lnTo>
                    <a:pt x="41147" y="0"/>
                  </a:lnTo>
                  <a:lnTo>
                    <a:pt x="8442198" y="0"/>
                  </a:lnTo>
                  <a:lnTo>
                    <a:pt x="8476432" y="18318"/>
                  </a:lnTo>
                  <a:lnTo>
                    <a:pt x="8483345" y="41147"/>
                  </a:lnTo>
                  <a:lnTo>
                    <a:pt x="8483345" y="466344"/>
                  </a:lnTo>
                  <a:lnTo>
                    <a:pt x="8480112" y="482361"/>
                  </a:lnTo>
                  <a:lnTo>
                    <a:pt x="8471294" y="495440"/>
                  </a:lnTo>
                  <a:lnTo>
                    <a:pt x="8458214" y="504258"/>
                  </a:lnTo>
                  <a:lnTo>
                    <a:pt x="8442198" y="507491"/>
                  </a:lnTo>
                  <a:lnTo>
                    <a:pt x="41147" y="507491"/>
                  </a:lnTo>
                  <a:lnTo>
                    <a:pt x="25131" y="504258"/>
                  </a:lnTo>
                  <a:lnTo>
                    <a:pt x="12051" y="495440"/>
                  </a:lnTo>
                  <a:lnTo>
                    <a:pt x="3233" y="482361"/>
                  </a:lnTo>
                  <a:lnTo>
                    <a:pt x="0" y="466344"/>
                  </a:lnTo>
                  <a:lnTo>
                    <a:pt x="0" y="41147"/>
                  </a:lnTo>
                  <a:close/>
                </a:path>
              </a:pathLst>
            </a:custGeom>
            <a:ln w="9524">
              <a:solidFill>
                <a:srgbClr val="E3E4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398780" y="1971548"/>
            <a:ext cx="94170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1A1F2B"/>
                </a:solidFill>
                <a:latin typeface="Calibri"/>
                <a:cs typeface="Calibri"/>
              </a:rPr>
              <a:t>Held-</a:t>
            </a:r>
            <a:r>
              <a:rPr dirty="0" sz="900" b="1">
                <a:solidFill>
                  <a:srgbClr val="1A1F2B"/>
                </a:solidFill>
                <a:latin typeface="Calibri"/>
                <a:cs typeface="Calibri"/>
              </a:rPr>
              <a:t>out</a:t>
            </a:r>
            <a:r>
              <a:rPr dirty="0" sz="900" spc="-25" b="1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 b="1">
                <a:solidFill>
                  <a:srgbClr val="1A1F2B"/>
                </a:solidFill>
                <a:latin typeface="Calibri"/>
                <a:cs typeface="Calibri"/>
              </a:rPr>
              <a:t>templates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387600" y="1971548"/>
            <a:ext cx="131635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Unseen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sentence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structures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473700" y="1971548"/>
            <a:ext cx="223901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Does</a:t>
            </a:r>
            <a:r>
              <a:rPr dirty="0" sz="900" spc="-1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it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 generalise beyond memorised</a:t>
            </a:r>
            <a:r>
              <a:rPr dirty="0" sz="900" spc="-1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patterns?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24421" y="2361247"/>
            <a:ext cx="8493125" cy="517525"/>
            <a:chOff x="324421" y="2361247"/>
            <a:chExt cx="8493125" cy="517525"/>
          </a:xfrm>
        </p:grpSpPr>
        <p:sp>
          <p:nvSpPr>
            <p:cNvPr id="21" name="object 21"/>
            <p:cNvSpPr/>
            <p:nvPr/>
          </p:nvSpPr>
          <p:spPr>
            <a:xfrm>
              <a:off x="329184" y="2366010"/>
              <a:ext cx="8483600" cy="508000"/>
            </a:xfrm>
            <a:custGeom>
              <a:avLst/>
              <a:gdLst/>
              <a:ahLst/>
              <a:cxnLst/>
              <a:rect l="l" t="t" r="r" b="b"/>
              <a:pathLst>
                <a:path w="8483600" h="508000">
                  <a:moveTo>
                    <a:pt x="8442198" y="507491"/>
                  </a:moveTo>
                  <a:lnTo>
                    <a:pt x="41147" y="507491"/>
                  </a:lnTo>
                  <a:lnTo>
                    <a:pt x="25131" y="504258"/>
                  </a:lnTo>
                  <a:lnTo>
                    <a:pt x="12051" y="495440"/>
                  </a:lnTo>
                  <a:lnTo>
                    <a:pt x="3233" y="482361"/>
                  </a:lnTo>
                  <a:lnTo>
                    <a:pt x="0" y="466344"/>
                  </a:lnTo>
                  <a:lnTo>
                    <a:pt x="0" y="41147"/>
                  </a:lnTo>
                  <a:lnTo>
                    <a:pt x="3233" y="25131"/>
                  </a:lnTo>
                  <a:lnTo>
                    <a:pt x="12051" y="12051"/>
                  </a:lnTo>
                  <a:lnTo>
                    <a:pt x="25131" y="3233"/>
                  </a:lnTo>
                  <a:lnTo>
                    <a:pt x="41147" y="0"/>
                  </a:lnTo>
                  <a:lnTo>
                    <a:pt x="8442198" y="0"/>
                  </a:lnTo>
                  <a:lnTo>
                    <a:pt x="8476432" y="18318"/>
                  </a:lnTo>
                  <a:lnTo>
                    <a:pt x="8483345" y="41147"/>
                  </a:lnTo>
                  <a:lnTo>
                    <a:pt x="8483345" y="466344"/>
                  </a:lnTo>
                  <a:lnTo>
                    <a:pt x="8480112" y="482361"/>
                  </a:lnTo>
                  <a:lnTo>
                    <a:pt x="8471294" y="495440"/>
                  </a:lnTo>
                  <a:lnTo>
                    <a:pt x="8458214" y="504258"/>
                  </a:lnTo>
                  <a:lnTo>
                    <a:pt x="8442198" y="507491"/>
                  </a:lnTo>
                  <a:close/>
                </a:path>
              </a:pathLst>
            </a:custGeom>
            <a:solidFill>
              <a:srgbClr val="FCF1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29184" y="2366010"/>
              <a:ext cx="8483600" cy="508000"/>
            </a:xfrm>
            <a:custGeom>
              <a:avLst/>
              <a:gdLst/>
              <a:ahLst/>
              <a:cxnLst/>
              <a:rect l="l" t="t" r="r" b="b"/>
              <a:pathLst>
                <a:path w="8483600" h="508000">
                  <a:moveTo>
                    <a:pt x="0" y="41147"/>
                  </a:moveTo>
                  <a:lnTo>
                    <a:pt x="3233" y="25131"/>
                  </a:lnTo>
                  <a:lnTo>
                    <a:pt x="12051" y="12051"/>
                  </a:lnTo>
                  <a:lnTo>
                    <a:pt x="25131" y="3233"/>
                  </a:lnTo>
                  <a:lnTo>
                    <a:pt x="41147" y="0"/>
                  </a:lnTo>
                  <a:lnTo>
                    <a:pt x="8442198" y="0"/>
                  </a:lnTo>
                  <a:lnTo>
                    <a:pt x="8476432" y="18318"/>
                  </a:lnTo>
                  <a:lnTo>
                    <a:pt x="8483345" y="41147"/>
                  </a:lnTo>
                  <a:lnTo>
                    <a:pt x="8483345" y="466344"/>
                  </a:lnTo>
                  <a:lnTo>
                    <a:pt x="8480112" y="482361"/>
                  </a:lnTo>
                  <a:lnTo>
                    <a:pt x="8471294" y="495440"/>
                  </a:lnTo>
                  <a:lnTo>
                    <a:pt x="8458214" y="504258"/>
                  </a:lnTo>
                  <a:lnTo>
                    <a:pt x="8442198" y="507491"/>
                  </a:lnTo>
                  <a:lnTo>
                    <a:pt x="41147" y="507491"/>
                  </a:lnTo>
                  <a:lnTo>
                    <a:pt x="25131" y="504258"/>
                  </a:lnTo>
                  <a:lnTo>
                    <a:pt x="12051" y="495440"/>
                  </a:lnTo>
                  <a:lnTo>
                    <a:pt x="3233" y="482361"/>
                  </a:lnTo>
                  <a:lnTo>
                    <a:pt x="0" y="466344"/>
                  </a:lnTo>
                  <a:lnTo>
                    <a:pt x="0" y="41147"/>
                  </a:lnTo>
                  <a:close/>
                </a:path>
              </a:pathLst>
            </a:custGeom>
            <a:ln w="9524">
              <a:solidFill>
                <a:srgbClr val="E3E4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398780" y="2533904"/>
            <a:ext cx="842644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E17039"/>
                </a:solidFill>
                <a:latin typeface="Calibri"/>
                <a:cs typeface="Calibri"/>
              </a:rPr>
              <a:t>Held-</a:t>
            </a:r>
            <a:r>
              <a:rPr dirty="0" sz="900" b="1">
                <a:solidFill>
                  <a:srgbClr val="E17039"/>
                </a:solidFill>
                <a:latin typeface="Calibri"/>
                <a:cs typeface="Calibri"/>
              </a:rPr>
              <a:t>out</a:t>
            </a:r>
            <a:r>
              <a:rPr dirty="0" sz="900" spc="-2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900" spc="-10" b="1">
                <a:solidFill>
                  <a:srgbClr val="E17039"/>
                </a:solidFill>
                <a:latin typeface="Calibri"/>
                <a:cs typeface="Calibri"/>
              </a:rPr>
              <a:t>adverbs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387600" y="2465324"/>
            <a:ext cx="27997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Train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on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slightly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/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moderately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/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significantly;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test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on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a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touch,</a:t>
            </a:r>
            <a:r>
              <a:rPr dirty="0" sz="900" spc="50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considerably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473700" y="2533904"/>
            <a:ext cx="250634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Has</a:t>
            </a:r>
            <a:r>
              <a:rPr dirty="0" sz="900" spc="-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it 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learned</a:t>
            </a:r>
            <a:r>
              <a:rPr dirty="0" sz="900" spc="-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magnitude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ordering,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 or</a:t>
            </a:r>
            <a:r>
              <a:rPr dirty="0" sz="900" spc="-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a 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lookup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table?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24421" y="2923603"/>
            <a:ext cx="8493125" cy="517525"/>
            <a:chOff x="324421" y="2923603"/>
            <a:chExt cx="8493125" cy="517525"/>
          </a:xfrm>
        </p:grpSpPr>
        <p:sp>
          <p:nvSpPr>
            <p:cNvPr id="27" name="object 27"/>
            <p:cNvSpPr/>
            <p:nvPr/>
          </p:nvSpPr>
          <p:spPr>
            <a:xfrm>
              <a:off x="329184" y="2928366"/>
              <a:ext cx="8483600" cy="508000"/>
            </a:xfrm>
            <a:custGeom>
              <a:avLst/>
              <a:gdLst/>
              <a:ahLst/>
              <a:cxnLst/>
              <a:rect l="l" t="t" r="r" b="b"/>
              <a:pathLst>
                <a:path w="8483600" h="508000">
                  <a:moveTo>
                    <a:pt x="8442198" y="507491"/>
                  </a:moveTo>
                  <a:lnTo>
                    <a:pt x="41147" y="507491"/>
                  </a:lnTo>
                  <a:lnTo>
                    <a:pt x="25131" y="504258"/>
                  </a:lnTo>
                  <a:lnTo>
                    <a:pt x="12051" y="495439"/>
                  </a:lnTo>
                  <a:lnTo>
                    <a:pt x="3233" y="482360"/>
                  </a:lnTo>
                  <a:lnTo>
                    <a:pt x="0" y="466344"/>
                  </a:lnTo>
                  <a:lnTo>
                    <a:pt x="0" y="41147"/>
                  </a:lnTo>
                  <a:lnTo>
                    <a:pt x="3233" y="25130"/>
                  </a:lnTo>
                  <a:lnTo>
                    <a:pt x="12051" y="12051"/>
                  </a:lnTo>
                  <a:lnTo>
                    <a:pt x="25131" y="3233"/>
                  </a:lnTo>
                  <a:lnTo>
                    <a:pt x="41147" y="0"/>
                  </a:lnTo>
                  <a:lnTo>
                    <a:pt x="8442198" y="0"/>
                  </a:lnTo>
                  <a:lnTo>
                    <a:pt x="8476432" y="18318"/>
                  </a:lnTo>
                  <a:lnTo>
                    <a:pt x="8483345" y="41147"/>
                  </a:lnTo>
                  <a:lnTo>
                    <a:pt x="8483345" y="466344"/>
                  </a:lnTo>
                  <a:lnTo>
                    <a:pt x="8480112" y="482360"/>
                  </a:lnTo>
                  <a:lnTo>
                    <a:pt x="8471294" y="495439"/>
                  </a:lnTo>
                  <a:lnTo>
                    <a:pt x="8458214" y="504258"/>
                  </a:lnTo>
                  <a:lnTo>
                    <a:pt x="8442198" y="507491"/>
                  </a:lnTo>
                  <a:close/>
                </a:path>
              </a:pathLst>
            </a:custGeom>
            <a:solidFill>
              <a:srgbClr val="F6F6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329184" y="2928366"/>
              <a:ext cx="8483600" cy="508000"/>
            </a:xfrm>
            <a:custGeom>
              <a:avLst/>
              <a:gdLst/>
              <a:ahLst/>
              <a:cxnLst/>
              <a:rect l="l" t="t" r="r" b="b"/>
              <a:pathLst>
                <a:path w="8483600" h="508000">
                  <a:moveTo>
                    <a:pt x="0" y="41147"/>
                  </a:moveTo>
                  <a:lnTo>
                    <a:pt x="3233" y="25130"/>
                  </a:lnTo>
                  <a:lnTo>
                    <a:pt x="12051" y="12051"/>
                  </a:lnTo>
                  <a:lnTo>
                    <a:pt x="25131" y="3233"/>
                  </a:lnTo>
                  <a:lnTo>
                    <a:pt x="41147" y="0"/>
                  </a:lnTo>
                  <a:lnTo>
                    <a:pt x="8442198" y="0"/>
                  </a:lnTo>
                  <a:lnTo>
                    <a:pt x="8476432" y="18318"/>
                  </a:lnTo>
                  <a:lnTo>
                    <a:pt x="8483345" y="41147"/>
                  </a:lnTo>
                  <a:lnTo>
                    <a:pt x="8483345" y="466344"/>
                  </a:lnTo>
                  <a:lnTo>
                    <a:pt x="8480112" y="482360"/>
                  </a:lnTo>
                  <a:lnTo>
                    <a:pt x="8471294" y="495439"/>
                  </a:lnTo>
                  <a:lnTo>
                    <a:pt x="8458214" y="504258"/>
                  </a:lnTo>
                  <a:lnTo>
                    <a:pt x="8442198" y="507491"/>
                  </a:lnTo>
                  <a:lnTo>
                    <a:pt x="41147" y="507491"/>
                  </a:lnTo>
                  <a:lnTo>
                    <a:pt x="25131" y="504258"/>
                  </a:lnTo>
                  <a:lnTo>
                    <a:pt x="12051" y="495439"/>
                  </a:lnTo>
                  <a:lnTo>
                    <a:pt x="3233" y="482360"/>
                  </a:lnTo>
                  <a:lnTo>
                    <a:pt x="0" y="466344"/>
                  </a:lnTo>
                  <a:lnTo>
                    <a:pt x="0" y="41147"/>
                  </a:lnTo>
                  <a:close/>
                </a:path>
              </a:pathLst>
            </a:custGeom>
            <a:ln w="9524">
              <a:solidFill>
                <a:srgbClr val="E3E4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398780" y="3096260"/>
            <a:ext cx="8509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1A1F2B"/>
                </a:solidFill>
                <a:latin typeface="Calibri"/>
                <a:cs typeface="Calibri"/>
              </a:rPr>
              <a:t>LLM-paraphrased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387600" y="3096260"/>
            <a:ext cx="18954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Templated</a:t>
            </a:r>
            <a:r>
              <a:rPr dirty="0" sz="900" spc="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sentences</a:t>
            </a:r>
            <a:r>
              <a:rPr dirty="0" sz="900" spc="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rewritten</a:t>
            </a:r>
            <a:r>
              <a:rPr dirty="0" sz="900" spc="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naturally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473700" y="3096260"/>
            <a:ext cx="145542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Robustness</a:t>
            </a:r>
            <a:r>
              <a:rPr dirty="0" sz="900" spc="-2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to</a:t>
            </a:r>
            <a:r>
              <a:rPr dirty="0" sz="900" spc="-2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6B7280"/>
                </a:solidFill>
                <a:latin typeface="Calibri"/>
                <a:cs typeface="Calibri"/>
              </a:rPr>
              <a:t>natural</a:t>
            </a:r>
            <a:r>
              <a:rPr dirty="0" sz="900" spc="-2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phrasing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324421" y="3485959"/>
            <a:ext cx="8493125" cy="517525"/>
            <a:chOff x="324421" y="3485959"/>
            <a:chExt cx="8493125" cy="517525"/>
          </a:xfrm>
        </p:grpSpPr>
        <p:sp>
          <p:nvSpPr>
            <p:cNvPr id="33" name="object 33"/>
            <p:cNvSpPr/>
            <p:nvPr/>
          </p:nvSpPr>
          <p:spPr>
            <a:xfrm>
              <a:off x="329184" y="3490721"/>
              <a:ext cx="8483600" cy="508000"/>
            </a:xfrm>
            <a:custGeom>
              <a:avLst/>
              <a:gdLst/>
              <a:ahLst/>
              <a:cxnLst/>
              <a:rect l="l" t="t" r="r" b="b"/>
              <a:pathLst>
                <a:path w="8483600" h="508000">
                  <a:moveTo>
                    <a:pt x="8442198" y="507491"/>
                  </a:moveTo>
                  <a:lnTo>
                    <a:pt x="41147" y="507491"/>
                  </a:lnTo>
                  <a:lnTo>
                    <a:pt x="25131" y="504258"/>
                  </a:lnTo>
                  <a:lnTo>
                    <a:pt x="12051" y="495440"/>
                  </a:lnTo>
                  <a:lnTo>
                    <a:pt x="3233" y="482361"/>
                  </a:lnTo>
                  <a:lnTo>
                    <a:pt x="0" y="466344"/>
                  </a:lnTo>
                  <a:lnTo>
                    <a:pt x="0" y="41147"/>
                  </a:lnTo>
                  <a:lnTo>
                    <a:pt x="3233" y="25131"/>
                  </a:lnTo>
                  <a:lnTo>
                    <a:pt x="12051" y="12051"/>
                  </a:lnTo>
                  <a:lnTo>
                    <a:pt x="25131" y="3233"/>
                  </a:lnTo>
                  <a:lnTo>
                    <a:pt x="41147" y="0"/>
                  </a:lnTo>
                  <a:lnTo>
                    <a:pt x="8442198" y="0"/>
                  </a:lnTo>
                  <a:lnTo>
                    <a:pt x="8476432" y="18318"/>
                  </a:lnTo>
                  <a:lnTo>
                    <a:pt x="8483345" y="41147"/>
                  </a:lnTo>
                  <a:lnTo>
                    <a:pt x="8483345" y="466344"/>
                  </a:lnTo>
                  <a:lnTo>
                    <a:pt x="8480112" y="482361"/>
                  </a:lnTo>
                  <a:lnTo>
                    <a:pt x="8471294" y="495440"/>
                  </a:lnTo>
                  <a:lnTo>
                    <a:pt x="8458214" y="504258"/>
                  </a:lnTo>
                  <a:lnTo>
                    <a:pt x="8442198" y="507491"/>
                  </a:lnTo>
                  <a:close/>
                </a:path>
              </a:pathLst>
            </a:custGeom>
            <a:solidFill>
              <a:srgbClr val="F6F6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329184" y="3490721"/>
              <a:ext cx="8483600" cy="508000"/>
            </a:xfrm>
            <a:custGeom>
              <a:avLst/>
              <a:gdLst/>
              <a:ahLst/>
              <a:cxnLst/>
              <a:rect l="l" t="t" r="r" b="b"/>
              <a:pathLst>
                <a:path w="8483600" h="508000">
                  <a:moveTo>
                    <a:pt x="0" y="41147"/>
                  </a:moveTo>
                  <a:lnTo>
                    <a:pt x="3233" y="25131"/>
                  </a:lnTo>
                  <a:lnTo>
                    <a:pt x="12051" y="12051"/>
                  </a:lnTo>
                  <a:lnTo>
                    <a:pt x="25131" y="3233"/>
                  </a:lnTo>
                  <a:lnTo>
                    <a:pt x="41147" y="0"/>
                  </a:lnTo>
                  <a:lnTo>
                    <a:pt x="8442198" y="0"/>
                  </a:lnTo>
                  <a:lnTo>
                    <a:pt x="8476432" y="18318"/>
                  </a:lnTo>
                  <a:lnTo>
                    <a:pt x="8483345" y="41147"/>
                  </a:lnTo>
                  <a:lnTo>
                    <a:pt x="8483345" y="466344"/>
                  </a:lnTo>
                  <a:lnTo>
                    <a:pt x="8480112" y="482361"/>
                  </a:lnTo>
                  <a:lnTo>
                    <a:pt x="8471294" y="495440"/>
                  </a:lnTo>
                  <a:lnTo>
                    <a:pt x="8458214" y="504258"/>
                  </a:lnTo>
                  <a:lnTo>
                    <a:pt x="8442198" y="507491"/>
                  </a:lnTo>
                  <a:lnTo>
                    <a:pt x="41147" y="507491"/>
                  </a:lnTo>
                  <a:lnTo>
                    <a:pt x="25131" y="504258"/>
                  </a:lnTo>
                  <a:lnTo>
                    <a:pt x="12051" y="495440"/>
                  </a:lnTo>
                  <a:lnTo>
                    <a:pt x="3233" y="482361"/>
                  </a:lnTo>
                  <a:lnTo>
                    <a:pt x="0" y="466344"/>
                  </a:lnTo>
                  <a:lnTo>
                    <a:pt x="0" y="41147"/>
                  </a:lnTo>
                  <a:close/>
                </a:path>
              </a:pathLst>
            </a:custGeom>
            <a:ln w="9524">
              <a:solidFill>
                <a:srgbClr val="E3E4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398780" y="3658616"/>
            <a:ext cx="108775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1A1F2B"/>
                </a:solidFill>
                <a:latin typeface="Calibri"/>
                <a:cs typeface="Calibri"/>
              </a:rPr>
              <a:t>Human-written</a:t>
            </a:r>
            <a:r>
              <a:rPr dirty="0" sz="900" spc="-15" b="1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 b="1">
                <a:solidFill>
                  <a:srgbClr val="1A1F2B"/>
                </a:solidFill>
                <a:latin typeface="Calibri"/>
                <a:cs typeface="Calibri"/>
              </a:rPr>
              <a:t>(</a:t>
            </a:r>
            <a:r>
              <a:rPr dirty="0" sz="900" spc="-10" b="1">
                <a:solidFill>
                  <a:srgbClr val="1A1F2B"/>
                </a:solidFill>
                <a:latin typeface="Arial"/>
                <a:cs typeface="Arial"/>
              </a:rPr>
              <a:t>≈</a:t>
            </a:r>
            <a:r>
              <a:rPr dirty="0" sz="900" spc="-10" b="1">
                <a:solidFill>
                  <a:srgbClr val="1A1F2B"/>
                </a:solidFill>
                <a:latin typeface="Calibri"/>
                <a:cs typeface="Calibri"/>
              </a:rPr>
              <a:t>100)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387600" y="3658616"/>
            <a:ext cx="136144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Written</a:t>
            </a:r>
            <a:r>
              <a:rPr dirty="0" sz="900" spc="-3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by</a:t>
            </a:r>
            <a:r>
              <a:rPr dirty="0" sz="9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hand</a:t>
            </a:r>
            <a:r>
              <a:rPr dirty="0" sz="900" spc="-3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by</a:t>
            </a:r>
            <a:r>
              <a:rPr dirty="0" sz="9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9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team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473700" y="3658616"/>
            <a:ext cx="140335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>
                <a:solidFill>
                  <a:srgbClr val="6B7280"/>
                </a:solidFill>
                <a:latin typeface="Calibri"/>
                <a:cs typeface="Calibri"/>
              </a:rPr>
              <a:t>True</a:t>
            </a:r>
            <a:r>
              <a:rPr dirty="0" sz="900" spc="3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6B7280"/>
                </a:solidFill>
                <a:latin typeface="Calibri"/>
                <a:cs typeface="Calibri"/>
              </a:rPr>
              <a:t>out-of-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distribution</a:t>
            </a:r>
            <a:r>
              <a:rPr dirty="0" sz="900" spc="3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6B7280"/>
                </a:solidFill>
                <a:latin typeface="Calibri"/>
                <a:cs typeface="Calibri"/>
              </a:rPr>
              <a:t>check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98780" y="4110735"/>
            <a:ext cx="785114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E17039"/>
                </a:solidFill>
                <a:latin typeface="Calibri"/>
                <a:cs typeface="Calibri"/>
              </a:rPr>
              <a:t>Curation:</a:t>
            </a:r>
            <a:r>
              <a:rPr dirty="0" sz="1000" spc="190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duplicates</a:t>
            </a:r>
            <a:r>
              <a:rPr dirty="0" sz="10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removed,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edit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types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and</a:t>
            </a:r>
            <a:r>
              <a:rPr dirty="0" sz="10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magnitudes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balanced,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splits</a:t>
            </a:r>
            <a:r>
              <a:rPr dirty="0" sz="10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made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at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template-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family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level</a:t>
            </a:r>
            <a:r>
              <a:rPr dirty="0" sz="10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so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no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near-duplicate</a:t>
            </a:r>
            <a:r>
              <a:rPr dirty="0" sz="10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crosses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train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and</a:t>
            </a:r>
            <a:r>
              <a:rPr dirty="0" sz="10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test.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25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 held-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out-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adverb</a:t>
            </a:r>
            <a:r>
              <a:rPr dirty="0" sz="10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split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is</a:t>
            </a:r>
            <a:r>
              <a:rPr dirty="0" sz="10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discriminating</a:t>
            </a:r>
            <a:r>
              <a:rPr dirty="0" sz="10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one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—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a</a:t>
            </a:r>
            <a:r>
              <a:rPr dirty="0" sz="10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lookup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table</a:t>
            </a:r>
            <a:r>
              <a:rPr dirty="0" sz="10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scores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zero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on</a:t>
            </a:r>
            <a:r>
              <a:rPr dirty="0" sz="1000" spc="-25">
                <a:solidFill>
                  <a:srgbClr val="1A1F2B"/>
                </a:solidFill>
                <a:latin typeface="Calibri"/>
                <a:cs typeface="Calibri"/>
              </a:rPr>
              <a:t> it.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65"/>
              </a:lnSpc>
            </a:pPr>
            <a:r>
              <a:rPr dirty="0"/>
              <a:t>IE</a:t>
            </a:r>
            <a:r>
              <a:rPr dirty="0" spc="-15"/>
              <a:t> </a:t>
            </a:r>
            <a:r>
              <a:rPr dirty="0"/>
              <a:t>643</a:t>
            </a:r>
            <a:r>
              <a:rPr dirty="0" spc="-15"/>
              <a:t> </a:t>
            </a:r>
            <a:r>
              <a:rPr dirty="0" spc="-10"/>
              <a:t>Course </a:t>
            </a:r>
            <a:r>
              <a:rPr dirty="0"/>
              <a:t>Project</a:t>
            </a:r>
            <a:r>
              <a:rPr dirty="0" spc="135"/>
              <a:t> </a:t>
            </a:r>
            <a:r>
              <a:rPr dirty="0"/>
              <a:t>·</a:t>
            </a:r>
            <a:r>
              <a:rPr dirty="0" spc="140"/>
              <a:t> </a:t>
            </a:r>
            <a:r>
              <a:rPr dirty="0" spc="-20"/>
              <a:t>Team</a:t>
            </a:r>
            <a:r>
              <a:rPr dirty="0" spc="-10"/>
              <a:t> DyoOptix</a:t>
            </a:r>
          </a:p>
        </p:txBody>
      </p:sp>
      <p:sp>
        <p:nvSpPr>
          <p:cNvPr id="40" name="object 4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65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8780" y="244602"/>
            <a:ext cx="97155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E17039"/>
                </a:solidFill>
                <a:latin typeface="Calibri"/>
                <a:cs typeface="Calibri"/>
              </a:rPr>
              <a:t>BLOCK</a:t>
            </a:r>
            <a:r>
              <a:rPr dirty="0" sz="800" spc="-20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E17039"/>
                </a:solidFill>
                <a:latin typeface="Calibri"/>
                <a:cs typeface="Calibri"/>
              </a:rPr>
              <a:t>05</a:t>
            </a:r>
            <a:r>
              <a:rPr dirty="0" sz="800" spc="-1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E17039"/>
                </a:solidFill>
                <a:latin typeface="Calibri"/>
                <a:cs typeface="Calibri"/>
              </a:rPr>
              <a:t>·</a:t>
            </a:r>
            <a:r>
              <a:rPr dirty="0" sz="800" spc="-1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800" spc="-10" b="1">
                <a:solidFill>
                  <a:srgbClr val="E17039"/>
                </a:solidFill>
                <a:latin typeface="Calibri"/>
                <a:cs typeface="Calibri"/>
              </a:rPr>
              <a:t>APPROACH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4398" y="507268"/>
            <a:ext cx="158180" cy="158180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Parameterisation</a:t>
            </a:r>
            <a:r>
              <a:rPr dirty="0" spc="-35"/>
              <a:t> </a:t>
            </a:r>
            <a:r>
              <a:rPr dirty="0"/>
              <a:t>&amp;</a:t>
            </a:r>
            <a:r>
              <a:rPr dirty="0" spc="-30"/>
              <a:t> </a:t>
            </a:r>
            <a:r>
              <a:rPr dirty="0" spc="-10"/>
              <a:t>Conventions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22834" y="1091946"/>
          <a:ext cx="8572500" cy="29952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9345"/>
                <a:gridCol w="2771139"/>
                <a:gridCol w="4615815"/>
              </a:tblGrid>
              <a:tr h="128905">
                <a:tc>
                  <a:txBody>
                    <a:bodyPr/>
                    <a:lstStyle/>
                    <a:p>
                      <a:pPr marL="88265">
                        <a:lnSpc>
                          <a:spcPts val="760"/>
                        </a:lnSpc>
                      </a:pPr>
                      <a:r>
                        <a:rPr dirty="0" sz="800" spc="-10" b="1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CHOICE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3175">
                      <a:solidFill>
                        <a:srgbClr val="F6F6F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9100">
                        <a:lnSpc>
                          <a:spcPts val="760"/>
                        </a:lnSpc>
                      </a:pPr>
                      <a:r>
                        <a:rPr dirty="0" sz="800" spc="-10" b="1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DECISION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3175">
                      <a:solidFill>
                        <a:srgbClr val="F6F6F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9740">
                        <a:lnSpc>
                          <a:spcPts val="760"/>
                        </a:lnSpc>
                      </a:pPr>
                      <a:r>
                        <a:rPr dirty="0" sz="800" spc="-10" b="1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REASONING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3175">
                      <a:solidFill>
                        <a:srgbClr val="F6F6F4"/>
                      </a:solidFill>
                      <a:prstDash val="solid"/>
                    </a:lnB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88265">
                        <a:lnSpc>
                          <a:spcPct val="100000"/>
                        </a:lnSpc>
                      </a:pPr>
                      <a:r>
                        <a:rPr dirty="0" sz="900" spc="-10" b="1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Translation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55244">
                    <a:lnT w="3175">
                      <a:solidFill>
                        <a:srgbClr val="F6F6F4"/>
                      </a:solidFill>
                      <a:prstDash val="solid"/>
                    </a:lnT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419100">
                        <a:lnSpc>
                          <a:spcPct val="100000"/>
                        </a:lnSpc>
                      </a:pPr>
                      <a:r>
                        <a:rPr dirty="0" sz="900" spc="-10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Fraction</a:t>
                      </a:r>
                      <a:r>
                        <a:rPr dirty="0" sz="900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 of </a:t>
                      </a:r>
                      <a:r>
                        <a:rPr dirty="0" sz="900" spc="-10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image</a:t>
                      </a:r>
                      <a:r>
                        <a:rPr dirty="0" sz="900" spc="5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width,</a:t>
                      </a:r>
                      <a:r>
                        <a:rPr dirty="0" sz="900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 [</a:t>
                      </a:r>
                      <a:r>
                        <a:rPr dirty="0" sz="900">
                          <a:solidFill>
                            <a:srgbClr val="2E6171"/>
                          </a:solidFill>
                          <a:latin typeface="Microsoft Sans Serif"/>
                          <a:cs typeface="Microsoft Sans Serif"/>
                        </a:rPr>
                        <a:t>−</a:t>
                      </a:r>
                      <a:r>
                        <a:rPr dirty="0" sz="900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0.5,</a:t>
                      </a:r>
                      <a:r>
                        <a:rPr dirty="0" sz="900" spc="5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20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0.5]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55244">
                    <a:lnT w="3175">
                      <a:solidFill>
                        <a:srgbClr val="F6F6F4"/>
                      </a:solidFill>
                      <a:prstDash val="solid"/>
                    </a:lnT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459740">
                        <a:lnSpc>
                          <a:spcPct val="100000"/>
                        </a:lnSpc>
                      </a:pPr>
                      <a:r>
                        <a:rPr dirty="0" sz="800" spc="-1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Resolution-independent; </a:t>
                      </a:r>
                      <a:r>
                        <a:rPr dirty="0" sz="80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800" spc="-1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model</a:t>
                      </a:r>
                      <a:r>
                        <a:rPr dirty="0" sz="800" spc="-5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trained </a:t>
                      </a:r>
                      <a:r>
                        <a:rPr dirty="0" sz="80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at</a:t>
                      </a:r>
                      <a:r>
                        <a:rPr dirty="0" sz="800" spc="-1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256</a:t>
                      </a:r>
                      <a:r>
                        <a:rPr dirty="0" sz="800" spc="-5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px</a:t>
                      </a:r>
                      <a:r>
                        <a:rPr dirty="0" sz="800" spc="-1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transfers </a:t>
                      </a:r>
                      <a:r>
                        <a:rPr dirty="0" sz="80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800" spc="-5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512</a:t>
                      </a:r>
                      <a:r>
                        <a:rPr dirty="0" sz="800" spc="-1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25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px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78105">
                    <a:lnT w="3175">
                      <a:solidFill>
                        <a:srgbClr val="F6F6F4"/>
                      </a:solidFill>
                      <a:prstDash val="solid"/>
                    </a:lnT>
                    <a:solidFill>
                      <a:srgbClr val="F6F6F4"/>
                    </a:solidFill>
                  </a:tcPr>
                </a:tc>
              </a:tr>
              <a:tr h="4946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88265">
                        <a:lnSpc>
                          <a:spcPct val="100000"/>
                        </a:lnSpc>
                      </a:pPr>
                      <a:r>
                        <a:rPr dirty="0" sz="900" spc="-10" b="1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Rotation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2545">
                    <a:lnT w="3175">
                      <a:solidFill>
                        <a:srgbClr val="F6F6F4"/>
                      </a:solidFill>
                      <a:prstDash val="solid"/>
                    </a:lnT>
                    <a:lnB w="3175">
                      <a:solidFill>
                        <a:srgbClr val="F6F6F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419100">
                        <a:lnSpc>
                          <a:spcPct val="100000"/>
                        </a:lnSpc>
                      </a:pPr>
                      <a:r>
                        <a:rPr dirty="0" sz="900" spc="-10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Regress</a:t>
                      </a:r>
                      <a:r>
                        <a:rPr dirty="0" sz="900" spc="-20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(cos</a:t>
                      </a:r>
                      <a:r>
                        <a:rPr dirty="0" sz="900" spc="-10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E6171"/>
                          </a:solidFill>
                          <a:latin typeface="Microsoft Sans Serif"/>
                          <a:cs typeface="Microsoft Sans Serif"/>
                        </a:rPr>
                        <a:t>θ</a:t>
                      </a:r>
                      <a:r>
                        <a:rPr dirty="0" sz="900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900" spc="-15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sin</a:t>
                      </a:r>
                      <a:r>
                        <a:rPr dirty="0" sz="900" spc="-15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E6171"/>
                          </a:solidFill>
                          <a:latin typeface="Microsoft Sans Serif"/>
                          <a:cs typeface="Microsoft Sans Serif"/>
                        </a:rPr>
                        <a:t>θ</a:t>
                      </a:r>
                      <a:r>
                        <a:rPr dirty="0" sz="900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),</a:t>
                      </a:r>
                      <a:r>
                        <a:rPr dirty="0" sz="900" spc="-15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recover</a:t>
                      </a:r>
                      <a:r>
                        <a:rPr dirty="0" sz="900" spc="-15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with</a:t>
                      </a:r>
                      <a:r>
                        <a:rPr dirty="0" sz="900" spc="-20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atan2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2545">
                    <a:lnT w="3175">
                      <a:solidFill>
                        <a:srgbClr val="F6F6F4"/>
                      </a:solidFill>
                      <a:prstDash val="solid"/>
                    </a:lnT>
                    <a:lnB w="3175">
                      <a:solidFill>
                        <a:srgbClr val="F6F6F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459740">
                        <a:lnSpc>
                          <a:spcPct val="100000"/>
                        </a:lnSpc>
                      </a:pPr>
                      <a:r>
                        <a:rPr dirty="0" sz="80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Raw</a:t>
                      </a:r>
                      <a:r>
                        <a:rPr dirty="0" sz="800" spc="-15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angle</a:t>
                      </a:r>
                      <a:r>
                        <a:rPr dirty="0" sz="800" spc="-15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wraps</a:t>
                      </a:r>
                      <a:r>
                        <a:rPr dirty="0" sz="800" spc="-15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at</a:t>
                      </a:r>
                      <a:r>
                        <a:rPr dirty="0" sz="800" spc="-15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±180°,</a:t>
                      </a:r>
                      <a:r>
                        <a:rPr dirty="0" sz="800" spc="-1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forcing</a:t>
                      </a:r>
                      <a:r>
                        <a:rPr dirty="0" sz="800" spc="-15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800" spc="-15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discontinuous</a:t>
                      </a:r>
                      <a:r>
                        <a:rPr dirty="0" sz="800" spc="-15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output (Zhou</a:t>
                      </a:r>
                      <a:r>
                        <a:rPr dirty="0" sz="800" spc="-15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et</a:t>
                      </a:r>
                      <a:r>
                        <a:rPr dirty="0" sz="800" spc="-15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al.,</a:t>
                      </a:r>
                      <a:r>
                        <a:rPr dirty="0" sz="800" spc="-15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CVPR</a:t>
                      </a:r>
                      <a:r>
                        <a:rPr dirty="0" sz="800" spc="-1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2019)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5405">
                    <a:lnT w="3175">
                      <a:solidFill>
                        <a:srgbClr val="F6F6F4"/>
                      </a:solidFill>
                      <a:prstDash val="solid"/>
                    </a:lnT>
                    <a:lnB w="3175">
                      <a:solidFill>
                        <a:srgbClr val="F6F6F4"/>
                      </a:solidFill>
                      <a:prstDash val="solid"/>
                    </a:lnB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88265">
                        <a:lnSpc>
                          <a:spcPct val="100000"/>
                        </a:lnSpc>
                      </a:pPr>
                      <a:r>
                        <a:rPr dirty="0" sz="900" spc="-10" b="1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Scale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55244"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419100">
                        <a:lnSpc>
                          <a:spcPct val="100000"/>
                        </a:lnSpc>
                      </a:pPr>
                      <a:r>
                        <a:rPr dirty="0" sz="900" spc="-10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Regress</a:t>
                      </a:r>
                      <a:r>
                        <a:rPr dirty="0" sz="900" spc="-15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log</a:t>
                      </a:r>
                      <a:r>
                        <a:rPr dirty="0" sz="900" spc="-10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s,</a:t>
                      </a:r>
                      <a:r>
                        <a:rPr dirty="0" sz="900" spc="190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s </a:t>
                      </a:r>
                      <a:r>
                        <a:rPr dirty="0" sz="900">
                          <a:solidFill>
                            <a:srgbClr val="2E6171"/>
                          </a:solidFill>
                          <a:latin typeface="MS PGothic"/>
                          <a:cs typeface="MS PGothic"/>
                        </a:rPr>
                        <a:t>∈</a:t>
                      </a:r>
                      <a:r>
                        <a:rPr dirty="0" sz="900" spc="-75">
                          <a:solidFill>
                            <a:srgbClr val="2E6171"/>
                          </a:solidFill>
                          <a:latin typeface="MS PGothic"/>
                          <a:cs typeface="MS PGothic"/>
                        </a:rPr>
                        <a:t> </a:t>
                      </a:r>
                      <a:r>
                        <a:rPr dirty="0" sz="900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[0.25,</a:t>
                      </a:r>
                      <a:r>
                        <a:rPr dirty="0" sz="900" spc="-10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25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4]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55244"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459740">
                        <a:lnSpc>
                          <a:spcPct val="100000"/>
                        </a:lnSpc>
                      </a:pPr>
                      <a:r>
                        <a:rPr dirty="0" sz="80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log</a:t>
                      </a:r>
                      <a:r>
                        <a:rPr dirty="0" sz="800" spc="-1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2</a:t>
                      </a:r>
                      <a:r>
                        <a:rPr dirty="0" sz="800" spc="-1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dirty="0" sz="800" spc="-1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+0.69,</a:t>
                      </a:r>
                      <a:r>
                        <a:rPr dirty="0" sz="800" spc="-1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log</a:t>
                      </a:r>
                      <a:r>
                        <a:rPr dirty="0" sz="800" spc="-1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0.5</a:t>
                      </a:r>
                      <a:r>
                        <a:rPr dirty="0" sz="800" spc="-1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dirty="0" sz="800" spc="-5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solidFill>
                            <a:srgbClr val="6B7280"/>
                          </a:solidFill>
                          <a:latin typeface="Microsoft Sans Serif"/>
                          <a:cs typeface="Microsoft Sans Serif"/>
                        </a:rPr>
                        <a:t>−</a:t>
                      </a:r>
                      <a:r>
                        <a:rPr dirty="0" sz="80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0.69</a:t>
                      </a:r>
                      <a:r>
                        <a:rPr dirty="0" sz="800" spc="-1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—</a:t>
                      </a:r>
                      <a:r>
                        <a:rPr dirty="0" sz="800" spc="-1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enlarging </a:t>
                      </a:r>
                      <a:r>
                        <a:rPr dirty="0" sz="80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800" spc="-1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shrinking penalised symmetrically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78105">
                    <a:solidFill>
                      <a:srgbClr val="F6F6F4"/>
                    </a:solidFill>
                  </a:tcPr>
                </a:tc>
              </a:tr>
              <a:tr h="4946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88265">
                        <a:lnSpc>
                          <a:spcPct val="100000"/>
                        </a:lnSpc>
                      </a:pPr>
                      <a:r>
                        <a:rPr dirty="0" sz="900" spc="-10" b="1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Isotropy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2545">
                    <a:lnT w="3175">
                      <a:solidFill>
                        <a:srgbClr val="F6F6F4"/>
                      </a:solidFill>
                      <a:prstDash val="solid"/>
                    </a:lnT>
                    <a:lnB w="3175">
                      <a:solidFill>
                        <a:srgbClr val="F6F6F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419100">
                        <a:lnSpc>
                          <a:spcPct val="100000"/>
                        </a:lnSpc>
                      </a:pPr>
                      <a:r>
                        <a:rPr dirty="0" sz="900" spc="-10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Uniform</a:t>
                      </a:r>
                      <a:r>
                        <a:rPr dirty="0" sz="900" spc="-15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scale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2545">
                    <a:lnT w="3175">
                      <a:solidFill>
                        <a:srgbClr val="F6F6F4"/>
                      </a:solidFill>
                      <a:prstDash val="solid"/>
                    </a:lnT>
                    <a:lnB w="3175">
                      <a:solidFill>
                        <a:srgbClr val="F6F6F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459740">
                        <a:lnSpc>
                          <a:spcPct val="100000"/>
                        </a:lnSpc>
                      </a:pPr>
                      <a:r>
                        <a:rPr dirty="0" sz="800" spc="-1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Anisotropic</a:t>
                      </a:r>
                      <a:r>
                        <a:rPr dirty="0" sz="800" spc="-5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scaling</a:t>
                      </a:r>
                      <a:r>
                        <a:rPr dirty="0" sz="80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("make</a:t>
                      </a:r>
                      <a:r>
                        <a:rPr dirty="0" sz="800" spc="-5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it </a:t>
                      </a:r>
                      <a:r>
                        <a:rPr dirty="0" sz="800" spc="-1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wider")</a:t>
                      </a:r>
                      <a:r>
                        <a:rPr dirty="0" sz="800" spc="-5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lies </a:t>
                      </a:r>
                      <a:r>
                        <a:rPr dirty="0" sz="800" spc="-1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outside</a:t>
                      </a:r>
                      <a:r>
                        <a:rPr dirty="0" sz="800" spc="-5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the </a:t>
                      </a:r>
                      <a:r>
                        <a:rPr dirty="0" sz="800" spc="-1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similarity</a:t>
                      </a:r>
                      <a:r>
                        <a:rPr dirty="0" sz="800" spc="-5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transform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5405">
                    <a:lnT w="3175">
                      <a:solidFill>
                        <a:srgbClr val="F6F6F4"/>
                      </a:solidFill>
                      <a:prstDash val="solid"/>
                    </a:lnT>
                    <a:lnB w="3175">
                      <a:solidFill>
                        <a:srgbClr val="F6F6F4"/>
                      </a:solidFill>
                      <a:prstDash val="solid"/>
                    </a:lnB>
                  </a:tcPr>
                </a:tc>
              </a:tr>
              <a:tr h="5200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88265">
                        <a:lnSpc>
                          <a:spcPct val="100000"/>
                        </a:lnSpc>
                      </a:pPr>
                      <a:r>
                        <a:rPr dirty="0" sz="900" spc="-10" b="1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Centre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55244"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419100">
                        <a:lnSpc>
                          <a:spcPct val="100000"/>
                        </a:lnSpc>
                      </a:pPr>
                      <a:r>
                        <a:rPr dirty="0" sz="900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Object</a:t>
                      </a:r>
                      <a:r>
                        <a:rPr dirty="0" sz="900" spc="-40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centroid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55244"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459740">
                        <a:lnSpc>
                          <a:spcPct val="100000"/>
                        </a:lnSpc>
                      </a:pPr>
                      <a:r>
                        <a:rPr dirty="0" sz="800" spc="-1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Rotating about </a:t>
                      </a:r>
                      <a:r>
                        <a:rPr dirty="0" sz="80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800" spc="-1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image origin throws</a:t>
                      </a:r>
                      <a:r>
                        <a:rPr dirty="0" sz="800" spc="-5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800" spc="-1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object</a:t>
                      </a:r>
                      <a:r>
                        <a:rPr dirty="0" sz="800" spc="-1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across </a:t>
                      </a:r>
                      <a:r>
                        <a:rPr dirty="0" sz="80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800" spc="-1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frame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78105">
                    <a:solidFill>
                      <a:srgbClr val="F6F6F4"/>
                    </a:solidFill>
                  </a:tcPr>
                </a:tc>
              </a:tr>
              <a:tr h="3168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88265">
                        <a:lnSpc>
                          <a:spcPts val="1025"/>
                        </a:lnSpc>
                      </a:pPr>
                      <a:r>
                        <a:rPr dirty="0" sz="900" spc="-10" b="1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Composition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2545">
                    <a:lnT w="3175">
                      <a:solidFill>
                        <a:srgbClr val="F6F6F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419100">
                        <a:lnSpc>
                          <a:spcPts val="1025"/>
                        </a:lnSpc>
                      </a:pPr>
                      <a:r>
                        <a:rPr dirty="0" sz="900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M</a:t>
                      </a:r>
                      <a:r>
                        <a:rPr dirty="0" sz="900" spc="-15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dirty="0" sz="900" spc="-10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 T(c)·T(t)·R(</a:t>
                      </a:r>
                      <a:r>
                        <a:rPr dirty="0" sz="900" spc="-10">
                          <a:solidFill>
                            <a:srgbClr val="2E6171"/>
                          </a:solidFill>
                          <a:latin typeface="Microsoft Sans Serif"/>
                          <a:cs typeface="Microsoft Sans Serif"/>
                        </a:rPr>
                        <a:t>θ</a:t>
                      </a:r>
                      <a:r>
                        <a:rPr dirty="0" sz="900" spc="-10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)·S(s)·T(</a:t>
                      </a:r>
                      <a:r>
                        <a:rPr dirty="0" sz="900" spc="-10">
                          <a:solidFill>
                            <a:srgbClr val="2E6171"/>
                          </a:solidFill>
                          <a:latin typeface="Microsoft Sans Serif"/>
                          <a:cs typeface="Microsoft Sans Serif"/>
                        </a:rPr>
                        <a:t>−</a:t>
                      </a:r>
                      <a:r>
                        <a:rPr dirty="0" sz="900" spc="-10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c)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42545">
                    <a:lnT w="3175">
                      <a:solidFill>
                        <a:srgbClr val="F6F6F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459740">
                        <a:lnSpc>
                          <a:spcPct val="100000"/>
                        </a:lnSpc>
                      </a:pPr>
                      <a:r>
                        <a:rPr dirty="0" sz="80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Order</a:t>
                      </a:r>
                      <a:r>
                        <a:rPr dirty="0" sz="800" spc="-15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matters </a:t>
                      </a:r>
                      <a:r>
                        <a:rPr dirty="0" sz="80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once</a:t>
                      </a:r>
                      <a:r>
                        <a:rPr dirty="0" sz="800" spc="-1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scale</a:t>
                      </a:r>
                      <a:r>
                        <a:rPr dirty="0" sz="800" spc="-15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is</a:t>
                      </a:r>
                      <a:r>
                        <a:rPr dirty="0" sz="800" spc="-1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anisotropic; </a:t>
                      </a:r>
                      <a:r>
                        <a:rPr dirty="0" sz="80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800" spc="-1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be</a:t>
                      </a:r>
                      <a:r>
                        <a:rPr dirty="0" sz="800" spc="-15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1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fixed </a:t>
                      </a:r>
                      <a:r>
                        <a:rPr dirty="0" sz="80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dirty="0" sz="800" spc="-1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800" spc="-1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written</a:t>
                      </a:r>
                      <a:r>
                        <a:rPr dirty="0" sz="800" spc="-15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2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spec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65405">
                    <a:lnT w="3175">
                      <a:solidFill>
                        <a:srgbClr val="F6F6F4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406717" y="4110037"/>
            <a:ext cx="8328659" cy="544830"/>
            <a:chOff x="406717" y="4110037"/>
            <a:chExt cx="8328659" cy="544830"/>
          </a:xfrm>
        </p:grpSpPr>
        <p:sp>
          <p:nvSpPr>
            <p:cNvPr id="7" name="object 7"/>
            <p:cNvSpPr/>
            <p:nvPr/>
          </p:nvSpPr>
          <p:spPr>
            <a:xfrm>
              <a:off x="411480" y="4114800"/>
              <a:ext cx="8319134" cy="535305"/>
            </a:xfrm>
            <a:custGeom>
              <a:avLst/>
              <a:gdLst/>
              <a:ahLst/>
              <a:cxnLst/>
              <a:rect l="l" t="t" r="r" b="b"/>
              <a:pathLst>
                <a:path w="8319134" h="535304">
                  <a:moveTo>
                    <a:pt x="8277607" y="534923"/>
                  </a:moveTo>
                  <a:lnTo>
                    <a:pt x="41146" y="534923"/>
                  </a:lnTo>
                  <a:lnTo>
                    <a:pt x="25130" y="531690"/>
                  </a:lnTo>
                  <a:lnTo>
                    <a:pt x="12051" y="522872"/>
                  </a:lnTo>
                  <a:lnTo>
                    <a:pt x="3233" y="509793"/>
                  </a:lnTo>
                  <a:lnTo>
                    <a:pt x="0" y="493777"/>
                  </a:lnTo>
                  <a:lnTo>
                    <a:pt x="0" y="41146"/>
                  </a:lnTo>
                  <a:lnTo>
                    <a:pt x="3233" y="25130"/>
                  </a:lnTo>
                  <a:lnTo>
                    <a:pt x="12051" y="12051"/>
                  </a:lnTo>
                  <a:lnTo>
                    <a:pt x="25130" y="3233"/>
                  </a:lnTo>
                  <a:lnTo>
                    <a:pt x="41146" y="0"/>
                  </a:lnTo>
                  <a:lnTo>
                    <a:pt x="8277607" y="0"/>
                  </a:lnTo>
                  <a:lnTo>
                    <a:pt x="8311841" y="18318"/>
                  </a:lnTo>
                  <a:lnTo>
                    <a:pt x="8318754" y="41146"/>
                  </a:lnTo>
                  <a:lnTo>
                    <a:pt x="8318754" y="493777"/>
                  </a:lnTo>
                  <a:lnTo>
                    <a:pt x="8315520" y="509793"/>
                  </a:lnTo>
                  <a:lnTo>
                    <a:pt x="8306702" y="522872"/>
                  </a:lnTo>
                  <a:lnTo>
                    <a:pt x="8293623" y="531690"/>
                  </a:lnTo>
                  <a:lnTo>
                    <a:pt x="8277607" y="534923"/>
                  </a:lnTo>
                  <a:close/>
                </a:path>
              </a:pathLst>
            </a:custGeom>
            <a:solidFill>
              <a:srgbClr val="FCF1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11480" y="4114800"/>
              <a:ext cx="8319134" cy="535305"/>
            </a:xfrm>
            <a:custGeom>
              <a:avLst/>
              <a:gdLst/>
              <a:ahLst/>
              <a:cxnLst/>
              <a:rect l="l" t="t" r="r" b="b"/>
              <a:pathLst>
                <a:path w="8319134" h="535304">
                  <a:moveTo>
                    <a:pt x="0" y="41146"/>
                  </a:moveTo>
                  <a:lnTo>
                    <a:pt x="3233" y="25130"/>
                  </a:lnTo>
                  <a:lnTo>
                    <a:pt x="12051" y="12051"/>
                  </a:lnTo>
                  <a:lnTo>
                    <a:pt x="25130" y="3233"/>
                  </a:lnTo>
                  <a:lnTo>
                    <a:pt x="41146" y="0"/>
                  </a:lnTo>
                  <a:lnTo>
                    <a:pt x="8277607" y="0"/>
                  </a:lnTo>
                  <a:lnTo>
                    <a:pt x="8311841" y="18318"/>
                  </a:lnTo>
                  <a:lnTo>
                    <a:pt x="8318754" y="41146"/>
                  </a:lnTo>
                  <a:lnTo>
                    <a:pt x="8318754" y="493777"/>
                  </a:lnTo>
                  <a:lnTo>
                    <a:pt x="8315520" y="509793"/>
                  </a:lnTo>
                  <a:lnTo>
                    <a:pt x="8306702" y="522872"/>
                  </a:lnTo>
                  <a:lnTo>
                    <a:pt x="8293623" y="531690"/>
                  </a:lnTo>
                  <a:lnTo>
                    <a:pt x="8277607" y="534923"/>
                  </a:lnTo>
                  <a:lnTo>
                    <a:pt x="41146" y="534923"/>
                  </a:lnTo>
                  <a:lnTo>
                    <a:pt x="25130" y="531690"/>
                  </a:lnTo>
                  <a:lnTo>
                    <a:pt x="12051" y="522872"/>
                  </a:lnTo>
                  <a:lnTo>
                    <a:pt x="3233" y="509793"/>
                  </a:lnTo>
                  <a:lnTo>
                    <a:pt x="0" y="493777"/>
                  </a:lnTo>
                  <a:lnTo>
                    <a:pt x="0" y="41146"/>
                  </a:lnTo>
                  <a:close/>
                </a:path>
              </a:pathLst>
            </a:custGeom>
            <a:ln w="9524">
              <a:solidFill>
                <a:srgbClr val="E3E4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604520" y="4234688"/>
            <a:ext cx="78689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E17039"/>
                </a:solidFill>
                <a:latin typeface="Calibri"/>
                <a:cs typeface="Calibri"/>
              </a:rPr>
              <a:t>Sign</a:t>
            </a:r>
            <a:r>
              <a:rPr dirty="0" sz="900" spc="-2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E17039"/>
                </a:solidFill>
                <a:latin typeface="Calibri"/>
                <a:cs typeface="Calibri"/>
              </a:rPr>
              <a:t>convention.</a:t>
            </a:r>
            <a:r>
              <a:rPr dirty="0" sz="900" spc="18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image 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y-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axis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points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down,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so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rotation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matrix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is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transpose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of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textbook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form.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45">
                <a:solidFill>
                  <a:srgbClr val="1A1F2B"/>
                </a:solidFill>
                <a:latin typeface="Calibri"/>
                <a:cs typeface="Calibri"/>
              </a:rPr>
              <a:t>To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be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verified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against cv2.getRotationMatrix2D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in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a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unit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test</a:t>
            </a:r>
            <a:r>
              <a:rPr dirty="0" sz="900" spc="50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(milestone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1A1F2B"/>
                </a:solidFill>
                <a:latin typeface="Calibri"/>
                <a:cs typeface="Calibri"/>
              </a:rPr>
              <a:t>1).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65"/>
              </a:lnSpc>
            </a:pPr>
            <a:r>
              <a:rPr dirty="0"/>
              <a:t>IE</a:t>
            </a:r>
            <a:r>
              <a:rPr dirty="0" spc="-15"/>
              <a:t> </a:t>
            </a:r>
            <a:r>
              <a:rPr dirty="0"/>
              <a:t>643</a:t>
            </a:r>
            <a:r>
              <a:rPr dirty="0" spc="-15"/>
              <a:t> </a:t>
            </a:r>
            <a:r>
              <a:rPr dirty="0" spc="-10"/>
              <a:t>Course </a:t>
            </a:r>
            <a:r>
              <a:rPr dirty="0"/>
              <a:t>Project</a:t>
            </a:r>
            <a:r>
              <a:rPr dirty="0" spc="135"/>
              <a:t> </a:t>
            </a:r>
            <a:r>
              <a:rPr dirty="0"/>
              <a:t>·</a:t>
            </a:r>
            <a:r>
              <a:rPr dirty="0" spc="140"/>
              <a:t> </a:t>
            </a:r>
            <a:r>
              <a:rPr dirty="0" spc="-20"/>
              <a:t>Team</a:t>
            </a:r>
            <a:r>
              <a:rPr dirty="0" spc="-10"/>
              <a:t> DyoOptix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65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8780" y="244602"/>
            <a:ext cx="97155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E17039"/>
                </a:solidFill>
                <a:latin typeface="Calibri"/>
                <a:cs typeface="Calibri"/>
              </a:rPr>
              <a:t>BLOCK</a:t>
            </a:r>
            <a:r>
              <a:rPr dirty="0" sz="800" spc="-20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E17039"/>
                </a:solidFill>
                <a:latin typeface="Calibri"/>
                <a:cs typeface="Calibri"/>
              </a:rPr>
              <a:t>05</a:t>
            </a:r>
            <a:r>
              <a:rPr dirty="0" sz="800" spc="-1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E17039"/>
                </a:solidFill>
                <a:latin typeface="Calibri"/>
                <a:cs typeface="Calibri"/>
              </a:rPr>
              <a:t>·</a:t>
            </a:r>
            <a:r>
              <a:rPr dirty="0" sz="800" spc="-1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800" spc="-10" b="1">
                <a:solidFill>
                  <a:srgbClr val="E17039"/>
                </a:solidFill>
                <a:latin typeface="Calibri"/>
                <a:cs typeface="Calibri"/>
              </a:rPr>
              <a:t>APPROACH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4398" y="507268"/>
            <a:ext cx="158180" cy="158180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Planned</a:t>
            </a:r>
            <a:r>
              <a:rPr dirty="0" spc="-125"/>
              <a:t> </a:t>
            </a:r>
            <a:r>
              <a:rPr dirty="0" spc="-10"/>
              <a:t>Architecture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406717" y="1023937"/>
            <a:ext cx="3095625" cy="2752725"/>
            <a:chOff x="406717" y="1023937"/>
            <a:chExt cx="3095625" cy="2752725"/>
          </a:xfrm>
        </p:grpSpPr>
        <p:sp>
          <p:nvSpPr>
            <p:cNvPr id="6" name="object 6"/>
            <p:cNvSpPr/>
            <p:nvPr/>
          </p:nvSpPr>
          <p:spPr>
            <a:xfrm>
              <a:off x="411480" y="1028700"/>
              <a:ext cx="3086100" cy="2743200"/>
            </a:xfrm>
            <a:custGeom>
              <a:avLst/>
              <a:gdLst/>
              <a:ahLst/>
              <a:cxnLst/>
              <a:rect l="l" t="t" r="r" b="b"/>
              <a:pathLst>
                <a:path w="3086100" h="2743200">
                  <a:moveTo>
                    <a:pt x="3044951" y="2743199"/>
                  </a:moveTo>
                  <a:lnTo>
                    <a:pt x="41147" y="2743199"/>
                  </a:lnTo>
                  <a:lnTo>
                    <a:pt x="25131" y="2739966"/>
                  </a:lnTo>
                  <a:lnTo>
                    <a:pt x="12051" y="2731148"/>
                  </a:lnTo>
                  <a:lnTo>
                    <a:pt x="3233" y="2718068"/>
                  </a:lnTo>
                  <a:lnTo>
                    <a:pt x="0" y="2702051"/>
                  </a:lnTo>
                  <a:lnTo>
                    <a:pt x="0" y="41147"/>
                  </a:lnTo>
                  <a:lnTo>
                    <a:pt x="3233" y="25131"/>
                  </a:lnTo>
                  <a:lnTo>
                    <a:pt x="12051" y="12051"/>
                  </a:lnTo>
                  <a:lnTo>
                    <a:pt x="25131" y="3233"/>
                  </a:lnTo>
                  <a:lnTo>
                    <a:pt x="41147" y="0"/>
                  </a:lnTo>
                  <a:lnTo>
                    <a:pt x="3044951" y="0"/>
                  </a:lnTo>
                  <a:lnTo>
                    <a:pt x="3079186" y="18319"/>
                  </a:lnTo>
                  <a:lnTo>
                    <a:pt x="3086099" y="41147"/>
                  </a:lnTo>
                  <a:lnTo>
                    <a:pt x="3086099" y="2702051"/>
                  </a:lnTo>
                  <a:lnTo>
                    <a:pt x="3082866" y="2718068"/>
                  </a:lnTo>
                  <a:lnTo>
                    <a:pt x="3074048" y="2731148"/>
                  </a:lnTo>
                  <a:lnTo>
                    <a:pt x="3060968" y="2739966"/>
                  </a:lnTo>
                  <a:lnTo>
                    <a:pt x="3044951" y="2743199"/>
                  </a:lnTo>
                  <a:close/>
                </a:path>
              </a:pathLst>
            </a:custGeom>
            <a:solidFill>
              <a:srgbClr val="F4F4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11480" y="1028700"/>
              <a:ext cx="3086100" cy="2743200"/>
            </a:xfrm>
            <a:custGeom>
              <a:avLst/>
              <a:gdLst/>
              <a:ahLst/>
              <a:cxnLst/>
              <a:rect l="l" t="t" r="r" b="b"/>
              <a:pathLst>
                <a:path w="3086100" h="2743200">
                  <a:moveTo>
                    <a:pt x="0" y="41147"/>
                  </a:moveTo>
                  <a:lnTo>
                    <a:pt x="3233" y="25131"/>
                  </a:lnTo>
                  <a:lnTo>
                    <a:pt x="12051" y="12051"/>
                  </a:lnTo>
                  <a:lnTo>
                    <a:pt x="25131" y="3233"/>
                  </a:lnTo>
                  <a:lnTo>
                    <a:pt x="41147" y="0"/>
                  </a:lnTo>
                  <a:lnTo>
                    <a:pt x="3044951" y="0"/>
                  </a:lnTo>
                  <a:lnTo>
                    <a:pt x="3079186" y="18319"/>
                  </a:lnTo>
                  <a:lnTo>
                    <a:pt x="3086099" y="41147"/>
                  </a:lnTo>
                  <a:lnTo>
                    <a:pt x="3086099" y="2702051"/>
                  </a:lnTo>
                  <a:lnTo>
                    <a:pt x="3082866" y="2718068"/>
                  </a:lnTo>
                  <a:lnTo>
                    <a:pt x="3074048" y="2731148"/>
                  </a:lnTo>
                  <a:lnTo>
                    <a:pt x="3060968" y="2739966"/>
                  </a:lnTo>
                  <a:lnTo>
                    <a:pt x="3044951" y="2743199"/>
                  </a:lnTo>
                  <a:lnTo>
                    <a:pt x="41147" y="2743199"/>
                  </a:lnTo>
                  <a:lnTo>
                    <a:pt x="25131" y="2739966"/>
                  </a:lnTo>
                  <a:lnTo>
                    <a:pt x="12051" y="2731148"/>
                  </a:lnTo>
                  <a:lnTo>
                    <a:pt x="3233" y="2718068"/>
                  </a:lnTo>
                  <a:lnTo>
                    <a:pt x="0" y="2702051"/>
                  </a:lnTo>
                  <a:lnTo>
                    <a:pt x="0" y="41147"/>
                  </a:lnTo>
                  <a:close/>
                </a:path>
              </a:pathLst>
            </a:custGeom>
            <a:ln w="9524">
              <a:solidFill>
                <a:srgbClr val="E3E4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570230" y="1140459"/>
            <a:ext cx="129476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solidFill>
                  <a:srgbClr val="1A1F2B"/>
                </a:solidFill>
                <a:latin typeface="Calibri"/>
                <a:cs typeface="Calibri"/>
              </a:rPr>
              <a:t>Representation</a:t>
            </a:r>
            <a:r>
              <a:rPr dirty="0" sz="1000" spc="15" b="1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 b="1">
                <a:solidFill>
                  <a:srgbClr val="1A1F2B"/>
                </a:solidFill>
                <a:latin typeface="Calibri"/>
                <a:cs typeface="Calibri"/>
              </a:rPr>
              <a:t>ablation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0230" y="1413891"/>
            <a:ext cx="275399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i="1">
                <a:solidFill>
                  <a:srgbClr val="6B7280"/>
                </a:solidFill>
                <a:latin typeface="Calibri"/>
                <a:cs typeface="Calibri"/>
              </a:rPr>
              <a:t>The</a:t>
            </a:r>
            <a:r>
              <a:rPr dirty="0" sz="800" spc="-20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6B7280"/>
                </a:solidFill>
                <a:latin typeface="Calibri"/>
                <a:cs typeface="Calibri"/>
              </a:rPr>
              <a:t>input</a:t>
            </a:r>
            <a:r>
              <a:rPr dirty="0" sz="800" spc="-1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6B7280"/>
                </a:solidFill>
                <a:latin typeface="Calibri"/>
                <a:cs typeface="Calibri"/>
              </a:rPr>
              <a:t>side</a:t>
            </a:r>
            <a:r>
              <a:rPr dirty="0" sz="800" spc="-1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6B7280"/>
                </a:solidFill>
                <a:latin typeface="Calibri"/>
                <a:cs typeface="Calibri"/>
              </a:rPr>
              <a:t>is</a:t>
            </a:r>
            <a:r>
              <a:rPr dirty="0" sz="800" spc="-1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6B7280"/>
                </a:solidFill>
                <a:latin typeface="Calibri"/>
                <a:cs typeface="Calibri"/>
              </a:rPr>
              <a:t>the</a:t>
            </a:r>
            <a:r>
              <a:rPr dirty="0" sz="800" spc="-1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variable;</a:t>
            </a:r>
            <a:r>
              <a:rPr dirty="0" sz="800" spc="-1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everything</a:t>
            </a:r>
            <a:r>
              <a:rPr dirty="0" sz="800" spc="-20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downstream</a:t>
            </a:r>
            <a:r>
              <a:rPr dirty="0" sz="800" spc="-1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6B7280"/>
                </a:solidFill>
                <a:latin typeface="Calibri"/>
                <a:cs typeface="Calibri"/>
              </a:rPr>
              <a:t>is</a:t>
            </a:r>
            <a:r>
              <a:rPr dirty="0" sz="800" spc="-1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i="1">
                <a:solidFill>
                  <a:srgbClr val="6B7280"/>
                </a:solidFill>
                <a:latin typeface="Calibri"/>
                <a:cs typeface="Calibri"/>
              </a:rPr>
              <a:t>held</a:t>
            </a:r>
            <a:r>
              <a:rPr dirty="0" sz="800" spc="-1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spc="-10" i="1">
                <a:solidFill>
                  <a:srgbClr val="6B7280"/>
                </a:solidFill>
                <a:latin typeface="Calibri"/>
                <a:cs typeface="Calibri"/>
              </a:rPr>
              <a:t>fixed.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0230" y="1679194"/>
            <a:ext cx="146685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0" b="1">
                <a:solidFill>
                  <a:srgbClr val="2E6171"/>
                </a:solidFill>
                <a:latin typeface="Calibri"/>
                <a:cs typeface="Calibri"/>
              </a:rPr>
              <a:t>CORE</a:t>
            </a:r>
            <a:r>
              <a:rPr dirty="0" sz="700" spc="-15" b="1">
                <a:solidFill>
                  <a:srgbClr val="2E6171"/>
                </a:solidFill>
                <a:latin typeface="Calibri"/>
                <a:cs typeface="Calibri"/>
              </a:rPr>
              <a:t> </a:t>
            </a:r>
            <a:r>
              <a:rPr dirty="0" sz="700" b="1">
                <a:solidFill>
                  <a:srgbClr val="2E6171"/>
                </a:solidFill>
                <a:latin typeface="Calibri"/>
                <a:cs typeface="Calibri"/>
              </a:rPr>
              <a:t>—</a:t>
            </a:r>
            <a:r>
              <a:rPr dirty="0" sz="700" spc="-15" b="1">
                <a:solidFill>
                  <a:srgbClr val="2E6171"/>
                </a:solidFill>
                <a:latin typeface="Calibri"/>
                <a:cs typeface="Calibri"/>
              </a:rPr>
              <a:t> </a:t>
            </a:r>
            <a:r>
              <a:rPr dirty="0" sz="700" b="1">
                <a:solidFill>
                  <a:srgbClr val="2E6171"/>
                </a:solidFill>
                <a:latin typeface="Calibri"/>
                <a:cs typeface="Calibri"/>
              </a:rPr>
              <a:t>NAMED</a:t>
            </a:r>
            <a:r>
              <a:rPr dirty="0" sz="700" spc="-15" b="1">
                <a:solidFill>
                  <a:srgbClr val="2E6171"/>
                </a:solidFill>
                <a:latin typeface="Calibri"/>
                <a:cs typeface="Calibri"/>
              </a:rPr>
              <a:t> </a:t>
            </a:r>
            <a:r>
              <a:rPr dirty="0" sz="700" b="1">
                <a:solidFill>
                  <a:srgbClr val="2E6171"/>
                </a:solidFill>
                <a:latin typeface="Calibri"/>
                <a:cs typeface="Calibri"/>
              </a:rPr>
              <a:t>IN</a:t>
            </a:r>
            <a:r>
              <a:rPr dirty="0" sz="700" spc="-15" b="1">
                <a:solidFill>
                  <a:srgbClr val="2E6171"/>
                </a:solidFill>
                <a:latin typeface="Calibri"/>
                <a:cs typeface="Calibri"/>
              </a:rPr>
              <a:t> </a:t>
            </a:r>
            <a:r>
              <a:rPr dirty="0" sz="700" b="1">
                <a:solidFill>
                  <a:srgbClr val="2E6171"/>
                </a:solidFill>
                <a:latin typeface="Calibri"/>
                <a:cs typeface="Calibri"/>
              </a:rPr>
              <a:t>THE</a:t>
            </a:r>
            <a:r>
              <a:rPr dirty="0" sz="700" spc="-15" b="1">
                <a:solidFill>
                  <a:srgbClr val="2E6171"/>
                </a:solidFill>
                <a:latin typeface="Calibri"/>
                <a:cs typeface="Calibri"/>
              </a:rPr>
              <a:t> </a:t>
            </a:r>
            <a:r>
              <a:rPr dirty="0" sz="700" spc="-10" b="1">
                <a:solidFill>
                  <a:srgbClr val="2E6171"/>
                </a:solidFill>
                <a:latin typeface="Calibri"/>
                <a:cs typeface="Calibri"/>
              </a:rPr>
              <a:t>PROJECT</a:t>
            </a:r>
            <a:r>
              <a:rPr dirty="0" sz="700" spc="-15" b="1">
                <a:solidFill>
                  <a:srgbClr val="2E6171"/>
                </a:solidFill>
                <a:latin typeface="Calibri"/>
                <a:cs typeface="Calibri"/>
              </a:rPr>
              <a:t> </a:t>
            </a:r>
            <a:r>
              <a:rPr dirty="0" sz="700" spc="-10" b="1">
                <a:solidFill>
                  <a:srgbClr val="2E6171"/>
                </a:solidFill>
                <a:latin typeface="Calibri"/>
                <a:cs typeface="Calibri"/>
              </a:rPr>
              <a:t>BRIEF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4103" y="1848104"/>
            <a:ext cx="251142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2415" indent="-259715">
              <a:lnSpc>
                <a:spcPct val="100000"/>
              </a:lnSpc>
              <a:spcBef>
                <a:spcPts val="100"/>
              </a:spcBef>
              <a:buChar char="•"/>
              <a:tabLst>
                <a:tab pos="272415" algn="l"/>
              </a:tabLst>
            </a:pP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Hand-engineered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slot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features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+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regex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numerals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4103" y="2074164"/>
            <a:ext cx="168656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2415" indent="-259715">
              <a:lnSpc>
                <a:spcPct val="100000"/>
              </a:lnSpc>
              <a:spcBef>
                <a:spcPts val="100"/>
              </a:spcBef>
              <a:buChar char="•"/>
              <a:tabLst>
                <a:tab pos="272415" algn="l"/>
              </a:tabLst>
            </a:pP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Frozen</a:t>
            </a:r>
            <a:r>
              <a:rPr dirty="0" sz="9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CLIP</a:t>
            </a:r>
            <a:r>
              <a:rPr dirty="0" sz="9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text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tower</a:t>
            </a:r>
            <a:r>
              <a:rPr dirty="0" sz="9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(512-</a:t>
            </a:r>
            <a:r>
              <a:rPr dirty="0" sz="900" spc="-25">
                <a:solidFill>
                  <a:srgbClr val="1A1F2B"/>
                </a:solidFill>
                <a:latin typeface="Calibri"/>
                <a:cs typeface="Calibri"/>
              </a:rPr>
              <a:t>d)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4103" y="2300224"/>
            <a:ext cx="17665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2415" indent="-259715">
              <a:lnSpc>
                <a:spcPct val="100000"/>
              </a:lnSpc>
              <a:spcBef>
                <a:spcPts val="100"/>
              </a:spcBef>
              <a:buChar char="•"/>
              <a:tabLst>
                <a:tab pos="272415" algn="l"/>
              </a:tabLst>
            </a:pP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Frozen</a:t>
            </a:r>
            <a:r>
              <a:rPr dirty="0" sz="900" spc="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all-MiniLM-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L6-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v2</a:t>
            </a:r>
            <a:r>
              <a:rPr dirty="0" sz="900" spc="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(384-</a:t>
            </a:r>
            <a:r>
              <a:rPr dirty="0" sz="900" spc="-25">
                <a:solidFill>
                  <a:srgbClr val="1A1F2B"/>
                </a:solidFill>
                <a:latin typeface="Calibri"/>
                <a:cs typeface="Calibri"/>
              </a:rPr>
              <a:t>d)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70230" y="2776474"/>
            <a:ext cx="1068070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10" b="1">
                <a:solidFill>
                  <a:srgbClr val="E17039"/>
                </a:solidFill>
                <a:latin typeface="Calibri"/>
                <a:cs typeface="Calibri"/>
              </a:rPr>
              <a:t>ADDITIONAL</a:t>
            </a:r>
            <a:r>
              <a:rPr dirty="0" sz="700" spc="10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700" spc="-10" b="1">
                <a:solidFill>
                  <a:srgbClr val="E17039"/>
                </a:solidFill>
                <a:latin typeface="Calibri"/>
                <a:cs typeface="Calibri"/>
              </a:rPr>
              <a:t>COMPARISONS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64103" y="2945384"/>
            <a:ext cx="1967864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2415" indent="-259715">
              <a:lnSpc>
                <a:spcPct val="100000"/>
              </a:lnSpc>
              <a:spcBef>
                <a:spcPts val="100"/>
              </a:spcBef>
              <a:buChar char="•"/>
              <a:tabLst>
                <a:tab pos="272415" algn="l"/>
              </a:tabLst>
            </a:pP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TF-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IDF —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non-neural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lexical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baseline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64103" y="3171444"/>
            <a:ext cx="27146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2415" marR="5080" indent="-260350">
              <a:lnSpc>
                <a:spcPct val="100000"/>
              </a:lnSpc>
              <a:spcBef>
                <a:spcPts val="100"/>
              </a:spcBef>
              <a:buChar char="•"/>
              <a:tabLst>
                <a:tab pos="272415" algn="l"/>
              </a:tabLst>
            </a:pP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Fine-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tuned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MiniLM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—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same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model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unfrozen,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so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only</a:t>
            </a:r>
            <a:r>
              <a:rPr dirty="0" sz="900" spc="50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one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variable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changes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835717" y="1023937"/>
            <a:ext cx="4899660" cy="2752725"/>
            <a:chOff x="3835717" y="1023937"/>
            <a:chExt cx="4899660" cy="2752725"/>
          </a:xfrm>
        </p:grpSpPr>
        <p:sp>
          <p:nvSpPr>
            <p:cNvPr id="18" name="object 18"/>
            <p:cNvSpPr/>
            <p:nvPr/>
          </p:nvSpPr>
          <p:spPr>
            <a:xfrm>
              <a:off x="3840479" y="1028700"/>
              <a:ext cx="4890135" cy="2743200"/>
            </a:xfrm>
            <a:custGeom>
              <a:avLst/>
              <a:gdLst/>
              <a:ahLst/>
              <a:cxnLst/>
              <a:rect l="l" t="t" r="r" b="b"/>
              <a:pathLst>
                <a:path w="4890134" h="2743200">
                  <a:moveTo>
                    <a:pt x="4848605" y="2743199"/>
                  </a:moveTo>
                  <a:lnTo>
                    <a:pt x="41147" y="2743199"/>
                  </a:lnTo>
                  <a:lnTo>
                    <a:pt x="25131" y="2739966"/>
                  </a:lnTo>
                  <a:lnTo>
                    <a:pt x="12052" y="2731148"/>
                  </a:lnTo>
                  <a:lnTo>
                    <a:pt x="3233" y="2718068"/>
                  </a:lnTo>
                  <a:lnTo>
                    <a:pt x="0" y="2702051"/>
                  </a:lnTo>
                  <a:lnTo>
                    <a:pt x="0" y="41147"/>
                  </a:lnTo>
                  <a:lnTo>
                    <a:pt x="3233" y="25131"/>
                  </a:lnTo>
                  <a:lnTo>
                    <a:pt x="12052" y="12051"/>
                  </a:lnTo>
                  <a:lnTo>
                    <a:pt x="25131" y="3233"/>
                  </a:lnTo>
                  <a:lnTo>
                    <a:pt x="41147" y="0"/>
                  </a:lnTo>
                  <a:lnTo>
                    <a:pt x="4848605" y="0"/>
                  </a:lnTo>
                  <a:lnTo>
                    <a:pt x="4882840" y="18319"/>
                  </a:lnTo>
                  <a:lnTo>
                    <a:pt x="4889754" y="41147"/>
                  </a:lnTo>
                  <a:lnTo>
                    <a:pt x="4889754" y="2702051"/>
                  </a:lnTo>
                  <a:lnTo>
                    <a:pt x="4886520" y="2718068"/>
                  </a:lnTo>
                  <a:lnTo>
                    <a:pt x="4877702" y="2731148"/>
                  </a:lnTo>
                  <a:lnTo>
                    <a:pt x="4864622" y="2739966"/>
                  </a:lnTo>
                  <a:lnTo>
                    <a:pt x="4848605" y="2743199"/>
                  </a:lnTo>
                  <a:close/>
                </a:path>
              </a:pathLst>
            </a:custGeom>
            <a:solidFill>
              <a:srgbClr val="F6F6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3840479" y="1028700"/>
              <a:ext cx="4890135" cy="2743200"/>
            </a:xfrm>
            <a:custGeom>
              <a:avLst/>
              <a:gdLst/>
              <a:ahLst/>
              <a:cxnLst/>
              <a:rect l="l" t="t" r="r" b="b"/>
              <a:pathLst>
                <a:path w="4890134" h="2743200">
                  <a:moveTo>
                    <a:pt x="0" y="41147"/>
                  </a:moveTo>
                  <a:lnTo>
                    <a:pt x="3233" y="25131"/>
                  </a:lnTo>
                  <a:lnTo>
                    <a:pt x="12052" y="12051"/>
                  </a:lnTo>
                  <a:lnTo>
                    <a:pt x="25131" y="3233"/>
                  </a:lnTo>
                  <a:lnTo>
                    <a:pt x="41147" y="0"/>
                  </a:lnTo>
                  <a:lnTo>
                    <a:pt x="4848605" y="0"/>
                  </a:lnTo>
                  <a:lnTo>
                    <a:pt x="4882840" y="18319"/>
                  </a:lnTo>
                  <a:lnTo>
                    <a:pt x="4889754" y="41147"/>
                  </a:lnTo>
                  <a:lnTo>
                    <a:pt x="4889754" y="2702051"/>
                  </a:lnTo>
                  <a:lnTo>
                    <a:pt x="4886520" y="2718068"/>
                  </a:lnTo>
                  <a:lnTo>
                    <a:pt x="4877702" y="2731148"/>
                  </a:lnTo>
                  <a:lnTo>
                    <a:pt x="4864622" y="2739966"/>
                  </a:lnTo>
                  <a:lnTo>
                    <a:pt x="4848605" y="2743199"/>
                  </a:lnTo>
                  <a:lnTo>
                    <a:pt x="41147" y="2743199"/>
                  </a:lnTo>
                  <a:lnTo>
                    <a:pt x="25131" y="2739966"/>
                  </a:lnTo>
                  <a:lnTo>
                    <a:pt x="12052" y="2731148"/>
                  </a:lnTo>
                  <a:lnTo>
                    <a:pt x="3233" y="2718068"/>
                  </a:lnTo>
                  <a:lnTo>
                    <a:pt x="0" y="2702051"/>
                  </a:lnTo>
                  <a:lnTo>
                    <a:pt x="0" y="41147"/>
                  </a:lnTo>
                  <a:close/>
                </a:path>
              </a:pathLst>
            </a:custGeom>
            <a:ln w="9524">
              <a:solidFill>
                <a:srgbClr val="E3E4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3999230" y="1140459"/>
            <a:ext cx="146875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1A1F2B"/>
                </a:solidFill>
                <a:latin typeface="Calibri"/>
                <a:cs typeface="Calibri"/>
              </a:rPr>
              <a:t>Gated</a:t>
            </a:r>
            <a:r>
              <a:rPr dirty="0" sz="1000" spc="-20" b="1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 b="1">
                <a:solidFill>
                  <a:srgbClr val="1A1F2B"/>
                </a:solidFill>
                <a:latin typeface="Calibri"/>
                <a:cs typeface="Calibri"/>
              </a:rPr>
              <a:t>multi-</a:t>
            </a:r>
            <a:r>
              <a:rPr dirty="0" sz="1000" b="1">
                <a:solidFill>
                  <a:srgbClr val="1A1F2B"/>
                </a:solidFill>
                <a:latin typeface="Calibri"/>
                <a:cs typeface="Calibri"/>
              </a:rPr>
              <a:t>head</a:t>
            </a:r>
            <a:r>
              <a:rPr dirty="0" sz="1000" spc="-15" b="1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 b="1">
                <a:solidFill>
                  <a:srgbClr val="1A1F2B"/>
                </a:solidFill>
                <a:latin typeface="Calibri"/>
                <a:cs typeface="Calibri"/>
              </a:rPr>
              <a:t>regressor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041457" y="1435417"/>
            <a:ext cx="1449705" cy="434975"/>
            <a:chOff x="4041457" y="1435417"/>
            <a:chExt cx="1449705" cy="434975"/>
          </a:xfrm>
        </p:grpSpPr>
        <p:sp>
          <p:nvSpPr>
            <p:cNvPr id="22" name="object 22"/>
            <p:cNvSpPr/>
            <p:nvPr/>
          </p:nvSpPr>
          <p:spPr>
            <a:xfrm>
              <a:off x="4046220" y="1440180"/>
              <a:ext cx="1440180" cy="425450"/>
            </a:xfrm>
            <a:custGeom>
              <a:avLst/>
              <a:gdLst/>
              <a:ahLst/>
              <a:cxnLst/>
              <a:rect l="l" t="t" r="r" b="b"/>
              <a:pathLst>
                <a:path w="1440179" h="425450">
                  <a:moveTo>
                    <a:pt x="1399033" y="425195"/>
                  </a:moveTo>
                  <a:lnTo>
                    <a:pt x="41146" y="425195"/>
                  </a:lnTo>
                  <a:lnTo>
                    <a:pt x="25130" y="421962"/>
                  </a:lnTo>
                  <a:lnTo>
                    <a:pt x="12051" y="413144"/>
                  </a:lnTo>
                  <a:lnTo>
                    <a:pt x="3233" y="400065"/>
                  </a:lnTo>
                  <a:lnTo>
                    <a:pt x="0" y="384049"/>
                  </a:lnTo>
                  <a:lnTo>
                    <a:pt x="0" y="41146"/>
                  </a:lnTo>
                  <a:lnTo>
                    <a:pt x="3233" y="25130"/>
                  </a:lnTo>
                  <a:lnTo>
                    <a:pt x="12051" y="12051"/>
                  </a:lnTo>
                  <a:lnTo>
                    <a:pt x="25130" y="3233"/>
                  </a:lnTo>
                  <a:lnTo>
                    <a:pt x="41146" y="0"/>
                  </a:lnTo>
                  <a:lnTo>
                    <a:pt x="1399033" y="0"/>
                  </a:lnTo>
                  <a:lnTo>
                    <a:pt x="1433266" y="18318"/>
                  </a:lnTo>
                  <a:lnTo>
                    <a:pt x="1440179" y="41146"/>
                  </a:lnTo>
                  <a:lnTo>
                    <a:pt x="1440179" y="384049"/>
                  </a:lnTo>
                  <a:lnTo>
                    <a:pt x="1436946" y="400065"/>
                  </a:lnTo>
                  <a:lnTo>
                    <a:pt x="1428128" y="413144"/>
                  </a:lnTo>
                  <a:lnTo>
                    <a:pt x="1415049" y="421962"/>
                  </a:lnTo>
                  <a:lnTo>
                    <a:pt x="1399033" y="42519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046220" y="1440180"/>
              <a:ext cx="1440180" cy="425450"/>
            </a:xfrm>
            <a:custGeom>
              <a:avLst/>
              <a:gdLst/>
              <a:ahLst/>
              <a:cxnLst/>
              <a:rect l="l" t="t" r="r" b="b"/>
              <a:pathLst>
                <a:path w="1440179" h="425450">
                  <a:moveTo>
                    <a:pt x="0" y="41146"/>
                  </a:moveTo>
                  <a:lnTo>
                    <a:pt x="3233" y="25130"/>
                  </a:lnTo>
                  <a:lnTo>
                    <a:pt x="12051" y="12051"/>
                  </a:lnTo>
                  <a:lnTo>
                    <a:pt x="25130" y="3233"/>
                  </a:lnTo>
                  <a:lnTo>
                    <a:pt x="41146" y="0"/>
                  </a:lnTo>
                  <a:lnTo>
                    <a:pt x="1399033" y="0"/>
                  </a:lnTo>
                  <a:lnTo>
                    <a:pt x="1433266" y="18318"/>
                  </a:lnTo>
                  <a:lnTo>
                    <a:pt x="1440179" y="41146"/>
                  </a:lnTo>
                  <a:lnTo>
                    <a:pt x="1440179" y="384049"/>
                  </a:lnTo>
                  <a:lnTo>
                    <a:pt x="1436946" y="400065"/>
                  </a:lnTo>
                  <a:lnTo>
                    <a:pt x="1428128" y="413144"/>
                  </a:lnTo>
                  <a:lnTo>
                    <a:pt x="1415049" y="421962"/>
                  </a:lnTo>
                  <a:lnTo>
                    <a:pt x="1399033" y="425195"/>
                  </a:lnTo>
                  <a:lnTo>
                    <a:pt x="41146" y="425195"/>
                  </a:lnTo>
                  <a:lnTo>
                    <a:pt x="25130" y="421962"/>
                  </a:lnTo>
                  <a:lnTo>
                    <a:pt x="12051" y="413144"/>
                  </a:lnTo>
                  <a:lnTo>
                    <a:pt x="3233" y="400065"/>
                  </a:lnTo>
                  <a:lnTo>
                    <a:pt x="0" y="384049"/>
                  </a:lnTo>
                  <a:lnTo>
                    <a:pt x="0" y="41146"/>
                  </a:lnTo>
                  <a:close/>
                </a:path>
              </a:pathLst>
            </a:custGeom>
            <a:ln w="9524">
              <a:solidFill>
                <a:srgbClr val="E3E4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4491495" y="1566926"/>
            <a:ext cx="5492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Embedding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575349" y="1550670"/>
            <a:ext cx="16510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 b="1">
                <a:solidFill>
                  <a:srgbClr val="E17039"/>
                </a:solidFill>
                <a:latin typeface="Arial"/>
                <a:cs typeface="Arial"/>
              </a:rPr>
              <a:t>→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824537" y="1435417"/>
            <a:ext cx="1449705" cy="434975"/>
            <a:chOff x="5824537" y="1435417"/>
            <a:chExt cx="1449705" cy="434975"/>
          </a:xfrm>
        </p:grpSpPr>
        <p:sp>
          <p:nvSpPr>
            <p:cNvPr id="27" name="object 27"/>
            <p:cNvSpPr/>
            <p:nvPr/>
          </p:nvSpPr>
          <p:spPr>
            <a:xfrm>
              <a:off x="5829300" y="1440180"/>
              <a:ext cx="1440180" cy="425450"/>
            </a:xfrm>
            <a:custGeom>
              <a:avLst/>
              <a:gdLst/>
              <a:ahLst/>
              <a:cxnLst/>
              <a:rect l="l" t="t" r="r" b="b"/>
              <a:pathLst>
                <a:path w="1440179" h="425450">
                  <a:moveTo>
                    <a:pt x="1399033" y="425195"/>
                  </a:moveTo>
                  <a:lnTo>
                    <a:pt x="41145" y="425195"/>
                  </a:lnTo>
                  <a:lnTo>
                    <a:pt x="25130" y="421962"/>
                  </a:lnTo>
                  <a:lnTo>
                    <a:pt x="12051" y="413144"/>
                  </a:lnTo>
                  <a:lnTo>
                    <a:pt x="3233" y="400065"/>
                  </a:lnTo>
                  <a:lnTo>
                    <a:pt x="0" y="384049"/>
                  </a:lnTo>
                  <a:lnTo>
                    <a:pt x="0" y="41146"/>
                  </a:lnTo>
                  <a:lnTo>
                    <a:pt x="3233" y="25130"/>
                  </a:lnTo>
                  <a:lnTo>
                    <a:pt x="12051" y="12051"/>
                  </a:lnTo>
                  <a:lnTo>
                    <a:pt x="25130" y="3233"/>
                  </a:lnTo>
                  <a:lnTo>
                    <a:pt x="41145" y="0"/>
                  </a:lnTo>
                  <a:lnTo>
                    <a:pt x="1399033" y="0"/>
                  </a:lnTo>
                  <a:lnTo>
                    <a:pt x="1433267" y="18318"/>
                  </a:lnTo>
                  <a:lnTo>
                    <a:pt x="1440179" y="41146"/>
                  </a:lnTo>
                  <a:lnTo>
                    <a:pt x="1440179" y="384049"/>
                  </a:lnTo>
                  <a:lnTo>
                    <a:pt x="1436946" y="400065"/>
                  </a:lnTo>
                  <a:lnTo>
                    <a:pt x="1428128" y="413144"/>
                  </a:lnTo>
                  <a:lnTo>
                    <a:pt x="1415049" y="421962"/>
                  </a:lnTo>
                  <a:lnTo>
                    <a:pt x="1399033" y="42519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5829300" y="1440180"/>
              <a:ext cx="1440180" cy="425450"/>
            </a:xfrm>
            <a:custGeom>
              <a:avLst/>
              <a:gdLst/>
              <a:ahLst/>
              <a:cxnLst/>
              <a:rect l="l" t="t" r="r" b="b"/>
              <a:pathLst>
                <a:path w="1440179" h="425450">
                  <a:moveTo>
                    <a:pt x="0" y="41146"/>
                  </a:moveTo>
                  <a:lnTo>
                    <a:pt x="3233" y="25130"/>
                  </a:lnTo>
                  <a:lnTo>
                    <a:pt x="12051" y="12051"/>
                  </a:lnTo>
                  <a:lnTo>
                    <a:pt x="25130" y="3233"/>
                  </a:lnTo>
                  <a:lnTo>
                    <a:pt x="41145" y="0"/>
                  </a:lnTo>
                  <a:lnTo>
                    <a:pt x="1399033" y="0"/>
                  </a:lnTo>
                  <a:lnTo>
                    <a:pt x="1433267" y="18318"/>
                  </a:lnTo>
                  <a:lnTo>
                    <a:pt x="1440179" y="41146"/>
                  </a:lnTo>
                  <a:lnTo>
                    <a:pt x="1440179" y="384049"/>
                  </a:lnTo>
                  <a:lnTo>
                    <a:pt x="1436946" y="400065"/>
                  </a:lnTo>
                  <a:lnTo>
                    <a:pt x="1428128" y="413144"/>
                  </a:lnTo>
                  <a:lnTo>
                    <a:pt x="1415049" y="421962"/>
                  </a:lnTo>
                  <a:lnTo>
                    <a:pt x="1399033" y="425195"/>
                  </a:lnTo>
                  <a:lnTo>
                    <a:pt x="41145" y="425195"/>
                  </a:lnTo>
                  <a:lnTo>
                    <a:pt x="25130" y="421962"/>
                  </a:lnTo>
                  <a:lnTo>
                    <a:pt x="12051" y="413144"/>
                  </a:lnTo>
                  <a:lnTo>
                    <a:pt x="3233" y="400065"/>
                  </a:lnTo>
                  <a:lnTo>
                    <a:pt x="0" y="384049"/>
                  </a:lnTo>
                  <a:lnTo>
                    <a:pt x="0" y="41146"/>
                  </a:lnTo>
                  <a:close/>
                </a:path>
              </a:pathLst>
            </a:custGeom>
            <a:ln w="9524">
              <a:solidFill>
                <a:srgbClr val="E3E4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6260065" y="1566926"/>
            <a:ext cx="5784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Shared</a:t>
            </a:r>
            <a:r>
              <a:rPr dirty="0" sz="900" spc="-5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1A1F2B"/>
                </a:solidFill>
                <a:latin typeface="Calibri"/>
                <a:cs typeface="Calibri"/>
              </a:rPr>
              <a:t>MLP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041457" y="2052637"/>
            <a:ext cx="2272665" cy="592455"/>
            <a:chOff x="4041457" y="2052637"/>
            <a:chExt cx="2272665" cy="592455"/>
          </a:xfrm>
        </p:grpSpPr>
        <p:sp>
          <p:nvSpPr>
            <p:cNvPr id="31" name="object 31"/>
            <p:cNvSpPr/>
            <p:nvPr/>
          </p:nvSpPr>
          <p:spPr>
            <a:xfrm>
              <a:off x="4046220" y="2057400"/>
              <a:ext cx="2263140" cy="582930"/>
            </a:xfrm>
            <a:custGeom>
              <a:avLst/>
              <a:gdLst/>
              <a:ahLst/>
              <a:cxnLst/>
              <a:rect l="l" t="t" r="r" b="b"/>
              <a:pathLst>
                <a:path w="2263140" h="582930">
                  <a:moveTo>
                    <a:pt x="2221990" y="582929"/>
                  </a:moveTo>
                  <a:lnTo>
                    <a:pt x="41149" y="582929"/>
                  </a:lnTo>
                  <a:lnTo>
                    <a:pt x="25132" y="579696"/>
                  </a:lnTo>
                  <a:lnTo>
                    <a:pt x="12052" y="570877"/>
                  </a:lnTo>
                  <a:lnTo>
                    <a:pt x="3233" y="557798"/>
                  </a:lnTo>
                  <a:lnTo>
                    <a:pt x="0" y="541780"/>
                  </a:lnTo>
                  <a:lnTo>
                    <a:pt x="0" y="41148"/>
                  </a:lnTo>
                  <a:lnTo>
                    <a:pt x="3233" y="25131"/>
                  </a:lnTo>
                  <a:lnTo>
                    <a:pt x="12052" y="12052"/>
                  </a:lnTo>
                  <a:lnTo>
                    <a:pt x="25132" y="3233"/>
                  </a:lnTo>
                  <a:lnTo>
                    <a:pt x="41149" y="0"/>
                  </a:lnTo>
                  <a:lnTo>
                    <a:pt x="2221990" y="0"/>
                  </a:lnTo>
                  <a:lnTo>
                    <a:pt x="2256226" y="18319"/>
                  </a:lnTo>
                  <a:lnTo>
                    <a:pt x="2263139" y="41148"/>
                  </a:lnTo>
                  <a:lnTo>
                    <a:pt x="2263139" y="541780"/>
                  </a:lnTo>
                  <a:lnTo>
                    <a:pt x="2259906" y="557798"/>
                  </a:lnTo>
                  <a:lnTo>
                    <a:pt x="2251087" y="570877"/>
                  </a:lnTo>
                  <a:lnTo>
                    <a:pt x="2238008" y="579696"/>
                  </a:lnTo>
                  <a:lnTo>
                    <a:pt x="2221990" y="582929"/>
                  </a:lnTo>
                  <a:close/>
                </a:path>
              </a:pathLst>
            </a:custGeom>
            <a:solidFill>
              <a:srgbClr val="FCF1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4046220" y="2057400"/>
              <a:ext cx="2263140" cy="582930"/>
            </a:xfrm>
            <a:custGeom>
              <a:avLst/>
              <a:gdLst/>
              <a:ahLst/>
              <a:cxnLst/>
              <a:rect l="l" t="t" r="r" b="b"/>
              <a:pathLst>
                <a:path w="2263140" h="582930">
                  <a:moveTo>
                    <a:pt x="0" y="41148"/>
                  </a:moveTo>
                  <a:lnTo>
                    <a:pt x="3233" y="25131"/>
                  </a:lnTo>
                  <a:lnTo>
                    <a:pt x="12052" y="12052"/>
                  </a:lnTo>
                  <a:lnTo>
                    <a:pt x="25132" y="3233"/>
                  </a:lnTo>
                  <a:lnTo>
                    <a:pt x="41149" y="0"/>
                  </a:lnTo>
                  <a:lnTo>
                    <a:pt x="2221990" y="0"/>
                  </a:lnTo>
                  <a:lnTo>
                    <a:pt x="2256226" y="18319"/>
                  </a:lnTo>
                  <a:lnTo>
                    <a:pt x="2263139" y="41148"/>
                  </a:lnTo>
                  <a:lnTo>
                    <a:pt x="2263139" y="541780"/>
                  </a:lnTo>
                  <a:lnTo>
                    <a:pt x="2259906" y="557798"/>
                  </a:lnTo>
                  <a:lnTo>
                    <a:pt x="2251087" y="570877"/>
                  </a:lnTo>
                  <a:lnTo>
                    <a:pt x="2238008" y="579696"/>
                  </a:lnTo>
                  <a:lnTo>
                    <a:pt x="2221990" y="582929"/>
                  </a:lnTo>
                  <a:lnTo>
                    <a:pt x="41149" y="582929"/>
                  </a:lnTo>
                  <a:lnTo>
                    <a:pt x="25132" y="579696"/>
                  </a:lnTo>
                  <a:lnTo>
                    <a:pt x="12052" y="570877"/>
                  </a:lnTo>
                  <a:lnTo>
                    <a:pt x="3233" y="557798"/>
                  </a:lnTo>
                  <a:lnTo>
                    <a:pt x="0" y="541780"/>
                  </a:lnTo>
                  <a:lnTo>
                    <a:pt x="0" y="41148"/>
                  </a:lnTo>
                  <a:close/>
                </a:path>
              </a:pathLst>
            </a:custGeom>
            <a:ln w="9524">
              <a:solidFill>
                <a:srgbClr val="E3E4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4115816" y="2129282"/>
            <a:ext cx="71501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E17039"/>
                </a:solidFill>
                <a:latin typeface="Calibri"/>
                <a:cs typeface="Calibri"/>
              </a:rPr>
              <a:t>Presence</a:t>
            </a:r>
            <a:r>
              <a:rPr dirty="0" sz="900" spc="20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900" spc="-20" b="1">
                <a:solidFill>
                  <a:srgbClr val="E17039"/>
                </a:solidFill>
                <a:latin typeface="Calibri"/>
                <a:cs typeface="Calibri"/>
              </a:rPr>
              <a:t>head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115816" y="2356866"/>
            <a:ext cx="87185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6B7280"/>
                </a:solidFill>
                <a:latin typeface="Calibri"/>
                <a:cs typeface="Calibri"/>
              </a:rPr>
              <a:t>3</a:t>
            </a:r>
            <a:r>
              <a:rPr dirty="0" sz="800" spc="-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6B7280"/>
                </a:solidFill>
                <a:latin typeface="Calibri"/>
                <a:cs typeface="Calibri"/>
              </a:rPr>
              <a:t>sigmoids</a:t>
            </a:r>
            <a:r>
              <a:rPr dirty="0" sz="800">
                <a:solidFill>
                  <a:srgbClr val="6B7280"/>
                </a:solidFill>
                <a:latin typeface="Calibri"/>
                <a:cs typeface="Calibri"/>
              </a:rPr>
              <a:t> ·</a:t>
            </a:r>
            <a:r>
              <a:rPr dirty="0" sz="800" spc="-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6B7280"/>
                </a:solidFill>
                <a:latin typeface="Calibri"/>
                <a:cs typeface="Calibri"/>
              </a:rPr>
              <a:t>BCE </a:t>
            </a:r>
            <a:r>
              <a:rPr dirty="0" sz="800" spc="-20">
                <a:solidFill>
                  <a:srgbClr val="6B7280"/>
                </a:solidFill>
                <a:latin typeface="Calibri"/>
                <a:cs typeface="Calibri"/>
              </a:rPr>
              <a:t>loss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441757" y="2052637"/>
            <a:ext cx="2272665" cy="592455"/>
            <a:chOff x="6441757" y="2052637"/>
            <a:chExt cx="2272665" cy="592455"/>
          </a:xfrm>
        </p:grpSpPr>
        <p:sp>
          <p:nvSpPr>
            <p:cNvPr id="36" name="object 36"/>
            <p:cNvSpPr/>
            <p:nvPr/>
          </p:nvSpPr>
          <p:spPr>
            <a:xfrm>
              <a:off x="6446520" y="2057400"/>
              <a:ext cx="2263140" cy="582930"/>
            </a:xfrm>
            <a:custGeom>
              <a:avLst/>
              <a:gdLst/>
              <a:ahLst/>
              <a:cxnLst/>
              <a:rect l="l" t="t" r="r" b="b"/>
              <a:pathLst>
                <a:path w="2263140" h="582930">
                  <a:moveTo>
                    <a:pt x="2221990" y="582929"/>
                  </a:moveTo>
                  <a:lnTo>
                    <a:pt x="41149" y="582929"/>
                  </a:lnTo>
                  <a:lnTo>
                    <a:pt x="25132" y="579696"/>
                  </a:lnTo>
                  <a:lnTo>
                    <a:pt x="12052" y="570877"/>
                  </a:lnTo>
                  <a:lnTo>
                    <a:pt x="3233" y="557798"/>
                  </a:lnTo>
                  <a:lnTo>
                    <a:pt x="0" y="541780"/>
                  </a:lnTo>
                  <a:lnTo>
                    <a:pt x="0" y="41148"/>
                  </a:lnTo>
                  <a:lnTo>
                    <a:pt x="3233" y="25131"/>
                  </a:lnTo>
                  <a:lnTo>
                    <a:pt x="12052" y="12052"/>
                  </a:lnTo>
                  <a:lnTo>
                    <a:pt x="25132" y="3233"/>
                  </a:lnTo>
                  <a:lnTo>
                    <a:pt x="41149" y="0"/>
                  </a:lnTo>
                  <a:lnTo>
                    <a:pt x="2221990" y="0"/>
                  </a:lnTo>
                  <a:lnTo>
                    <a:pt x="2256226" y="18319"/>
                  </a:lnTo>
                  <a:lnTo>
                    <a:pt x="2263139" y="41148"/>
                  </a:lnTo>
                  <a:lnTo>
                    <a:pt x="2263139" y="541780"/>
                  </a:lnTo>
                  <a:lnTo>
                    <a:pt x="2259906" y="557798"/>
                  </a:lnTo>
                  <a:lnTo>
                    <a:pt x="2251087" y="570877"/>
                  </a:lnTo>
                  <a:lnTo>
                    <a:pt x="2238007" y="579696"/>
                  </a:lnTo>
                  <a:lnTo>
                    <a:pt x="2221990" y="582929"/>
                  </a:lnTo>
                  <a:close/>
                </a:path>
              </a:pathLst>
            </a:custGeom>
            <a:solidFill>
              <a:srgbClr val="FCF1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6446520" y="2057400"/>
              <a:ext cx="2263140" cy="582930"/>
            </a:xfrm>
            <a:custGeom>
              <a:avLst/>
              <a:gdLst/>
              <a:ahLst/>
              <a:cxnLst/>
              <a:rect l="l" t="t" r="r" b="b"/>
              <a:pathLst>
                <a:path w="2263140" h="582930">
                  <a:moveTo>
                    <a:pt x="0" y="41148"/>
                  </a:moveTo>
                  <a:lnTo>
                    <a:pt x="3233" y="25131"/>
                  </a:lnTo>
                  <a:lnTo>
                    <a:pt x="12052" y="12052"/>
                  </a:lnTo>
                  <a:lnTo>
                    <a:pt x="25132" y="3233"/>
                  </a:lnTo>
                  <a:lnTo>
                    <a:pt x="41149" y="0"/>
                  </a:lnTo>
                  <a:lnTo>
                    <a:pt x="2221990" y="0"/>
                  </a:lnTo>
                  <a:lnTo>
                    <a:pt x="2256226" y="18319"/>
                  </a:lnTo>
                  <a:lnTo>
                    <a:pt x="2263139" y="41148"/>
                  </a:lnTo>
                  <a:lnTo>
                    <a:pt x="2263139" y="541780"/>
                  </a:lnTo>
                  <a:lnTo>
                    <a:pt x="2259906" y="557798"/>
                  </a:lnTo>
                  <a:lnTo>
                    <a:pt x="2251087" y="570877"/>
                  </a:lnTo>
                  <a:lnTo>
                    <a:pt x="2238007" y="579696"/>
                  </a:lnTo>
                  <a:lnTo>
                    <a:pt x="2221990" y="582929"/>
                  </a:lnTo>
                  <a:lnTo>
                    <a:pt x="41149" y="582929"/>
                  </a:lnTo>
                  <a:lnTo>
                    <a:pt x="25132" y="579696"/>
                  </a:lnTo>
                  <a:lnTo>
                    <a:pt x="12052" y="570877"/>
                  </a:lnTo>
                  <a:lnTo>
                    <a:pt x="3233" y="557798"/>
                  </a:lnTo>
                  <a:lnTo>
                    <a:pt x="0" y="541780"/>
                  </a:lnTo>
                  <a:lnTo>
                    <a:pt x="0" y="41148"/>
                  </a:lnTo>
                  <a:close/>
                </a:path>
              </a:pathLst>
            </a:custGeom>
            <a:ln w="9524">
              <a:solidFill>
                <a:srgbClr val="E3E4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6516116" y="2129282"/>
            <a:ext cx="5975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0" b="1">
                <a:solidFill>
                  <a:srgbClr val="E17039"/>
                </a:solidFill>
                <a:latin typeface="Calibri"/>
                <a:cs typeface="Calibri"/>
              </a:rPr>
              <a:t>Value</a:t>
            </a:r>
            <a:r>
              <a:rPr dirty="0" sz="900" spc="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900" spc="-20" b="1">
                <a:solidFill>
                  <a:srgbClr val="E17039"/>
                </a:solidFill>
                <a:latin typeface="Calibri"/>
                <a:cs typeface="Calibri"/>
              </a:rPr>
              <a:t>heads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516116" y="2356866"/>
            <a:ext cx="93726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6B7280"/>
                </a:solidFill>
                <a:latin typeface="Calibri"/>
                <a:cs typeface="Calibri"/>
              </a:rPr>
              <a:t>(tx,ty)</a:t>
            </a:r>
            <a:r>
              <a:rPr dirty="0" sz="800" spc="-1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6B7280"/>
                </a:solidFill>
                <a:latin typeface="Calibri"/>
                <a:cs typeface="Calibri"/>
              </a:rPr>
              <a:t>·</a:t>
            </a:r>
            <a:r>
              <a:rPr dirty="0" sz="800" spc="-10">
                <a:solidFill>
                  <a:srgbClr val="6B7280"/>
                </a:solidFill>
                <a:latin typeface="Calibri"/>
                <a:cs typeface="Calibri"/>
              </a:rPr>
              <a:t> (cos,sin) </a:t>
            </a:r>
            <a:r>
              <a:rPr dirty="0" sz="800">
                <a:solidFill>
                  <a:srgbClr val="6B7280"/>
                </a:solidFill>
                <a:latin typeface="Calibri"/>
                <a:cs typeface="Calibri"/>
              </a:rPr>
              <a:t>·</a:t>
            </a:r>
            <a:r>
              <a:rPr dirty="0" sz="800" spc="-1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6B7280"/>
                </a:solidFill>
                <a:latin typeface="Calibri"/>
                <a:cs typeface="Calibri"/>
              </a:rPr>
              <a:t>log</a:t>
            </a:r>
            <a:r>
              <a:rPr dirty="0" sz="800" spc="-1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800" spc="-50">
                <a:solidFill>
                  <a:srgbClr val="6B7280"/>
                </a:solidFill>
                <a:latin typeface="Calibri"/>
                <a:cs typeface="Calibri"/>
              </a:rPr>
              <a:t>s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033520" y="2897378"/>
            <a:ext cx="426847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Because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many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instructions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omit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a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given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transform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type,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naïve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regression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is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dominated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1A1F2B"/>
                </a:solidFill>
                <a:latin typeface="Calibri"/>
                <a:cs typeface="Calibri"/>
              </a:rPr>
              <a:t>by</a:t>
            </a:r>
            <a:r>
              <a:rPr dirty="0" sz="900" spc="50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zero-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valued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targets: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model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learns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to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always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output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zero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and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error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metric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still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looks</a:t>
            </a:r>
            <a:r>
              <a:rPr dirty="0" sz="900" spc="50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excellent.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We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therefore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mask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regression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loss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to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components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instruction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actually</a:t>
            </a:r>
            <a:r>
              <a:rPr dirty="0" sz="900" spc="50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mentions.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406717" y="3904297"/>
            <a:ext cx="8328659" cy="661035"/>
            <a:chOff x="406717" y="3904297"/>
            <a:chExt cx="8328659" cy="661035"/>
          </a:xfrm>
        </p:grpSpPr>
        <p:sp>
          <p:nvSpPr>
            <p:cNvPr id="42" name="object 42"/>
            <p:cNvSpPr/>
            <p:nvPr/>
          </p:nvSpPr>
          <p:spPr>
            <a:xfrm>
              <a:off x="411480" y="3909059"/>
              <a:ext cx="8319134" cy="651510"/>
            </a:xfrm>
            <a:custGeom>
              <a:avLst/>
              <a:gdLst/>
              <a:ahLst/>
              <a:cxnLst/>
              <a:rect l="l" t="t" r="r" b="b"/>
              <a:pathLst>
                <a:path w="8319134" h="651510">
                  <a:moveTo>
                    <a:pt x="8277604" y="651509"/>
                  </a:moveTo>
                  <a:lnTo>
                    <a:pt x="41149" y="651509"/>
                  </a:lnTo>
                  <a:lnTo>
                    <a:pt x="25132" y="648276"/>
                  </a:lnTo>
                  <a:lnTo>
                    <a:pt x="12052" y="639457"/>
                  </a:lnTo>
                  <a:lnTo>
                    <a:pt x="3233" y="626377"/>
                  </a:lnTo>
                  <a:lnTo>
                    <a:pt x="0" y="610360"/>
                  </a:lnTo>
                  <a:lnTo>
                    <a:pt x="0" y="41149"/>
                  </a:lnTo>
                  <a:lnTo>
                    <a:pt x="3233" y="25132"/>
                  </a:lnTo>
                  <a:lnTo>
                    <a:pt x="12052" y="12052"/>
                  </a:lnTo>
                  <a:lnTo>
                    <a:pt x="25132" y="3233"/>
                  </a:lnTo>
                  <a:lnTo>
                    <a:pt x="41149" y="0"/>
                  </a:lnTo>
                  <a:lnTo>
                    <a:pt x="8277604" y="0"/>
                  </a:lnTo>
                  <a:lnTo>
                    <a:pt x="8311840" y="18319"/>
                  </a:lnTo>
                  <a:lnTo>
                    <a:pt x="8318754" y="41149"/>
                  </a:lnTo>
                  <a:lnTo>
                    <a:pt x="8318754" y="610360"/>
                  </a:lnTo>
                  <a:lnTo>
                    <a:pt x="8315520" y="626377"/>
                  </a:lnTo>
                  <a:lnTo>
                    <a:pt x="8306701" y="639457"/>
                  </a:lnTo>
                  <a:lnTo>
                    <a:pt x="8293621" y="648276"/>
                  </a:lnTo>
                  <a:lnTo>
                    <a:pt x="8277604" y="651509"/>
                  </a:lnTo>
                  <a:close/>
                </a:path>
              </a:pathLst>
            </a:custGeom>
            <a:solidFill>
              <a:srgbClr val="F6F1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411480" y="3909059"/>
              <a:ext cx="8319134" cy="651510"/>
            </a:xfrm>
            <a:custGeom>
              <a:avLst/>
              <a:gdLst/>
              <a:ahLst/>
              <a:cxnLst/>
              <a:rect l="l" t="t" r="r" b="b"/>
              <a:pathLst>
                <a:path w="8319134" h="651510">
                  <a:moveTo>
                    <a:pt x="0" y="41149"/>
                  </a:moveTo>
                  <a:lnTo>
                    <a:pt x="3233" y="25132"/>
                  </a:lnTo>
                  <a:lnTo>
                    <a:pt x="12052" y="12052"/>
                  </a:lnTo>
                  <a:lnTo>
                    <a:pt x="25132" y="3233"/>
                  </a:lnTo>
                  <a:lnTo>
                    <a:pt x="41149" y="0"/>
                  </a:lnTo>
                  <a:lnTo>
                    <a:pt x="8277604" y="0"/>
                  </a:lnTo>
                  <a:lnTo>
                    <a:pt x="8311840" y="18319"/>
                  </a:lnTo>
                  <a:lnTo>
                    <a:pt x="8318754" y="41149"/>
                  </a:lnTo>
                  <a:lnTo>
                    <a:pt x="8318754" y="610360"/>
                  </a:lnTo>
                  <a:lnTo>
                    <a:pt x="8315520" y="626377"/>
                  </a:lnTo>
                  <a:lnTo>
                    <a:pt x="8306701" y="639457"/>
                  </a:lnTo>
                  <a:lnTo>
                    <a:pt x="8293621" y="648276"/>
                  </a:lnTo>
                  <a:lnTo>
                    <a:pt x="8277604" y="651509"/>
                  </a:lnTo>
                  <a:lnTo>
                    <a:pt x="41149" y="651509"/>
                  </a:lnTo>
                  <a:lnTo>
                    <a:pt x="25132" y="648276"/>
                  </a:lnTo>
                  <a:lnTo>
                    <a:pt x="12052" y="639457"/>
                  </a:lnTo>
                  <a:lnTo>
                    <a:pt x="3233" y="626377"/>
                  </a:lnTo>
                  <a:lnTo>
                    <a:pt x="0" y="610360"/>
                  </a:lnTo>
                  <a:lnTo>
                    <a:pt x="0" y="41149"/>
                  </a:lnTo>
                  <a:close/>
                </a:path>
              </a:pathLst>
            </a:custGeom>
            <a:ln w="9524">
              <a:solidFill>
                <a:srgbClr val="E3E4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 txBox="1"/>
          <p:nvPr/>
        </p:nvSpPr>
        <p:spPr>
          <a:xfrm>
            <a:off x="604520" y="4078351"/>
            <a:ext cx="770572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solidFill>
                  <a:srgbClr val="1A1F2B"/>
                </a:solidFill>
                <a:latin typeface="Calibri"/>
                <a:cs typeface="Calibri"/>
              </a:rPr>
              <a:t>Central</a:t>
            </a:r>
            <a:r>
              <a:rPr dirty="0" sz="1000" spc="-25" b="1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1A1F2B"/>
                </a:solidFill>
                <a:latin typeface="Calibri"/>
                <a:cs typeface="Calibri"/>
              </a:rPr>
              <a:t>hypothesis.</a:t>
            </a:r>
            <a:r>
              <a:rPr dirty="0" sz="1000" spc="180" b="1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(RQ1)</a:t>
            </a:r>
            <a:r>
              <a:rPr dirty="0" sz="10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10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bottleneck</a:t>
            </a:r>
            <a:r>
              <a:rPr dirty="0" sz="1000" spc="-3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may</a:t>
            </a:r>
            <a:r>
              <a:rPr dirty="0" sz="10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be</a:t>
            </a:r>
            <a:r>
              <a:rPr dirty="0" sz="10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10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representation</a:t>
            </a:r>
            <a:r>
              <a:rPr dirty="0" sz="10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rather</a:t>
            </a:r>
            <a:r>
              <a:rPr dirty="0" sz="10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than</a:t>
            </a:r>
            <a:r>
              <a:rPr dirty="0" sz="10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10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head.</a:t>
            </a:r>
            <a:r>
              <a:rPr dirty="0" sz="10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Planned</a:t>
            </a:r>
            <a:r>
              <a:rPr dirty="0" sz="10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first</a:t>
            </a:r>
            <a:r>
              <a:rPr dirty="0" sz="10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experiment:</a:t>
            </a:r>
            <a:r>
              <a:rPr dirty="0" sz="10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plot</a:t>
            </a:r>
            <a:r>
              <a:rPr dirty="0" sz="10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embedding</a:t>
            </a:r>
            <a:r>
              <a:rPr dirty="0" sz="10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cosine</a:t>
            </a:r>
            <a:r>
              <a:rPr dirty="0" sz="10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distance against</a:t>
            </a:r>
            <a:r>
              <a:rPr dirty="0" sz="10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ground-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truth</a:t>
            </a:r>
            <a:r>
              <a:rPr dirty="0" sz="10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parameter</a:t>
            </a:r>
            <a:r>
              <a:rPr dirty="0" sz="10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distance.</a:t>
            </a:r>
            <a:r>
              <a:rPr dirty="0" sz="10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A weak</a:t>
            </a:r>
            <a:r>
              <a:rPr dirty="0" sz="10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correlation</a:t>
            </a:r>
            <a:r>
              <a:rPr dirty="0" sz="10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would</a:t>
            </a:r>
            <a:r>
              <a:rPr dirty="0" sz="10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indicate</a:t>
            </a:r>
            <a:r>
              <a:rPr dirty="0" sz="10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the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encoder</a:t>
            </a:r>
            <a:r>
              <a:rPr dirty="0" sz="10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collapses</a:t>
            </a:r>
            <a:r>
              <a:rPr dirty="0" sz="10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instructions</a:t>
            </a:r>
            <a:r>
              <a:rPr dirty="0" sz="10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requiring</a:t>
            </a:r>
            <a:r>
              <a:rPr dirty="0" sz="10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F2B"/>
                </a:solidFill>
                <a:latin typeface="Calibri"/>
                <a:cs typeface="Calibri"/>
              </a:rPr>
              <a:t>very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different</a:t>
            </a:r>
            <a:r>
              <a:rPr dirty="0" sz="10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F2B"/>
                </a:solidFill>
                <a:latin typeface="Calibri"/>
                <a:cs typeface="Calibri"/>
              </a:rPr>
              <a:t>outputs.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65"/>
              </a:lnSpc>
            </a:pPr>
            <a:r>
              <a:rPr dirty="0"/>
              <a:t>IE</a:t>
            </a:r>
            <a:r>
              <a:rPr dirty="0" spc="-15"/>
              <a:t> </a:t>
            </a:r>
            <a:r>
              <a:rPr dirty="0"/>
              <a:t>643</a:t>
            </a:r>
            <a:r>
              <a:rPr dirty="0" spc="-15"/>
              <a:t> </a:t>
            </a:r>
            <a:r>
              <a:rPr dirty="0" spc="-10"/>
              <a:t>Course </a:t>
            </a:r>
            <a:r>
              <a:rPr dirty="0"/>
              <a:t>Project</a:t>
            </a:r>
            <a:r>
              <a:rPr dirty="0" spc="135"/>
              <a:t> </a:t>
            </a:r>
            <a:r>
              <a:rPr dirty="0"/>
              <a:t>·</a:t>
            </a:r>
            <a:r>
              <a:rPr dirty="0" spc="140"/>
              <a:t> </a:t>
            </a:r>
            <a:r>
              <a:rPr dirty="0" spc="-20"/>
              <a:t>Team</a:t>
            </a:r>
            <a:r>
              <a:rPr dirty="0" spc="-10"/>
              <a:t> DyoOptix</a:t>
            </a:r>
          </a:p>
        </p:txBody>
      </p:sp>
      <p:sp>
        <p:nvSpPr>
          <p:cNvPr id="46" name="object 4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65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8780" y="244602"/>
            <a:ext cx="97155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E17039"/>
                </a:solidFill>
                <a:latin typeface="Calibri"/>
                <a:cs typeface="Calibri"/>
              </a:rPr>
              <a:t>BLOCK</a:t>
            </a:r>
            <a:r>
              <a:rPr dirty="0" sz="800" spc="-20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E17039"/>
                </a:solidFill>
                <a:latin typeface="Calibri"/>
                <a:cs typeface="Calibri"/>
              </a:rPr>
              <a:t>05</a:t>
            </a:r>
            <a:r>
              <a:rPr dirty="0" sz="800" spc="-1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E17039"/>
                </a:solidFill>
                <a:latin typeface="Calibri"/>
                <a:cs typeface="Calibri"/>
              </a:rPr>
              <a:t>·</a:t>
            </a:r>
            <a:r>
              <a:rPr dirty="0" sz="800" spc="-1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800" spc="-10" b="1">
                <a:solidFill>
                  <a:srgbClr val="E17039"/>
                </a:solidFill>
                <a:latin typeface="Calibri"/>
                <a:cs typeface="Calibri"/>
              </a:rPr>
              <a:t>APPROACH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4398" y="507268"/>
            <a:ext cx="158180" cy="158180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Evaluation</a:t>
            </a:r>
            <a:r>
              <a:rPr dirty="0" spc="-60"/>
              <a:t> </a:t>
            </a:r>
            <a:r>
              <a:rPr dirty="0" spc="-10"/>
              <a:t>Metrics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98780" y="989584"/>
            <a:ext cx="473138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6B7280"/>
                </a:solidFill>
                <a:latin typeface="Calibri"/>
                <a:cs typeface="Calibri"/>
              </a:rPr>
              <a:t>The</a:t>
            </a:r>
            <a:r>
              <a:rPr dirty="0" sz="1000" spc="-2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6B7280"/>
                </a:solidFill>
                <a:latin typeface="Calibri"/>
                <a:cs typeface="Calibri"/>
              </a:rPr>
              <a:t>project</a:t>
            </a:r>
            <a:r>
              <a:rPr dirty="0" sz="1000" spc="-2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B7280"/>
                </a:solidFill>
                <a:latin typeface="Calibri"/>
                <a:cs typeface="Calibri"/>
              </a:rPr>
              <a:t>brief</a:t>
            </a:r>
            <a:r>
              <a:rPr dirty="0" sz="1000" spc="-2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B7280"/>
                </a:solidFill>
                <a:latin typeface="Calibri"/>
                <a:cs typeface="Calibri"/>
              </a:rPr>
              <a:t>allows</a:t>
            </a:r>
            <a:r>
              <a:rPr dirty="0" sz="1000" spc="-2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B7280"/>
                </a:solidFill>
                <a:latin typeface="Calibri"/>
                <a:cs typeface="Calibri"/>
              </a:rPr>
              <a:t>us</a:t>
            </a:r>
            <a:r>
              <a:rPr dirty="0" sz="1000" spc="-2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B7280"/>
                </a:solidFill>
                <a:latin typeface="Calibri"/>
                <a:cs typeface="Calibri"/>
              </a:rPr>
              <a:t>to</a:t>
            </a:r>
            <a:r>
              <a:rPr dirty="0" sz="1000" spc="-2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B7280"/>
                </a:solidFill>
                <a:latin typeface="Calibri"/>
                <a:cs typeface="Calibri"/>
              </a:rPr>
              <a:t>define</a:t>
            </a:r>
            <a:r>
              <a:rPr dirty="0" sz="1000" spc="-2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B7280"/>
                </a:solidFill>
                <a:latin typeface="Calibri"/>
                <a:cs typeface="Calibri"/>
              </a:rPr>
              <a:t>our</a:t>
            </a:r>
            <a:r>
              <a:rPr dirty="0" sz="1000" spc="-2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B7280"/>
                </a:solidFill>
                <a:latin typeface="Calibri"/>
                <a:cs typeface="Calibri"/>
              </a:rPr>
              <a:t>own</a:t>
            </a:r>
            <a:r>
              <a:rPr dirty="0" sz="1000" spc="-2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B7280"/>
                </a:solidFill>
                <a:latin typeface="Calibri"/>
                <a:cs typeface="Calibri"/>
              </a:rPr>
              <a:t>metrics</a:t>
            </a:r>
            <a:r>
              <a:rPr dirty="0" sz="1000" spc="-2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6B7280"/>
                </a:solidFill>
                <a:latin typeface="Calibri"/>
                <a:cs typeface="Calibri"/>
              </a:rPr>
              <a:t>where</a:t>
            </a:r>
            <a:r>
              <a:rPr dirty="0" sz="1000" spc="-2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B7280"/>
                </a:solidFill>
                <a:latin typeface="Calibri"/>
                <a:cs typeface="Calibri"/>
              </a:rPr>
              <a:t>none</a:t>
            </a:r>
            <a:r>
              <a:rPr dirty="0" sz="1000" spc="-2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6B7280"/>
                </a:solidFill>
                <a:latin typeface="Calibri"/>
                <a:cs typeface="Calibri"/>
              </a:rPr>
              <a:t>exist.</a:t>
            </a:r>
            <a:r>
              <a:rPr dirty="0" sz="1000" spc="-2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B7280"/>
                </a:solidFill>
                <a:latin typeface="Calibri"/>
                <a:cs typeface="Calibri"/>
              </a:rPr>
              <a:t>We</a:t>
            </a:r>
            <a:r>
              <a:rPr dirty="0" sz="1000" spc="-2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6B7280"/>
                </a:solidFill>
                <a:latin typeface="Calibri"/>
                <a:cs typeface="Calibri"/>
              </a:rPr>
              <a:t>plan</a:t>
            </a:r>
            <a:r>
              <a:rPr dirty="0" sz="1000" spc="-20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6B7280"/>
                </a:solidFill>
                <a:latin typeface="Calibri"/>
                <a:cs typeface="Calibri"/>
              </a:rPr>
              <a:t>three</a:t>
            </a:r>
            <a:r>
              <a:rPr dirty="0" sz="1000" spc="-25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6B7280"/>
                </a:solidFill>
                <a:latin typeface="Calibri"/>
                <a:cs typeface="Calibri"/>
              </a:rPr>
              <a:t>tiers.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06717" y="1263967"/>
            <a:ext cx="8328659" cy="1038225"/>
            <a:chOff x="406717" y="1263967"/>
            <a:chExt cx="8328659" cy="1038225"/>
          </a:xfrm>
        </p:grpSpPr>
        <p:sp>
          <p:nvSpPr>
            <p:cNvPr id="7" name="object 7"/>
            <p:cNvSpPr/>
            <p:nvPr/>
          </p:nvSpPr>
          <p:spPr>
            <a:xfrm>
              <a:off x="411480" y="1268730"/>
              <a:ext cx="8319134" cy="1028700"/>
            </a:xfrm>
            <a:custGeom>
              <a:avLst/>
              <a:gdLst/>
              <a:ahLst/>
              <a:cxnLst/>
              <a:rect l="l" t="t" r="r" b="b"/>
              <a:pathLst>
                <a:path w="8319134" h="1028700">
                  <a:moveTo>
                    <a:pt x="8277605" y="1028699"/>
                  </a:moveTo>
                  <a:lnTo>
                    <a:pt x="41147" y="1028699"/>
                  </a:lnTo>
                  <a:lnTo>
                    <a:pt x="25131" y="1025466"/>
                  </a:lnTo>
                  <a:lnTo>
                    <a:pt x="12051" y="1016648"/>
                  </a:lnTo>
                  <a:lnTo>
                    <a:pt x="3233" y="1003568"/>
                  </a:lnTo>
                  <a:lnTo>
                    <a:pt x="0" y="987551"/>
                  </a:lnTo>
                  <a:lnTo>
                    <a:pt x="0" y="41147"/>
                  </a:lnTo>
                  <a:lnTo>
                    <a:pt x="3233" y="25131"/>
                  </a:lnTo>
                  <a:lnTo>
                    <a:pt x="12051" y="12051"/>
                  </a:lnTo>
                  <a:lnTo>
                    <a:pt x="25131" y="3233"/>
                  </a:lnTo>
                  <a:lnTo>
                    <a:pt x="41147" y="0"/>
                  </a:lnTo>
                  <a:lnTo>
                    <a:pt x="8277605" y="0"/>
                  </a:lnTo>
                  <a:lnTo>
                    <a:pt x="8311840" y="18319"/>
                  </a:lnTo>
                  <a:lnTo>
                    <a:pt x="8318754" y="41147"/>
                  </a:lnTo>
                  <a:lnTo>
                    <a:pt x="8318754" y="987551"/>
                  </a:lnTo>
                  <a:lnTo>
                    <a:pt x="8315520" y="1003568"/>
                  </a:lnTo>
                  <a:lnTo>
                    <a:pt x="8306702" y="1016648"/>
                  </a:lnTo>
                  <a:lnTo>
                    <a:pt x="8293622" y="1025466"/>
                  </a:lnTo>
                  <a:lnTo>
                    <a:pt x="8277605" y="1028699"/>
                  </a:lnTo>
                  <a:close/>
                </a:path>
              </a:pathLst>
            </a:custGeom>
            <a:solidFill>
              <a:srgbClr val="F4F4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11480" y="1268730"/>
              <a:ext cx="8319134" cy="1028700"/>
            </a:xfrm>
            <a:custGeom>
              <a:avLst/>
              <a:gdLst/>
              <a:ahLst/>
              <a:cxnLst/>
              <a:rect l="l" t="t" r="r" b="b"/>
              <a:pathLst>
                <a:path w="8319134" h="1028700">
                  <a:moveTo>
                    <a:pt x="0" y="41147"/>
                  </a:moveTo>
                  <a:lnTo>
                    <a:pt x="3233" y="25131"/>
                  </a:lnTo>
                  <a:lnTo>
                    <a:pt x="12051" y="12051"/>
                  </a:lnTo>
                  <a:lnTo>
                    <a:pt x="25131" y="3233"/>
                  </a:lnTo>
                  <a:lnTo>
                    <a:pt x="41147" y="0"/>
                  </a:lnTo>
                  <a:lnTo>
                    <a:pt x="8277605" y="0"/>
                  </a:lnTo>
                  <a:lnTo>
                    <a:pt x="8311840" y="18319"/>
                  </a:lnTo>
                  <a:lnTo>
                    <a:pt x="8318754" y="41147"/>
                  </a:lnTo>
                  <a:lnTo>
                    <a:pt x="8318754" y="987551"/>
                  </a:lnTo>
                  <a:lnTo>
                    <a:pt x="8315520" y="1003568"/>
                  </a:lnTo>
                  <a:lnTo>
                    <a:pt x="8306702" y="1016648"/>
                  </a:lnTo>
                  <a:lnTo>
                    <a:pt x="8293622" y="1025466"/>
                  </a:lnTo>
                  <a:lnTo>
                    <a:pt x="8277605" y="1028699"/>
                  </a:lnTo>
                  <a:lnTo>
                    <a:pt x="41147" y="1028699"/>
                  </a:lnTo>
                  <a:lnTo>
                    <a:pt x="25131" y="1025466"/>
                  </a:lnTo>
                  <a:lnTo>
                    <a:pt x="12051" y="1016648"/>
                  </a:lnTo>
                  <a:lnTo>
                    <a:pt x="3233" y="1003568"/>
                  </a:lnTo>
                  <a:lnTo>
                    <a:pt x="0" y="987551"/>
                  </a:lnTo>
                  <a:lnTo>
                    <a:pt x="0" y="41147"/>
                  </a:lnTo>
                  <a:close/>
                </a:path>
              </a:pathLst>
            </a:custGeom>
            <a:ln w="9524">
              <a:solidFill>
                <a:srgbClr val="E3E4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570230" y="1368044"/>
            <a:ext cx="7778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 b="1">
                <a:solidFill>
                  <a:srgbClr val="2E6171"/>
                </a:solidFill>
                <a:latin typeface="Calibri"/>
                <a:cs typeface="Calibri"/>
              </a:rPr>
              <a:t>Parameter-</a:t>
            </a:r>
            <a:r>
              <a:rPr dirty="0" sz="900" spc="-10" b="1">
                <a:solidFill>
                  <a:srgbClr val="2E6171"/>
                </a:solidFill>
                <a:latin typeface="Calibri"/>
                <a:cs typeface="Calibri"/>
              </a:rPr>
              <a:t>level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50688" y="1320546"/>
            <a:ext cx="386715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6065" indent="-253365">
              <a:lnSpc>
                <a:spcPct val="100000"/>
              </a:lnSpc>
              <a:spcBef>
                <a:spcPts val="100"/>
              </a:spcBef>
              <a:buChar char="•"/>
              <a:tabLst>
                <a:tab pos="266065" algn="l"/>
              </a:tabLst>
            </a:pP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MAE</a:t>
            </a:r>
            <a:r>
              <a:rPr dirty="0" sz="8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/</a:t>
            </a:r>
            <a:r>
              <a:rPr dirty="0" sz="8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RMSE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per</a:t>
            </a:r>
            <a:r>
              <a:rPr dirty="0" sz="8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1A1F2B"/>
                </a:solidFill>
                <a:latin typeface="Calibri"/>
                <a:cs typeface="Calibri"/>
              </a:rPr>
              <a:t>parameter,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 reported</a:t>
            </a:r>
            <a:r>
              <a:rPr dirty="0" sz="8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in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 interpretable</a:t>
            </a:r>
            <a:r>
              <a:rPr dirty="0" sz="8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units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 (pixels,</a:t>
            </a:r>
            <a:r>
              <a:rPr dirty="0" sz="8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degrees, scale</a:t>
            </a:r>
            <a:r>
              <a:rPr dirty="0" sz="8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ratio)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50688" y="1531365"/>
            <a:ext cx="3528060" cy="568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6065" indent="-253365">
              <a:lnSpc>
                <a:spcPct val="100000"/>
              </a:lnSpc>
              <a:spcBef>
                <a:spcPts val="100"/>
              </a:spcBef>
              <a:buChar char="•"/>
              <a:tabLst>
                <a:tab pos="266065" algn="l"/>
              </a:tabLst>
            </a:pP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Never</a:t>
            </a:r>
            <a:r>
              <a:rPr dirty="0" sz="8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blended</a:t>
            </a:r>
            <a:r>
              <a:rPr dirty="0" sz="8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into</a:t>
            </a:r>
            <a:r>
              <a:rPr dirty="0" sz="8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one</a:t>
            </a:r>
            <a:r>
              <a:rPr dirty="0" sz="8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number</a:t>
            </a:r>
            <a:r>
              <a:rPr dirty="0" sz="8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—</a:t>
            </a:r>
            <a:r>
              <a:rPr dirty="0" sz="8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8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units</a:t>
            </a:r>
            <a:r>
              <a:rPr dirty="0" sz="8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are</a:t>
            </a:r>
            <a:r>
              <a:rPr dirty="0" sz="8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incommensurable</a:t>
            </a:r>
            <a:endParaRPr sz="800">
              <a:latin typeface="Calibri"/>
              <a:cs typeface="Calibri"/>
            </a:endParaRPr>
          </a:p>
          <a:p>
            <a:pPr marL="266065" indent="-253365">
              <a:lnSpc>
                <a:spcPct val="100000"/>
              </a:lnSpc>
              <a:spcBef>
                <a:spcPts val="700"/>
              </a:spcBef>
              <a:buChar char="•"/>
              <a:tabLst>
                <a:tab pos="266065" algn="l"/>
              </a:tabLst>
            </a:pPr>
            <a:r>
              <a:rPr dirty="0" sz="800" spc="-20">
                <a:solidFill>
                  <a:srgbClr val="1A1F2B"/>
                </a:solidFill>
                <a:latin typeface="Calibri"/>
                <a:cs typeface="Calibri"/>
              </a:rPr>
              <a:t>Edit-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type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F1</a:t>
            </a:r>
            <a:r>
              <a:rPr dirty="0" sz="8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from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8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presence</a:t>
            </a:r>
            <a:r>
              <a:rPr dirty="0" sz="8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1A1F2B"/>
                </a:solidFill>
                <a:latin typeface="Calibri"/>
                <a:cs typeface="Calibri"/>
              </a:rPr>
              <a:t>head</a:t>
            </a:r>
            <a:endParaRPr sz="800">
              <a:latin typeface="Calibri"/>
              <a:cs typeface="Calibri"/>
            </a:endParaRPr>
          </a:p>
          <a:p>
            <a:pPr marL="266065" indent="-253365">
              <a:lnSpc>
                <a:spcPct val="100000"/>
              </a:lnSpc>
              <a:spcBef>
                <a:spcPts val="700"/>
              </a:spcBef>
              <a:buChar char="•"/>
              <a:tabLst>
                <a:tab pos="266065" algn="l"/>
              </a:tabLst>
            </a:pP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Direction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sign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 accuracy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(left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vs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right)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 reported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separately from magnitude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1A1F2B"/>
                </a:solidFill>
                <a:latin typeface="Calibri"/>
                <a:cs typeface="Calibri"/>
              </a:rPr>
              <a:t>error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06717" y="2416111"/>
            <a:ext cx="8328659" cy="935355"/>
            <a:chOff x="406717" y="2416111"/>
            <a:chExt cx="8328659" cy="935355"/>
          </a:xfrm>
        </p:grpSpPr>
        <p:sp>
          <p:nvSpPr>
            <p:cNvPr id="13" name="object 13"/>
            <p:cNvSpPr/>
            <p:nvPr/>
          </p:nvSpPr>
          <p:spPr>
            <a:xfrm>
              <a:off x="411480" y="2420873"/>
              <a:ext cx="8319134" cy="925830"/>
            </a:xfrm>
            <a:custGeom>
              <a:avLst/>
              <a:gdLst/>
              <a:ahLst/>
              <a:cxnLst/>
              <a:rect l="l" t="t" r="r" b="b"/>
              <a:pathLst>
                <a:path w="8319134" h="925829">
                  <a:moveTo>
                    <a:pt x="8277609" y="925829"/>
                  </a:moveTo>
                  <a:lnTo>
                    <a:pt x="41143" y="925829"/>
                  </a:lnTo>
                  <a:lnTo>
                    <a:pt x="25128" y="922596"/>
                  </a:lnTo>
                  <a:lnTo>
                    <a:pt x="12050" y="913779"/>
                  </a:lnTo>
                  <a:lnTo>
                    <a:pt x="3233" y="900701"/>
                  </a:lnTo>
                  <a:lnTo>
                    <a:pt x="0" y="884685"/>
                  </a:lnTo>
                  <a:lnTo>
                    <a:pt x="0" y="41143"/>
                  </a:lnTo>
                  <a:lnTo>
                    <a:pt x="3233" y="25128"/>
                  </a:lnTo>
                  <a:lnTo>
                    <a:pt x="12050" y="12050"/>
                  </a:lnTo>
                  <a:lnTo>
                    <a:pt x="25128" y="3233"/>
                  </a:lnTo>
                  <a:lnTo>
                    <a:pt x="41143" y="0"/>
                  </a:lnTo>
                  <a:lnTo>
                    <a:pt x="8277609" y="0"/>
                  </a:lnTo>
                  <a:lnTo>
                    <a:pt x="8311841" y="18317"/>
                  </a:lnTo>
                  <a:lnTo>
                    <a:pt x="8318754" y="41143"/>
                  </a:lnTo>
                  <a:lnTo>
                    <a:pt x="8318754" y="884685"/>
                  </a:lnTo>
                  <a:lnTo>
                    <a:pt x="8315521" y="900701"/>
                  </a:lnTo>
                  <a:lnTo>
                    <a:pt x="8306703" y="913779"/>
                  </a:lnTo>
                  <a:lnTo>
                    <a:pt x="8293625" y="922596"/>
                  </a:lnTo>
                  <a:lnTo>
                    <a:pt x="8277609" y="925829"/>
                  </a:lnTo>
                  <a:close/>
                </a:path>
              </a:pathLst>
            </a:custGeom>
            <a:solidFill>
              <a:srgbClr val="F4F4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11480" y="2420873"/>
              <a:ext cx="8319134" cy="925830"/>
            </a:xfrm>
            <a:custGeom>
              <a:avLst/>
              <a:gdLst/>
              <a:ahLst/>
              <a:cxnLst/>
              <a:rect l="l" t="t" r="r" b="b"/>
              <a:pathLst>
                <a:path w="8319134" h="925829">
                  <a:moveTo>
                    <a:pt x="0" y="41143"/>
                  </a:moveTo>
                  <a:lnTo>
                    <a:pt x="3233" y="25128"/>
                  </a:lnTo>
                  <a:lnTo>
                    <a:pt x="12050" y="12050"/>
                  </a:lnTo>
                  <a:lnTo>
                    <a:pt x="25128" y="3233"/>
                  </a:lnTo>
                  <a:lnTo>
                    <a:pt x="41143" y="0"/>
                  </a:lnTo>
                  <a:lnTo>
                    <a:pt x="8277609" y="0"/>
                  </a:lnTo>
                  <a:lnTo>
                    <a:pt x="8311841" y="18317"/>
                  </a:lnTo>
                  <a:lnTo>
                    <a:pt x="8318754" y="41143"/>
                  </a:lnTo>
                  <a:lnTo>
                    <a:pt x="8318754" y="884685"/>
                  </a:lnTo>
                  <a:lnTo>
                    <a:pt x="8315521" y="900701"/>
                  </a:lnTo>
                  <a:lnTo>
                    <a:pt x="8306703" y="913779"/>
                  </a:lnTo>
                  <a:lnTo>
                    <a:pt x="8293625" y="922596"/>
                  </a:lnTo>
                  <a:lnTo>
                    <a:pt x="8277609" y="925829"/>
                  </a:lnTo>
                  <a:lnTo>
                    <a:pt x="41143" y="925829"/>
                  </a:lnTo>
                  <a:lnTo>
                    <a:pt x="25128" y="922596"/>
                  </a:lnTo>
                  <a:lnTo>
                    <a:pt x="12050" y="913779"/>
                  </a:lnTo>
                  <a:lnTo>
                    <a:pt x="3233" y="900701"/>
                  </a:lnTo>
                  <a:lnTo>
                    <a:pt x="0" y="884685"/>
                  </a:lnTo>
                  <a:lnTo>
                    <a:pt x="0" y="41143"/>
                  </a:lnTo>
                  <a:close/>
                </a:path>
              </a:pathLst>
            </a:custGeom>
            <a:ln w="9524">
              <a:solidFill>
                <a:srgbClr val="E3E4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570230" y="2520188"/>
            <a:ext cx="10337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2E6171"/>
                </a:solidFill>
                <a:latin typeface="Calibri"/>
                <a:cs typeface="Calibri"/>
              </a:rPr>
              <a:t>Geometric</a:t>
            </a:r>
            <a:r>
              <a:rPr dirty="0" sz="900" spc="-5" b="1">
                <a:solidFill>
                  <a:srgbClr val="2E6171"/>
                </a:solidFill>
                <a:latin typeface="Calibri"/>
                <a:cs typeface="Calibri"/>
              </a:rPr>
              <a:t> </a:t>
            </a:r>
            <a:r>
              <a:rPr dirty="0" sz="900" b="1">
                <a:solidFill>
                  <a:srgbClr val="2E6171"/>
                </a:solidFill>
                <a:latin typeface="Calibri"/>
                <a:cs typeface="Calibri"/>
              </a:rPr>
              <a:t>/</a:t>
            </a:r>
            <a:r>
              <a:rPr dirty="0" sz="900" spc="-5" b="1">
                <a:solidFill>
                  <a:srgbClr val="2E6171"/>
                </a:solidFill>
                <a:latin typeface="Calibri"/>
                <a:cs typeface="Calibri"/>
              </a:rPr>
              <a:t> </a:t>
            </a:r>
            <a:r>
              <a:rPr dirty="0" sz="900" spc="-10" b="1">
                <a:solidFill>
                  <a:srgbClr val="2E6171"/>
                </a:solidFill>
                <a:latin typeface="Calibri"/>
                <a:cs typeface="Calibri"/>
              </a:rPr>
              <a:t>end-</a:t>
            </a:r>
            <a:r>
              <a:rPr dirty="0" sz="900" spc="-20" b="1">
                <a:solidFill>
                  <a:srgbClr val="2E6171"/>
                </a:solidFill>
                <a:latin typeface="Calibri"/>
                <a:cs typeface="Calibri"/>
              </a:rPr>
              <a:t>task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250688" y="2472690"/>
            <a:ext cx="62401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6065" marR="5080" indent="-254000">
              <a:lnSpc>
                <a:spcPct val="100000"/>
              </a:lnSpc>
              <a:spcBef>
                <a:spcPts val="100"/>
              </a:spcBef>
              <a:buChar char="•"/>
              <a:tabLst>
                <a:tab pos="266065" algn="l"/>
              </a:tabLst>
            </a:pP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Corner</a:t>
            </a:r>
            <a:r>
              <a:rPr dirty="0" sz="8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displacement: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transform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object's</a:t>
            </a:r>
            <a:r>
              <a:rPr dirty="0" sz="8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bounding-box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corners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twice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—</a:t>
            </a:r>
            <a:r>
              <a:rPr dirty="0" sz="8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once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with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predicted</a:t>
            </a:r>
            <a:r>
              <a:rPr dirty="0" sz="8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matrix,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once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with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8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true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one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—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25">
                <a:solidFill>
                  <a:srgbClr val="1A1F2B"/>
                </a:solidFill>
                <a:latin typeface="Calibri"/>
                <a:cs typeface="Calibri"/>
              </a:rPr>
              <a:t>and</a:t>
            </a:r>
            <a:r>
              <a:rPr dirty="0" sz="800" spc="500">
                <a:solidFill>
                  <a:srgbClr val="1A1F2B"/>
                </a:solidFill>
                <a:latin typeface="Calibri"/>
                <a:cs typeface="Calibri"/>
              </a:rPr>
              <a:t> 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average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distance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between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two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 results.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Dividing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by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object's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 diagonal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makes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score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independent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of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object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size.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Follows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 principle</a:t>
            </a:r>
            <a:r>
              <a:rPr dirty="0" sz="800" spc="50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used</a:t>
            </a:r>
            <a:r>
              <a:rPr dirty="0" sz="800" spc="-3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in</a:t>
            </a:r>
            <a:r>
              <a:rPr dirty="0" sz="800" spc="-3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ADD-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style</a:t>
            </a:r>
            <a:r>
              <a:rPr dirty="0" sz="800" spc="-3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pose</a:t>
            </a:r>
            <a:r>
              <a:rPr dirty="0" sz="800" spc="-3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evaluation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250688" y="2927350"/>
            <a:ext cx="600011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6065" marR="5080" indent="-254000">
              <a:lnSpc>
                <a:spcPct val="100000"/>
              </a:lnSpc>
              <a:spcBef>
                <a:spcPts val="100"/>
              </a:spcBef>
              <a:buChar char="•"/>
              <a:tabLst>
                <a:tab pos="266065" algn="l"/>
              </a:tabLst>
            </a:pP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Mask</a:t>
            </a:r>
            <a:r>
              <a:rPr dirty="0" sz="8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IoU:</a:t>
            </a:r>
            <a:r>
              <a:rPr dirty="0" sz="8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warp</a:t>
            </a:r>
            <a:r>
              <a:rPr dirty="0" sz="8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8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same</a:t>
            </a:r>
            <a:r>
              <a:rPr dirty="0" sz="8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mask</a:t>
            </a:r>
            <a:r>
              <a:rPr dirty="0" sz="8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with</a:t>
            </a:r>
            <a:r>
              <a:rPr dirty="0" sz="8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8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predicted</a:t>
            </a:r>
            <a:r>
              <a:rPr dirty="0" sz="8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matrix</a:t>
            </a:r>
            <a:r>
              <a:rPr dirty="0" sz="8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and</a:t>
            </a:r>
            <a:r>
              <a:rPr dirty="0" sz="8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with</a:t>
            </a:r>
            <a:r>
              <a:rPr dirty="0" sz="8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8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true</a:t>
            </a:r>
            <a:r>
              <a:rPr dirty="0" sz="8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matrix,</a:t>
            </a:r>
            <a:r>
              <a:rPr dirty="0" sz="8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then</a:t>
            </a:r>
            <a:r>
              <a:rPr dirty="0" sz="8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measure</a:t>
            </a:r>
            <a:r>
              <a:rPr dirty="0" sz="8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intersection</a:t>
            </a:r>
            <a:r>
              <a:rPr dirty="0" sz="8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over</a:t>
            </a:r>
            <a:r>
              <a:rPr dirty="0" sz="8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union</a:t>
            </a:r>
            <a:r>
              <a:rPr dirty="0" sz="8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between</a:t>
            </a:r>
            <a:r>
              <a:rPr dirty="0" sz="8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8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25">
                <a:solidFill>
                  <a:srgbClr val="1A1F2B"/>
                </a:solidFill>
                <a:latin typeface="Calibri"/>
                <a:cs typeface="Calibri"/>
              </a:rPr>
              <a:t>two</a:t>
            </a:r>
            <a:r>
              <a:rPr dirty="0" sz="800" spc="50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warped masks. Bounded</a:t>
            </a:r>
            <a:r>
              <a:rPr dirty="0" sz="8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in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[0,1]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and</a:t>
            </a:r>
            <a:r>
              <a:rPr dirty="0" sz="8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visually intuitive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06717" y="3465385"/>
            <a:ext cx="8328659" cy="935355"/>
            <a:chOff x="406717" y="3465385"/>
            <a:chExt cx="8328659" cy="935355"/>
          </a:xfrm>
        </p:grpSpPr>
        <p:sp>
          <p:nvSpPr>
            <p:cNvPr id="19" name="object 19"/>
            <p:cNvSpPr/>
            <p:nvPr/>
          </p:nvSpPr>
          <p:spPr>
            <a:xfrm>
              <a:off x="411480" y="3470147"/>
              <a:ext cx="8319134" cy="925830"/>
            </a:xfrm>
            <a:custGeom>
              <a:avLst/>
              <a:gdLst/>
              <a:ahLst/>
              <a:cxnLst/>
              <a:rect l="l" t="t" r="r" b="b"/>
              <a:pathLst>
                <a:path w="8319134" h="925829">
                  <a:moveTo>
                    <a:pt x="8277609" y="925829"/>
                  </a:moveTo>
                  <a:lnTo>
                    <a:pt x="41143" y="925829"/>
                  </a:lnTo>
                  <a:lnTo>
                    <a:pt x="25128" y="922596"/>
                  </a:lnTo>
                  <a:lnTo>
                    <a:pt x="12050" y="913779"/>
                  </a:lnTo>
                  <a:lnTo>
                    <a:pt x="3233" y="900701"/>
                  </a:lnTo>
                  <a:lnTo>
                    <a:pt x="0" y="884685"/>
                  </a:lnTo>
                  <a:lnTo>
                    <a:pt x="0" y="41143"/>
                  </a:lnTo>
                  <a:lnTo>
                    <a:pt x="3233" y="25128"/>
                  </a:lnTo>
                  <a:lnTo>
                    <a:pt x="12050" y="12050"/>
                  </a:lnTo>
                  <a:lnTo>
                    <a:pt x="25128" y="3233"/>
                  </a:lnTo>
                  <a:lnTo>
                    <a:pt x="41143" y="0"/>
                  </a:lnTo>
                  <a:lnTo>
                    <a:pt x="8277609" y="0"/>
                  </a:lnTo>
                  <a:lnTo>
                    <a:pt x="8311841" y="18317"/>
                  </a:lnTo>
                  <a:lnTo>
                    <a:pt x="8318754" y="41143"/>
                  </a:lnTo>
                  <a:lnTo>
                    <a:pt x="8318754" y="884685"/>
                  </a:lnTo>
                  <a:lnTo>
                    <a:pt x="8315521" y="900701"/>
                  </a:lnTo>
                  <a:lnTo>
                    <a:pt x="8306703" y="913779"/>
                  </a:lnTo>
                  <a:lnTo>
                    <a:pt x="8293625" y="922596"/>
                  </a:lnTo>
                  <a:lnTo>
                    <a:pt x="8277609" y="925829"/>
                  </a:lnTo>
                  <a:close/>
                </a:path>
              </a:pathLst>
            </a:custGeom>
            <a:solidFill>
              <a:srgbClr val="FCF1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411480" y="3470147"/>
              <a:ext cx="8319134" cy="925830"/>
            </a:xfrm>
            <a:custGeom>
              <a:avLst/>
              <a:gdLst/>
              <a:ahLst/>
              <a:cxnLst/>
              <a:rect l="l" t="t" r="r" b="b"/>
              <a:pathLst>
                <a:path w="8319134" h="925829">
                  <a:moveTo>
                    <a:pt x="0" y="41143"/>
                  </a:moveTo>
                  <a:lnTo>
                    <a:pt x="3233" y="25128"/>
                  </a:lnTo>
                  <a:lnTo>
                    <a:pt x="12050" y="12050"/>
                  </a:lnTo>
                  <a:lnTo>
                    <a:pt x="25128" y="3233"/>
                  </a:lnTo>
                  <a:lnTo>
                    <a:pt x="41143" y="0"/>
                  </a:lnTo>
                  <a:lnTo>
                    <a:pt x="8277609" y="0"/>
                  </a:lnTo>
                  <a:lnTo>
                    <a:pt x="8311841" y="18317"/>
                  </a:lnTo>
                  <a:lnTo>
                    <a:pt x="8318754" y="41143"/>
                  </a:lnTo>
                  <a:lnTo>
                    <a:pt x="8318754" y="884685"/>
                  </a:lnTo>
                  <a:lnTo>
                    <a:pt x="8315521" y="900701"/>
                  </a:lnTo>
                  <a:lnTo>
                    <a:pt x="8306703" y="913779"/>
                  </a:lnTo>
                  <a:lnTo>
                    <a:pt x="8293625" y="922596"/>
                  </a:lnTo>
                  <a:lnTo>
                    <a:pt x="8277609" y="925829"/>
                  </a:lnTo>
                  <a:lnTo>
                    <a:pt x="41143" y="925829"/>
                  </a:lnTo>
                  <a:lnTo>
                    <a:pt x="25128" y="922596"/>
                  </a:lnTo>
                  <a:lnTo>
                    <a:pt x="12050" y="913779"/>
                  </a:lnTo>
                  <a:lnTo>
                    <a:pt x="3233" y="900701"/>
                  </a:lnTo>
                  <a:lnTo>
                    <a:pt x="0" y="884685"/>
                  </a:lnTo>
                  <a:lnTo>
                    <a:pt x="0" y="41143"/>
                  </a:lnTo>
                  <a:close/>
                </a:path>
              </a:pathLst>
            </a:custGeom>
            <a:ln w="9524">
              <a:solidFill>
                <a:srgbClr val="E3E4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570230" y="3569461"/>
            <a:ext cx="77851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b="1">
                <a:solidFill>
                  <a:srgbClr val="E17039"/>
                </a:solidFill>
                <a:latin typeface="Calibri"/>
                <a:cs typeface="Calibri"/>
              </a:rPr>
              <a:t>Proposed (ours)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250688" y="3521964"/>
            <a:ext cx="621855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6065" marR="5080" indent="-254000">
              <a:lnSpc>
                <a:spcPct val="100000"/>
              </a:lnSpc>
              <a:spcBef>
                <a:spcPts val="100"/>
              </a:spcBef>
              <a:buChar char="•"/>
              <a:tabLst>
                <a:tab pos="266065" algn="l"/>
              </a:tabLst>
            </a:pP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Ordinal</a:t>
            </a:r>
            <a:r>
              <a:rPr dirty="0" sz="8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consistency</a:t>
            </a:r>
            <a:r>
              <a:rPr dirty="0" sz="8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(RQ2):</a:t>
            </a:r>
            <a:r>
              <a:rPr dirty="0" sz="8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Spearman</a:t>
            </a:r>
            <a:r>
              <a:rPr dirty="0" sz="8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correlation</a:t>
            </a:r>
            <a:r>
              <a:rPr dirty="0" sz="8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between</a:t>
            </a:r>
            <a:r>
              <a:rPr dirty="0" sz="8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adverb</a:t>
            </a:r>
            <a:r>
              <a:rPr dirty="0" sz="8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intensity</a:t>
            </a:r>
            <a:r>
              <a:rPr dirty="0" sz="8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rank</a:t>
            </a:r>
            <a:r>
              <a:rPr dirty="0" sz="8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and</a:t>
            </a:r>
            <a:r>
              <a:rPr dirty="0" sz="8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predicted</a:t>
            </a:r>
            <a:r>
              <a:rPr dirty="0" sz="8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magnitude</a:t>
            </a:r>
            <a:r>
              <a:rPr dirty="0" sz="8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—</a:t>
            </a:r>
            <a:r>
              <a:rPr dirty="0" sz="8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tests</a:t>
            </a:r>
            <a:r>
              <a:rPr dirty="0" sz="8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whether</a:t>
            </a:r>
            <a:r>
              <a:rPr dirty="0" sz="8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8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scale</a:t>
            </a:r>
            <a:r>
              <a:rPr dirty="0" sz="8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of</a:t>
            </a:r>
            <a:r>
              <a:rPr dirty="0" sz="8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language</a:t>
            </a:r>
            <a:r>
              <a:rPr dirty="0" sz="800" spc="50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was</a:t>
            </a:r>
            <a:r>
              <a:rPr dirty="0" sz="800" spc="-3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learned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250688" y="3854704"/>
            <a:ext cx="626046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6065" marR="5080" indent="-254000">
              <a:lnSpc>
                <a:spcPct val="100000"/>
              </a:lnSpc>
              <a:spcBef>
                <a:spcPts val="100"/>
              </a:spcBef>
              <a:buChar char="•"/>
              <a:tabLst>
                <a:tab pos="266065" algn="l"/>
              </a:tabLst>
            </a:pP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Normalised</a:t>
            </a:r>
            <a:r>
              <a:rPr dirty="0" sz="8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error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vs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noise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floor</a:t>
            </a:r>
            <a:r>
              <a:rPr dirty="0" sz="8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(RQ3):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model's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error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divided</a:t>
            </a:r>
            <a:r>
              <a:rPr dirty="0" sz="8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by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best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error</a:t>
            </a:r>
            <a:r>
              <a:rPr dirty="0" sz="8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achievable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given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20">
                <a:solidFill>
                  <a:srgbClr val="1A1F2B"/>
                </a:solidFill>
                <a:latin typeface="Calibri"/>
                <a:cs typeface="Calibri"/>
              </a:rPr>
              <a:t>ambiguity,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where</a:t>
            </a:r>
            <a:r>
              <a:rPr dirty="0" sz="8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that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best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predictor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is</a:t>
            </a:r>
            <a:r>
              <a:rPr dirty="0" sz="8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25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800" spc="50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conditional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median.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A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 value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near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1.0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 indicates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model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is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 approaching</a:t>
            </a:r>
            <a:r>
              <a:rPr dirty="0" sz="8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800">
                <a:solidFill>
                  <a:srgbClr val="1A1F2B"/>
                </a:solidFill>
                <a:latin typeface="Calibri"/>
                <a:cs typeface="Calibri"/>
              </a:rPr>
              <a:t>noise</a:t>
            </a:r>
            <a:r>
              <a:rPr dirty="0" sz="800" spc="-10">
                <a:solidFill>
                  <a:srgbClr val="1A1F2B"/>
                </a:solidFill>
                <a:latin typeface="Calibri"/>
                <a:cs typeface="Calibri"/>
              </a:rPr>
              <a:t> floor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98780" y="4440428"/>
            <a:ext cx="625284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 i="1">
                <a:solidFill>
                  <a:srgbClr val="6B7280"/>
                </a:solidFill>
                <a:latin typeface="Calibri"/>
                <a:cs typeface="Calibri"/>
              </a:rPr>
              <a:t>Rejected:</a:t>
            </a:r>
            <a:r>
              <a:rPr dirty="0" sz="900" spc="-1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6B7280"/>
                </a:solidFill>
                <a:latin typeface="Calibri"/>
                <a:cs typeface="Calibri"/>
              </a:rPr>
              <a:t>the</a:t>
            </a:r>
            <a:r>
              <a:rPr dirty="0" sz="900" spc="-10" i="1">
                <a:solidFill>
                  <a:srgbClr val="6B7280"/>
                </a:solidFill>
                <a:latin typeface="Calibri"/>
                <a:cs typeface="Calibri"/>
              </a:rPr>
              <a:t> Frobenius</a:t>
            </a:r>
            <a:r>
              <a:rPr dirty="0" sz="900" spc="-1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6B7280"/>
                </a:solidFill>
                <a:latin typeface="Calibri"/>
                <a:cs typeface="Calibri"/>
              </a:rPr>
              <a:t>norm</a:t>
            </a:r>
            <a:r>
              <a:rPr dirty="0" sz="900" spc="-10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6B7280"/>
                </a:solidFill>
                <a:latin typeface="Calibri"/>
                <a:cs typeface="Calibri"/>
              </a:rPr>
              <a:t>of</a:t>
            </a:r>
            <a:r>
              <a:rPr dirty="0" sz="900" spc="-1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6B7280"/>
                </a:solidFill>
                <a:latin typeface="Calibri"/>
                <a:cs typeface="Calibri"/>
              </a:rPr>
              <a:t>the</a:t>
            </a:r>
            <a:r>
              <a:rPr dirty="0" sz="900" spc="-10" i="1">
                <a:solidFill>
                  <a:srgbClr val="6B7280"/>
                </a:solidFill>
                <a:latin typeface="Calibri"/>
                <a:cs typeface="Calibri"/>
              </a:rPr>
              <a:t> matrix </a:t>
            </a:r>
            <a:r>
              <a:rPr dirty="0" sz="900" i="1">
                <a:solidFill>
                  <a:srgbClr val="6B7280"/>
                </a:solidFill>
                <a:latin typeface="Calibri"/>
                <a:cs typeface="Calibri"/>
              </a:rPr>
              <a:t>difference</a:t>
            </a:r>
            <a:r>
              <a:rPr dirty="0" sz="900" spc="-1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6B7280"/>
                </a:solidFill>
                <a:latin typeface="Calibri"/>
                <a:cs typeface="Calibri"/>
              </a:rPr>
              <a:t>—</a:t>
            </a:r>
            <a:r>
              <a:rPr dirty="0" sz="900" spc="-10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6B7280"/>
                </a:solidFill>
                <a:latin typeface="Calibri"/>
                <a:cs typeface="Calibri"/>
              </a:rPr>
              <a:t>it</a:t>
            </a:r>
            <a:r>
              <a:rPr dirty="0" sz="900" spc="-1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spc="-10" i="1">
                <a:solidFill>
                  <a:srgbClr val="6B7280"/>
                </a:solidFill>
                <a:latin typeface="Calibri"/>
                <a:cs typeface="Calibri"/>
              </a:rPr>
              <a:t>mixes translation, rotation</a:t>
            </a:r>
            <a:r>
              <a:rPr dirty="0" sz="900" spc="-1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6B7280"/>
                </a:solidFill>
                <a:latin typeface="Calibri"/>
                <a:cs typeface="Calibri"/>
              </a:rPr>
              <a:t>and</a:t>
            </a:r>
            <a:r>
              <a:rPr dirty="0" sz="900" spc="-10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6B7280"/>
                </a:solidFill>
                <a:latin typeface="Calibri"/>
                <a:cs typeface="Calibri"/>
              </a:rPr>
              <a:t>scale</a:t>
            </a:r>
            <a:r>
              <a:rPr dirty="0" sz="900" spc="-1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6B7280"/>
                </a:solidFill>
                <a:latin typeface="Calibri"/>
                <a:cs typeface="Calibri"/>
              </a:rPr>
              <a:t>units</a:t>
            </a:r>
            <a:r>
              <a:rPr dirty="0" sz="900" spc="-10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6B7280"/>
                </a:solidFill>
                <a:latin typeface="Calibri"/>
                <a:cs typeface="Calibri"/>
              </a:rPr>
              <a:t>into</a:t>
            </a:r>
            <a:r>
              <a:rPr dirty="0" sz="900" spc="-15" i="1">
                <a:solidFill>
                  <a:srgbClr val="6B7280"/>
                </a:solidFill>
                <a:latin typeface="Calibri"/>
                <a:cs typeface="Calibri"/>
              </a:rPr>
              <a:t> </a:t>
            </a:r>
            <a:r>
              <a:rPr dirty="0" sz="900" i="1">
                <a:solidFill>
                  <a:srgbClr val="6B7280"/>
                </a:solidFill>
                <a:latin typeface="Calibri"/>
                <a:cs typeface="Calibri"/>
              </a:rPr>
              <a:t>one</a:t>
            </a:r>
            <a:r>
              <a:rPr dirty="0" sz="900" spc="-10" i="1">
                <a:solidFill>
                  <a:srgbClr val="6B7280"/>
                </a:solidFill>
                <a:latin typeface="Calibri"/>
                <a:cs typeface="Calibri"/>
              </a:rPr>
              <a:t> uninterpretable quantity.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65"/>
              </a:lnSpc>
            </a:pPr>
            <a:r>
              <a:rPr dirty="0"/>
              <a:t>IE</a:t>
            </a:r>
            <a:r>
              <a:rPr dirty="0" spc="-15"/>
              <a:t> </a:t>
            </a:r>
            <a:r>
              <a:rPr dirty="0"/>
              <a:t>643</a:t>
            </a:r>
            <a:r>
              <a:rPr dirty="0" spc="-15"/>
              <a:t> </a:t>
            </a:r>
            <a:r>
              <a:rPr dirty="0" spc="-10"/>
              <a:t>Course </a:t>
            </a:r>
            <a:r>
              <a:rPr dirty="0"/>
              <a:t>Project</a:t>
            </a:r>
            <a:r>
              <a:rPr dirty="0" spc="135"/>
              <a:t> </a:t>
            </a:r>
            <a:r>
              <a:rPr dirty="0"/>
              <a:t>·</a:t>
            </a:r>
            <a:r>
              <a:rPr dirty="0" spc="140"/>
              <a:t> </a:t>
            </a:r>
            <a:r>
              <a:rPr dirty="0" spc="-20"/>
              <a:t>Team</a:t>
            </a:r>
            <a:r>
              <a:rPr dirty="0" spc="-10"/>
              <a:t> DyoOptix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65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8780" y="244602"/>
            <a:ext cx="97155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E17039"/>
                </a:solidFill>
                <a:latin typeface="Calibri"/>
                <a:cs typeface="Calibri"/>
              </a:rPr>
              <a:t>BLOCK</a:t>
            </a:r>
            <a:r>
              <a:rPr dirty="0" sz="800" spc="-20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E17039"/>
                </a:solidFill>
                <a:latin typeface="Calibri"/>
                <a:cs typeface="Calibri"/>
              </a:rPr>
              <a:t>05</a:t>
            </a:r>
            <a:r>
              <a:rPr dirty="0" sz="800" spc="-1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800" b="1">
                <a:solidFill>
                  <a:srgbClr val="E17039"/>
                </a:solidFill>
                <a:latin typeface="Calibri"/>
                <a:cs typeface="Calibri"/>
              </a:rPr>
              <a:t>·</a:t>
            </a:r>
            <a:r>
              <a:rPr dirty="0" sz="800" spc="-1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800" spc="-10" b="1">
                <a:solidFill>
                  <a:srgbClr val="E17039"/>
                </a:solidFill>
                <a:latin typeface="Calibri"/>
                <a:cs typeface="Calibri"/>
              </a:rPr>
              <a:t>APPROACH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4398" y="507268"/>
            <a:ext cx="158180" cy="158180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Ablation,</a:t>
            </a:r>
            <a:r>
              <a:rPr dirty="0" spc="-65"/>
              <a:t> </a:t>
            </a:r>
            <a:r>
              <a:rPr dirty="0" spc="-20"/>
              <a:t>Failure</a:t>
            </a:r>
            <a:r>
              <a:rPr dirty="0" spc="-60"/>
              <a:t> </a:t>
            </a:r>
            <a:r>
              <a:rPr dirty="0" spc="-10"/>
              <a:t>Analysis</a:t>
            </a:r>
            <a:r>
              <a:rPr dirty="0" spc="-65"/>
              <a:t> </a:t>
            </a:r>
            <a:r>
              <a:rPr dirty="0"/>
              <a:t>&amp;</a:t>
            </a:r>
            <a:r>
              <a:rPr dirty="0" spc="-60"/>
              <a:t> </a:t>
            </a:r>
            <a:r>
              <a:rPr dirty="0" spc="-10"/>
              <a:t>Qualitative</a:t>
            </a:r>
            <a:r>
              <a:rPr dirty="0" spc="-65"/>
              <a:t> </a:t>
            </a:r>
            <a:r>
              <a:rPr dirty="0" spc="-10"/>
              <a:t>Results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406717" y="1023937"/>
            <a:ext cx="4032250" cy="3472815"/>
            <a:chOff x="406717" y="1023937"/>
            <a:chExt cx="4032250" cy="3472815"/>
          </a:xfrm>
        </p:grpSpPr>
        <p:sp>
          <p:nvSpPr>
            <p:cNvPr id="6" name="object 6"/>
            <p:cNvSpPr/>
            <p:nvPr/>
          </p:nvSpPr>
          <p:spPr>
            <a:xfrm>
              <a:off x="411480" y="1028700"/>
              <a:ext cx="4022725" cy="3463290"/>
            </a:xfrm>
            <a:custGeom>
              <a:avLst/>
              <a:gdLst/>
              <a:ahLst/>
              <a:cxnLst/>
              <a:rect l="l" t="t" r="r" b="b"/>
              <a:pathLst>
                <a:path w="4022725" h="3463290">
                  <a:moveTo>
                    <a:pt x="3981072" y="3463289"/>
                  </a:moveTo>
                  <a:lnTo>
                    <a:pt x="41143" y="3463289"/>
                  </a:lnTo>
                  <a:lnTo>
                    <a:pt x="25128" y="3460056"/>
                  </a:lnTo>
                  <a:lnTo>
                    <a:pt x="12050" y="3451239"/>
                  </a:lnTo>
                  <a:lnTo>
                    <a:pt x="3233" y="3438161"/>
                  </a:lnTo>
                  <a:lnTo>
                    <a:pt x="0" y="3422145"/>
                  </a:lnTo>
                  <a:lnTo>
                    <a:pt x="0" y="41143"/>
                  </a:lnTo>
                  <a:lnTo>
                    <a:pt x="3233" y="25128"/>
                  </a:lnTo>
                  <a:lnTo>
                    <a:pt x="12050" y="12050"/>
                  </a:lnTo>
                  <a:lnTo>
                    <a:pt x="25128" y="3233"/>
                  </a:lnTo>
                  <a:lnTo>
                    <a:pt x="41143" y="0"/>
                  </a:lnTo>
                  <a:lnTo>
                    <a:pt x="3981072" y="0"/>
                  </a:lnTo>
                  <a:lnTo>
                    <a:pt x="4015304" y="18317"/>
                  </a:lnTo>
                  <a:lnTo>
                    <a:pt x="4022216" y="41143"/>
                  </a:lnTo>
                  <a:lnTo>
                    <a:pt x="4022216" y="3422145"/>
                  </a:lnTo>
                  <a:lnTo>
                    <a:pt x="4018983" y="3438161"/>
                  </a:lnTo>
                  <a:lnTo>
                    <a:pt x="4010166" y="3451239"/>
                  </a:lnTo>
                  <a:lnTo>
                    <a:pt x="3997088" y="3460056"/>
                  </a:lnTo>
                  <a:lnTo>
                    <a:pt x="3981072" y="3463289"/>
                  </a:lnTo>
                  <a:close/>
                </a:path>
              </a:pathLst>
            </a:custGeom>
            <a:solidFill>
              <a:srgbClr val="F4F4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11480" y="1028700"/>
              <a:ext cx="4022725" cy="3463290"/>
            </a:xfrm>
            <a:custGeom>
              <a:avLst/>
              <a:gdLst/>
              <a:ahLst/>
              <a:cxnLst/>
              <a:rect l="l" t="t" r="r" b="b"/>
              <a:pathLst>
                <a:path w="4022725" h="3463290">
                  <a:moveTo>
                    <a:pt x="0" y="41143"/>
                  </a:moveTo>
                  <a:lnTo>
                    <a:pt x="3233" y="25128"/>
                  </a:lnTo>
                  <a:lnTo>
                    <a:pt x="12050" y="12050"/>
                  </a:lnTo>
                  <a:lnTo>
                    <a:pt x="25128" y="3233"/>
                  </a:lnTo>
                  <a:lnTo>
                    <a:pt x="41143" y="0"/>
                  </a:lnTo>
                  <a:lnTo>
                    <a:pt x="3981072" y="0"/>
                  </a:lnTo>
                  <a:lnTo>
                    <a:pt x="4015304" y="18317"/>
                  </a:lnTo>
                  <a:lnTo>
                    <a:pt x="4022216" y="41143"/>
                  </a:lnTo>
                  <a:lnTo>
                    <a:pt x="4022216" y="3422145"/>
                  </a:lnTo>
                  <a:lnTo>
                    <a:pt x="4018983" y="3438161"/>
                  </a:lnTo>
                  <a:lnTo>
                    <a:pt x="4010166" y="3451239"/>
                  </a:lnTo>
                  <a:lnTo>
                    <a:pt x="3997088" y="3460056"/>
                  </a:lnTo>
                  <a:lnTo>
                    <a:pt x="3981072" y="3463289"/>
                  </a:lnTo>
                  <a:lnTo>
                    <a:pt x="41143" y="3463289"/>
                  </a:lnTo>
                  <a:lnTo>
                    <a:pt x="25128" y="3460056"/>
                  </a:lnTo>
                  <a:lnTo>
                    <a:pt x="12050" y="3451239"/>
                  </a:lnTo>
                  <a:lnTo>
                    <a:pt x="3233" y="3438161"/>
                  </a:lnTo>
                  <a:lnTo>
                    <a:pt x="0" y="3422145"/>
                  </a:lnTo>
                  <a:lnTo>
                    <a:pt x="0" y="41143"/>
                  </a:lnTo>
                  <a:close/>
                </a:path>
              </a:pathLst>
            </a:custGeom>
            <a:ln w="9524">
              <a:solidFill>
                <a:srgbClr val="E3E4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590804" y="1147317"/>
            <a:ext cx="121602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solidFill>
                  <a:srgbClr val="1A1F2B"/>
                </a:solidFill>
                <a:latin typeface="Calibri"/>
                <a:cs typeface="Calibri"/>
              </a:rPr>
              <a:t>Ablation</a:t>
            </a:r>
            <a:r>
              <a:rPr dirty="0" sz="1000" spc="5" b="1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1A1F2B"/>
                </a:solidFill>
                <a:latin typeface="Calibri"/>
                <a:cs typeface="Calibri"/>
              </a:rPr>
              <a:t>&amp;</a:t>
            </a:r>
            <a:r>
              <a:rPr dirty="0" sz="1000" spc="5" b="1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1000" spc="-10" b="1">
                <a:solidFill>
                  <a:srgbClr val="1A1F2B"/>
                </a:solidFill>
                <a:latin typeface="Calibri"/>
                <a:cs typeface="Calibri"/>
              </a:rPr>
              <a:t>breakdown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0804" y="1388617"/>
            <a:ext cx="3613150" cy="957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Vary</a:t>
            </a:r>
            <a:r>
              <a:rPr dirty="0" sz="9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text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representation,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hold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regression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head</a:t>
            </a:r>
            <a:r>
              <a:rPr dirty="0" sz="9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fixed,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and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report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every</a:t>
            </a:r>
            <a:r>
              <a:rPr dirty="0" sz="900" spc="50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result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broken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down:</a:t>
            </a:r>
            <a:endParaRPr sz="900">
              <a:latin typeface="Calibri"/>
              <a:cs typeface="Calibri"/>
            </a:endParaRPr>
          </a:p>
          <a:p>
            <a:pPr marL="266065" indent="-247015">
              <a:lnSpc>
                <a:spcPct val="100000"/>
              </a:lnSpc>
              <a:spcBef>
                <a:spcPts val="540"/>
              </a:spcBef>
              <a:buChar char="•"/>
              <a:tabLst>
                <a:tab pos="266065" algn="l"/>
              </a:tabLst>
            </a:pP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By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edit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type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—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translation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/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rotation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/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scale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/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composite</a:t>
            </a:r>
            <a:endParaRPr sz="900">
              <a:latin typeface="Calibri"/>
              <a:cs typeface="Calibri"/>
            </a:endParaRPr>
          </a:p>
          <a:p>
            <a:pPr marL="266065" indent="-247015">
              <a:lnSpc>
                <a:spcPct val="100000"/>
              </a:lnSpc>
              <a:spcBef>
                <a:spcPts val="700"/>
              </a:spcBef>
              <a:buChar char="•"/>
              <a:tabLst>
                <a:tab pos="266065" algn="l"/>
              </a:tabLst>
            </a:pP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By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magnitude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—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explicit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/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small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/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medium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/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large</a:t>
            </a:r>
            <a:endParaRPr sz="900">
              <a:latin typeface="Calibri"/>
              <a:cs typeface="Calibri"/>
            </a:endParaRPr>
          </a:p>
          <a:p>
            <a:pPr marL="266065" indent="-247015">
              <a:lnSpc>
                <a:spcPct val="100000"/>
              </a:lnSpc>
              <a:spcBef>
                <a:spcPts val="700"/>
              </a:spcBef>
              <a:buChar char="•"/>
              <a:tabLst>
                <a:tab pos="266065" algn="l"/>
              </a:tabLst>
            </a:pP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By</a:t>
            </a:r>
            <a:r>
              <a:rPr dirty="0" sz="9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split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—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seen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vs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unseen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instructions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0804" y="2587498"/>
            <a:ext cx="152971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solidFill>
                  <a:srgbClr val="E17039"/>
                </a:solidFill>
                <a:latin typeface="Calibri"/>
                <a:cs typeface="Calibri"/>
              </a:rPr>
              <a:t>Failure</a:t>
            </a:r>
            <a:r>
              <a:rPr dirty="0" sz="1000" spc="-2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E17039"/>
                </a:solidFill>
                <a:latin typeface="Calibri"/>
                <a:cs typeface="Calibri"/>
              </a:rPr>
              <a:t>cases</a:t>
            </a:r>
            <a:r>
              <a:rPr dirty="0" sz="1000" spc="-2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E17039"/>
                </a:solidFill>
                <a:latin typeface="Calibri"/>
                <a:cs typeface="Calibri"/>
              </a:rPr>
              <a:t>we</a:t>
            </a:r>
            <a:r>
              <a:rPr dirty="0" sz="1000" spc="-2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E17039"/>
                </a:solidFill>
                <a:latin typeface="Calibri"/>
                <a:cs typeface="Calibri"/>
              </a:rPr>
              <a:t>will</a:t>
            </a:r>
            <a:r>
              <a:rPr dirty="0" sz="1000" spc="-2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E17039"/>
                </a:solidFill>
                <a:latin typeface="Calibri"/>
                <a:cs typeface="Calibri"/>
              </a:rPr>
              <a:t>look</a:t>
            </a:r>
            <a:r>
              <a:rPr dirty="0" sz="1000" spc="-25" b="1">
                <a:solidFill>
                  <a:srgbClr val="E17039"/>
                </a:solidFill>
                <a:latin typeface="Calibri"/>
                <a:cs typeface="Calibri"/>
              </a:rPr>
              <a:t> for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97377" y="2794508"/>
            <a:ext cx="20586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9715" indent="-247015">
              <a:lnSpc>
                <a:spcPct val="100000"/>
              </a:lnSpc>
              <a:spcBef>
                <a:spcPts val="100"/>
              </a:spcBef>
              <a:buChar char="•"/>
              <a:tabLst>
                <a:tab pos="259715" algn="l"/>
              </a:tabLst>
            </a:pP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Sign</a:t>
            </a:r>
            <a:r>
              <a:rPr dirty="0" sz="900" spc="-3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flips</a:t>
            </a:r>
            <a:r>
              <a:rPr dirty="0" sz="900" spc="-3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—</a:t>
            </a:r>
            <a:r>
              <a:rPr dirty="0" sz="900" spc="-3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moves</a:t>
            </a:r>
            <a:r>
              <a:rPr dirty="0" sz="900" spc="-3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right</a:t>
            </a:r>
            <a:r>
              <a:rPr dirty="0" sz="900" spc="-3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when</a:t>
            </a:r>
            <a:r>
              <a:rPr dirty="0" sz="900" spc="-3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told</a:t>
            </a:r>
            <a:r>
              <a:rPr dirty="0" sz="900" spc="-3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left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7377" y="3020568"/>
            <a:ext cx="289814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9715" indent="-247015">
              <a:lnSpc>
                <a:spcPct val="100000"/>
              </a:lnSpc>
              <a:spcBef>
                <a:spcPts val="100"/>
              </a:spcBef>
              <a:buChar char="•"/>
              <a:tabLst>
                <a:tab pos="259715" algn="l"/>
              </a:tabLst>
            </a:pP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Magnitude collapse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—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every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prediction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near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average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7377" y="3246627"/>
            <a:ext cx="265811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9715" indent="-247015">
              <a:lnSpc>
                <a:spcPct val="100000"/>
              </a:lnSpc>
              <a:spcBef>
                <a:spcPts val="100"/>
              </a:spcBef>
              <a:buChar char="•"/>
              <a:tabLst>
                <a:tab pos="259715" algn="l"/>
              </a:tabLst>
            </a:pP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Composite instructions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—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only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first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edit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applied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97377" y="3472688"/>
            <a:ext cx="3205480" cy="388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9715" indent="-247015">
              <a:lnSpc>
                <a:spcPct val="100000"/>
              </a:lnSpc>
              <a:spcBef>
                <a:spcPts val="100"/>
              </a:spcBef>
              <a:buChar char="•"/>
              <a:tabLst>
                <a:tab pos="259715" algn="l"/>
              </a:tabLst>
            </a:pP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Negation ignored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—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"don't rotate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it"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still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rotates</a:t>
            </a:r>
            <a:endParaRPr sz="900">
              <a:latin typeface="Calibri"/>
              <a:cs typeface="Calibri"/>
            </a:endParaRPr>
          </a:p>
          <a:p>
            <a:pPr marL="259715" indent="-247015">
              <a:lnSpc>
                <a:spcPct val="100000"/>
              </a:lnSpc>
              <a:spcBef>
                <a:spcPts val="700"/>
              </a:spcBef>
              <a:buChar char="•"/>
              <a:tabLst>
                <a:tab pos="259715" algn="l"/>
              </a:tabLst>
            </a:pP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Explicit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numbers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ignored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—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"by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45°"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treated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as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a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generic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rotate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703254" y="1023937"/>
            <a:ext cx="4032250" cy="3472815"/>
            <a:chOff x="4703254" y="1023937"/>
            <a:chExt cx="4032250" cy="3472815"/>
          </a:xfrm>
        </p:grpSpPr>
        <p:sp>
          <p:nvSpPr>
            <p:cNvPr id="16" name="object 16"/>
            <p:cNvSpPr/>
            <p:nvPr/>
          </p:nvSpPr>
          <p:spPr>
            <a:xfrm>
              <a:off x="4708017" y="1028700"/>
              <a:ext cx="4022725" cy="3463290"/>
            </a:xfrm>
            <a:custGeom>
              <a:avLst/>
              <a:gdLst/>
              <a:ahLst/>
              <a:cxnLst/>
              <a:rect l="l" t="t" r="r" b="b"/>
              <a:pathLst>
                <a:path w="4022725" h="3463290">
                  <a:moveTo>
                    <a:pt x="3981072" y="3463289"/>
                  </a:moveTo>
                  <a:lnTo>
                    <a:pt x="41143" y="3463289"/>
                  </a:lnTo>
                  <a:lnTo>
                    <a:pt x="25128" y="3460056"/>
                  </a:lnTo>
                  <a:lnTo>
                    <a:pt x="12050" y="3451239"/>
                  </a:lnTo>
                  <a:lnTo>
                    <a:pt x="3233" y="3438161"/>
                  </a:lnTo>
                  <a:lnTo>
                    <a:pt x="0" y="3422145"/>
                  </a:lnTo>
                  <a:lnTo>
                    <a:pt x="0" y="41143"/>
                  </a:lnTo>
                  <a:lnTo>
                    <a:pt x="3233" y="25128"/>
                  </a:lnTo>
                  <a:lnTo>
                    <a:pt x="12050" y="12050"/>
                  </a:lnTo>
                  <a:lnTo>
                    <a:pt x="25128" y="3233"/>
                  </a:lnTo>
                  <a:lnTo>
                    <a:pt x="41143" y="0"/>
                  </a:lnTo>
                  <a:lnTo>
                    <a:pt x="3981072" y="0"/>
                  </a:lnTo>
                  <a:lnTo>
                    <a:pt x="4015304" y="18317"/>
                  </a:lnTo>
                  <a:lnTo>
                    <a:pt x="4022217" y="41143"/>
                  </a:lnTo>
                  <a:lnTo>
                    <a:pt x="4022217" y="3422145"/>
                  </a:lnTo>
                  <a:lnTo>
                    <a:pt x="4018983" y="3438161"/>
                  </a:lnTo>
                  <a:lnTo>
                    <a:pt x="4010166" y="3451239"/>
                  </a:lnTo>
                  <a:lnTo>
                    <a:pt x="3997087" y="3460056"/>
                  </a:lnTo>
                  <a:lnTo>
                    <a:pt x="3981072" y="3463289"/>
                  </a:lnTo>
                  <a:close/>
                </a:path>
              </a:pathLst>
            </a:custGeom>
            <a:solidFill>
              <a:srgbClr val="FCF1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708017" y="1028700"/>
              <a:ext cx="4022725" cy="3463290"/>
            </a:xfrm>
            <a:custGeom>
              <a:avLst/>
              <a:gdLst/>
              <a:ahLst/>
              <a:cxnLst/>
              <a:rect l="l" t="t" r="r" b="b"/>
              <a:pathLst>
                <a:path w="4022725" h="3463290">
                  <a:moveTo>
                    <a:pt x="0" y="41143"/>
                  </a:moveTo>
                  <a:lnTo>
                    <a:pt x="3233" y="25128"/>
                  </a:lnTo>
                  <a:lnTo>
                    <a:pt x="12050" y="12050"/>
                  </a:lnTo>
                  <a:lnTo>
                    <a:pt x="25128" y="3233"/>
                  </a:lnTo>
                  <a:lnTo>
                    <a:pt x="41143" y="0"/>
                  </a:lnTo>
                  <a:lnTo>
                    <a:pt x="3981072" y="0"/>
                  </a:lnTo>
                  <a:lnTo>
                    <a:pt x="4015304" y="18317"/>
                  </a:lnTo>
                  <a:lnTo>
                    <a:pt x="4022217" y="41143"/>
                  </a:lnTo>
                  <a:lnTo>
                    <a:pt x="4022217" y="3422145"/>
                  </a:lnTo>
                  <a:lnTo>
                    <a:pt x="4018983" y="3438161"/>
                  </a:lnTo>
                  <a:lnTo>
                    <a:pt x="4010166" y="3451239"/>
                  </a:lnTo>
                  <a:lnTo>
                    <a:pt x="3997087" y="3460056"/>
                  </a:lnTo>
                  <a:lnTo>
                    <a:pt x="3981072" y="3463289"/>
                  </a:lnTo>
                  <a:lnTo>
                    <a:pt x="41143" y="3463289"/>
                  </a:lnTo>
                  <a:lnTo>
                    <a:pt x="25128" y="3460056"/>
                  </a:lnTo>
                  <a:lnTo>
                    <a:pt x="12050" y="3451239"/>
                  </a:lnTo>
                  <a:lnTo>
                    <a:pt x="3233" y="3438161"/>
                  </a:lnTo>
                  <a:lnTo>
                    <a:pt x="0" y="3422145"/>
                  </a:lnTo>
                  <a:lnTo>
                    <a:pt x="0" y="41143"/>
                  </a:lnTo>
                  <a:close/>
                </a:path>
              </a:pathLst>
            </a:custGeom>
            <a:ln w="9524">
              <a:solidFill>
                <a:srgbClr val="E3E4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4887341" y="1147317"/>
            <a:ext cx="98806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solidFill>
                  <a:srgbClr val="E17039"/>
                </a:solidFill>
                <a:latin typeface="Calibri"/>
                <a:cs typeface="Calibri"/>
              </a:rPr>
              <a:t>Qualitative</a:t>
            </a:r>
            <a:r>
              <a:rPr dirty="0" sz="1000" spc="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1000" spc="-10" b="1">
                <a:solidFill>
                  <a:srgbClr val="E17039"/>
                </a:solidFill>
                <a:latin typeface="Calibri"/>
                <a:cs typeface="Calibri"/>
              </a:rPr>
              <a:t>results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893914" y="1354328"/>
            <a:ext cx="35274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9715" marR="5080" indent="-247650">
              <a:lnSpc>
                <a:spcPct val="100000"/>
              </a:lnSpc>
              <a:spcBef>
                <a:spcPts val="100"/>
              </a:spcBef>
              <a:buChar char="•"/>
              <a:tabLst>
                <a:tab pos="259715" algn="l"/>
              </a:tabLst>
            </a:pP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Apply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predicted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edits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to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sample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images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and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masks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—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synthetic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shapes</a:t>
            </a:r>
            <a:r>
              <a:rPr dirty="0" sz="900" spc="50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first,</a:t>
            </a:r>
            <a:r>
              <a:rPr dirty="0" sz="900" spc="-3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then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COCO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893914" y="1717547"/>
            <a:ext cx="272351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9715" indent="-247015">
              <a:lnSpc>
                <a:spcPct val="100000"/>
              </a:lnSpc>
              <a:spcBef>
                <a:spcPts val="100"/>
              </a:spcBef>
              <a:buChar char="•"/>
              <a:tabLst>
                <a:tab pos="259715" algn="l"/>
              </a:tabLst>
            </a:pP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Show</a:t>
            </a:r>
            <a:r>
              <a:rPr dirty="0" sz="9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original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/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ground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truth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/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prediction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side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by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side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893914" y="1943608"/>
            <a:ext cx="20897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9715" indent="-247015">
              <a:lnSpc>
                <a:spcPct val="100000"/>
              </a:lnSpc>
              <a:spcBef>
                <a:spcPts val="100"/>
              </a:spcBef>
              <a:buChar char="•"/>
              <a:tabLst>
                <a:tab pos="259715" algn="l"/>
              </a:tabLst>
            </a:pP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Include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failure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cases,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not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just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successes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887341" y="2587498"/>
            <a:ext cx="95631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solidFill>
                  <a:srgbClr val="E17039"/>
                </a:solidFill>
                <a:latin typeface="Calibri"/>
                <a:cs typeface="Calibri"/>
              </a:rPr>
              <a:t>Interface</a:t>
            </a:r>
            <a:r>
              <a:rPr dirty="0" sz="1000" spc="-5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1000" spc="-10" b="1">
                <a:solidFill>
                  <a:srgbClr val="E17039"/>
                </a:solidFill>
                <a:latin typeface="Calibri"/>
                <a:cs typeface="Calibri"/>
              </a:rPr>
              <a:t>(Gradio)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893914" y="2794508"/>
            <a:ext cx="24523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9715" indent="-247015">
              <a:lnSpc>
                <a:spcPct val="100000"/>
              </a:lnSpc>
              <a:spcBef>
                <a:spcPts val="100"/>
              </a:spcBef>
              <a:buChar char="•"/>
              <a:tabLst>
                <a:tab pos="259715" algn="l"/>
              </a:tabLst>
            </a:pP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Upload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an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image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and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mask,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type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an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instruction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893914" y="3020568"/>
            <a:ext cx="33883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9715" marR="5080" indent="-247650">
              <a:lnSpc>
                <a:spcPct val="100000"/>
              </a:lnSpc>
              <a:spcBef>
                <a:spcPts val="100"/>
              </a:spcBef>
              <a:buChar char="•"/>
              <a:tabLst>
                <a:tab pos="259715" algn="l"/>
              </a:tabLst>
            </a:pP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Shows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predicted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parameters,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edited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image,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and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IoU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against</a:t>
            </a:r>
            <a:r>
              <a:rPr dirty="0" sz="900" spc="50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ground</a:t>
            </a:r>
            <a:r>
              <a:rPr dirty="0" sz="9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truth</a:t>
            </a:r>
            <a:r>
              <a:rPr dirty="0" sz="9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where</a:t>
            </a:r>
            <a:r>
              <a:rPr dirty="0" sz="900" spc="-2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available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65"/>
              </a:lnSpc>
            </a:pPr>
            <a:r>
              <a:rPr dirty="0"/>
              <a:t>IE</a:t>
            </a:r>
            <a:r>
              <a:rPr dirty="0" spc="-15"/>
              <a:t> </a:t>
            </a:r>
            <a:r>
              <a:rPr dirty="0"/>
              <a:t>643</a:t>
            </a:r>
            <a:r>
              <a:rPr dirty="0" spc="-15"/>
              <a:t> </a:t>
            </a:r>
            <a:r>
              <a:rPr dirty="0" spc="-10"/>
              <a:t>Course </a:t>
            </a:r>
            <a:r>
              <a:rPr dirty="0"/>
              <a:t>Project</a:t>
            </a:r>
            <a:r>
              <a:rPr dirty="0" spc="135"/>
              <a:t> </a:t>
            </a:r>
            <a:r>
              <a:rPr dirty="0"/>
              <a:t>·</a:t>
            </a:r>
            <a:r>
              <a:rPr dirty="0" spc="140"/>
              <a:t> </a:t>
            </a:r>
            <a:r>
              <a:rPr dirty="0" spc="-20"/>
              <a:t>Team</a:t>
            </a:r>
            <a:r>
              <a:rPr dirty="0" spc="-10"/>
              <a:t> DyoOptix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65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8780" y="244602"/>
            <a:ext cx="427355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b="1">
                <a:solidFill>
                  <a:srgbClr val="E17039"/>
                </a:solidFill>
                <a:latin typeface="Calibri"/>
                <a:cs typeface="Calibri"/>
              </a:rPr>
              <a:t>BLOCK</a:t>
            </a:r>
            <a:r>
              <a:rPr dirty="0" sz="800" spc="-45" b="1">
                <a:solidFill>
                  <a:srgbClr val="E17039"/>
                </a:solidFill>
                <a:latin typeface="Calibri"/>
                <a:cs typeface="Calibri"/>
              </a:rPr>
              <a:t> </a:t>
            </a:r>
            <a:r>
              <a:rPr dirty="0" sz="800" spc="-25" b="1">
                <a:solidFill>
                  <a:srgbClr val="E17039"/>
                </a:solidFill>
                <a:latin typeface="Calibri"/>
                <a:cs typeface="Calibri"/>
              </a:rPr>
              <a:t>06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4398" y="507268"/>
            <a:ext cx="158180" cy="158180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Roadmap</a:t>
            </a:r>
            <a:r>
              <a:rPr dirty="0" spc="-50"/>
              <a:t> </a:t>
            </a:r>
            <a:r>
              <a:rPr dirty="0"/>
              <a:t>&amp;</a:t>
            </a:r>
            <a:r>
              <a:rPr dirty="0" spc="-50"/>
              <a:t> </a:t>
            </a:r>
            <a:r>
              <a:rPr dirty="0" spc="-10"/>
              <a:t>Milestones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22834" y="1055751"/>
          <a:ext cx="8572500" cy="30968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2895"/>
                <a:gridCol w="3529965"/>
                <a:gridCol w="1770380"/>
                <a:gridCol w="1214754"/>
                <a:gridCol w="1678304"/>
              </a:tblGrid>
              <a:tr h="123825">
                <a:tc>
                  <a:txBody>
                    <a:bodyPr/>
                    <a:lstStyle/>
                    <a:p>
                      <a:pPr algn="ctr" marR="73660">
                        <a:lnSpc>
                          <a:spcPts val="665"/>
                        </a:lnSpc>
                      </a:pPr>
                      <a:r>
                        <a:rPr dirty="0" sz="700" spc="-50" b="1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#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3175">
                      <a:solidFill>
                        <a:srgbClr val="F6F6F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ts val="665"/>
                        </a:lnSpc>
                      </a:pPr>
                      <a:r>
                        <a:rPr dirty="0" sz="700" spc="-10" b="1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MILESTONE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3175">
                      <a:solidFill>
                        <a:srgbClr val="F6F6F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685">
                        <a:lnSpc>
                          <a:spcPts val="665"/>
                        </a:lnSpc>
                      </a:pPr>
                      <a:r>
                        <a:rPr dirty="0" sz="700" spc="-20" b="1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TARGET</a:t>
                      </a:r>
                      <a:r>
                        <a:rPr dirty="0" sz="700" spc="10" b="1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700" spc="-10" b="1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DATES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3175">
                      <a:solidFill>
                        <a:srgbClr val="F6F6F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2905">
                        <a:lnSpc>
                          <a:spcPts val="665"/>
                        </a:lnSpc>
                      </a:pPr>
                      <a:r>
                        <a:rPr dirty="0" sz="700" spc="-10" b="1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OWNER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3175">
                      <a:solidFill>
                        <a:srgbClr val="F6F6F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0">
                        <a:lnSpc>
                          <a:spcPts val="665"/>
                        </a:lnSpc>
                      </a:pPr>
                      <a:r>
                        <a:rPr dirty="0" sz="700" spc="-20" b="1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RISK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B w="3175">
                      <a:solidFill>
                        <a:srgbClr val="F6F6F4"/>
                      </a:solidFill>
                      <a:prstDash val="solid"/>
                    </a:lnB>
                  </a:tcPr>
                </a:tc>
              </a:tr>
              <a:tr h="3416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 marR="66040">
                        <a:lnSpc>
                          <a:spcPct val="100000"/>
                        </a:lnSpc>
                      </a:pPr>
                      <a:r>
                        <a:rPr dirty="0" sz="800" spc="-50" b="1">
                          <a:solidFill>
                            <a:srgbClr val="E17039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2540">
                    <a:lnB w="3175">
                      <a:solidFill>
                        <a:srgbClr val="F6F6F4"/>
                      </a:solidFill>
                      <a:prstDash val="solid"/>
                    </a:lnB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dirty="0" sz="900" spc="-20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Transform</a:t>
                      </a:r>
                      <a:r>
                        <a:rPr dirty="0" sz="900" spc="-5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specification,</a:t>
                      </a:r>
                      <a:r>
                        <a:rPr dirty="0" sz="900" spc="-5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matrix </a:t>
                      </a:r>
                      <a:r>
                        <a:rPr dirty="0" sz="900" spc="-20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builder,</a:t>
                      </a:r>
                      <a:r>
                        <a:rPr dirty="0" sz="900" spc="-5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unit </a:t>
                      </a:r>
                      <a:r>
                        <a:rPr dirty="0" sz="900" spc="-20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tests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111125">
                    <a:lnB w="3175">
                      <a:solidFill>
                        <a:srgbClr val="F6F6F4"/>
                      </a:solidFill>
                      <a:prstDash val="solid"/>
                    </a:lnB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781685">
                        <a:lnSpc>
                          <a:spcPct val="100000"/>
                        </a:lnSpc>
                      </a:pPr>
                      <a:r>
                        <a:rPr dirty="0" sz="800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22</a:t>
                      </a:r>
                      <a:r>
                        <a:rPr dirty="0" sz="800" spc="-5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–</a:t>
                      </a:r>
                      <a:r>
                        <a:rPr dirty="0" sz="800" spc="-5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24</a:t>
                      </a:r>
                      <a:r>
                        <a:rPr dirty="0" sz="800" spc="-5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25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Sep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2540">
                    <a:lnB w="3175">
                      <a:solidFill>
                        <a:srgbClr val="F6F6F4"/>
                      </a:solidFill>
                      <a:prstDash val="solid"/>
                    </a:lnB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382905">
                        <a:lnSpc>
                          <a:spcPct val="100000"/>
                        </a:lnSpc>
                      </a:pPr>
                      <a:r>
                        <a:rPr dirty="0" sz="800" spc="-5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K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2540">
                    <a:lnB w="3175">
                      <a:solidFill>
                        <a:srgbClr val="F6F6F4"/>
                      </a:solidFill>
                      <a:prstDash val="solid"/>
                    </a:lnB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39750">
                        <a:lnSpc>
                          <a:spcPct val="100000"/>
                        </a:lnSpc>
                      </a:pPr>
                      <a:r>
                        <a:rPr dirty="0" sz="800" spc="-25" b="1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Low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2540">
                    <a:lnB w="3175">
                      <a:solidFill>
                        <a:srgbClr val="F6F6F4"/>
                      </a:solidFill>
                      <a:prstDash val="solid"/>
                    </a:lnB>
                    <a:solidFill>
                      <a:srgbClr val="F6F6F4"/>
                    </a:solidFill>
                  </a:tcPr>
                </a:tc>
              </a:tr>
              <a:tr h="316230">
                <a:tc>
                  <a:txBody>
                    <a:bodyPr/>
                    <a:lstStyle/>
                    <a:p>
                      <a:pPr algn="ctr" marR="66040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800" spc="-50" b="1">
                          <a:solidFill>
                            <a:srgbClr val="E17039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106680">
                    <a:lnT w="3175">
                      <a:solidFill>
                        <a:srgbClr val="F6F6F4"/>
                      </a:solidFill>
                      <a:prstDash val="solid"/>
                    </a:lnT>
                    <a:lnB w="3175">
                      <a:solidFill>
                        <a:srgbClr val="F6F6F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dirty="0" sz="900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Dataset</a:t>
                      </a:r>
                      <a:r>
                        <a:rPr dirty="0" sz="900" spc="-25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20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generator, </a:t>
                      </a:r>
                      <a:r>
                        <a:rPr dirty="0" sz="900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splits,</a:t>
                      </a:r>
                      <a:r>
                        <a:rPr dirty="0" sz="900" spc="-15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1A1F2B"/>
                          </a:solidFill>
                          <a:latin typeface="Microsoft Sans Serif"/>
                          <a:cs typeface="Microsoft Sans Serif"/>
                        </a:rPr>
                        <a:t>≈</a:t>
                      </a:r>
                      <a:r>
                        <a:rPr dirty="0" sz="900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20k</a:t>
                      </a:r>
                      <a:r>
                        <a:rPr dirty="0" sz="900" spc="-25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pairs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98425">
                    <a:lnT w="3175">
                      <a:solidFill>
                        <a:srgbClr val="F6F6F4"/>
                      </a:solidFill>
                      <a:prstDash val="solid"/>
                    </a:lnT>
                    <a:lnB w="3175">
                      <a:solidFill>
                        <a:srgbClr val="F6F6F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685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800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24</a:t>
                      </a:r>
                      <a:r>
                        <a:rPr dirty="0" sz="800" spc="-5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–</a:t>
                      </a:r>
                      <a:r>
                        <a:rPr dirty="0" sz="800" spc="-5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28</a:t>
                      </a:r>
                      <a:r>
                        <a:rPr dirty="0" sz="800" spc="-5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25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Sep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106680">
                    <a:lnT w="3175">
                      <a:solidFill>
                        <a:srgbClr val="F6F6F4"/>
                      </a:solidFill>
                      <a:prstDash val="solid"/>
                    </a:lnT>
                    <a:lnB w="3175">
                      <a:solidFill>
                        <a:srgbClr val="F6F6F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2905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800" spc="-5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K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106680">
                    <a:lnT w="3175">
                      <a:solidFill>
                        <a:srgbClr val="F6F6F4"/>
                      </a:solidFill>
                      <a:prstDash val="solid"/>
                    </a:lnT>
                    <a:lnB w="3175">
                      <a:solidFill>
                        <a:srgbClr val="F6F6F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0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800" spc="-25" b="1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Low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106680">
                    <a:lnT w="3175">
                      <a:solidFill>
                        <a:srgbClr val="F6F6F4"/>
                      </a:solidFill>
                      <a:prstDash val="solid"/>
                    </a:lnT>
                    <a:lnB w="3175">
                      <a:solidFill>
                        <a:srgbClr val="F6F6F4"/>
                      </a:solidFill>
                      <a:prstDash val="solid"/>
                    </a:lnB>
                  </a:tcPr>
                </a:tc>
              </a:tr>
              <a:tr h="3416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 marR="66040">
                        <a:lnSpc>
                          <a:spcPct val="100000"/>
                        </a:lnSpc>
                      </a:pPr>
                      <a:r>
                        <a:rPr dirty="0" sz="800" spc="-50" b="1">
                          <a:solidFill>
                            <a:srgbClr val="E17039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2540"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dirty="0" sz="900" spc="-10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Noise-</a:t>
                      </a:r>
                      <a:r>
                        <a:rPr dirty="0" sz="900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floor</a:t>
                      </a:r>
                      <a:r>
                        <a:rPr dirty="0" sz="900" spc="-30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computation;</a:t>
                      </a:r>
                      <a:r>
                        <a:rPr dirty="0" sz="900" spc="-25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metric</a:t>
                      </a:r>
                      <a:r>
                        <a:rPr dirty="0" sz="900" spc="-25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module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111125"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781685">
                        <a:lnSpc>
                          <a:spcPct val="100000"/>
                        </a:lnSpc>
                      </a:pPr>
                      <a:r>
                        <a:rPr dirty="0" sz="800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28</a:t>
                      </a:r>
                      <a:r>
                        <a:rPr dirty="0" sz="800" spc="-10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Sep</a:t>
                      </a:r>
                      <a:r>
                        <a:rPr dirty="0" sz="800" spc="-10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–</a:t>
                      </a:r>
                      <a:r>
                        <a:rPr dirty="0" sz="800" spc="-10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2</a:t>
                      </a:r>
                      <a:r>
                        <a:rPr dirty="0" sz="800" spc="-10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25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Oct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2540"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382905">
                        <a:lnSpc>
                          <a:spcPct val="100000"/>
                        </a:lnSpc>
                      </a:pPr>
                      <a:r>
                        <a:rPr dirty="0" sz="800" spc="-5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2540"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39750">
                        <a:lnSpc>
                          <a:spcPct val="100000"/>
                        </a:lnSpc>
                      </a:pPr>
                      <a:r>
                        <a:rPr dirty="0" sz="800" spc="-25" b="1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Low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2540">
                    <a:solidFill>
                      <a:srgbClr val="F6F6F4"/>
                    </a:solidFill>
                  </a:tcPr>
                </a:tc>
              </a:tr>
              <a:tr h="316230">
                <a:tc>
                  <a:txBody>
                    <a:bodyPr/>
                    <a:lstStyle/>
                    <a:p>
                      <a:pPr algn="ctr" marR="66040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800" spc="-50" b="1">
                          <a:solidFill>
                            <a:srgbClr val="E17039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106680">
                    <a:lnB w="3175">
                      <a:solidFill>
                        <a:srgbClr val="F6F6F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dirty="0" sz="900" spc="-10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Representation</a:t>
                      </a:r>
                      <a:r>
                        <a:rPr dirty="0" sz="900" spc="-5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ablation,</a:t>
                      </a:r>
                      <a:r>
                        <a:rPr dirty="0" sz="900" spc="-5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diagnostic</a:t>
                      </a:r>
                      <a:r>
                        <a:rPr dirty="0" sz="900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 plot,</a:t>
                      </a:r>
                      <a:r>
                        <a:rPr dirty="0" sz="900" spc="-5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failure</a:t>
                      </a:r>
                      <a:r>
                        <a:rPr dirty="0" sz="900" spc="-5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analysis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98425">
                    <a:lnB w="3175">
                      <a:solidFill>
                        <a:srgbClr val="F6F6F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685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800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2</a:t>
                      </a:r>
                      <a:r>
                        <a:rPr dirty="0" sz="800" spc="-5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–</a:t>
                      </a:r>
                      <a:r>
                        <a:rPr dirty="0" sz="800" spc="-5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8</a:t>
                      </a:r>
                      <a:r>
                        <a:rPr dirty="0" sz="800" spc="-5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25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Oct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106680">
                    <a:lnB w="3175">
                      <a:solidFill>
                        <a:srgbClr val="F6F6F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2905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800" spc="-5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106680">
                    <a:lnB w="3175">
                      <a:solidFill>
                        <a:srgbClr val="F6F6F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0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800" spc="-10" b="1">
                          <a:solidFill>
                            <a:srgbClr val="B07A45"/>
                          </a:solidFill>
                          <a:latin typeface="Calibri"/>
                          <a:cs typeface="Calibri"/>
                        </a:rPr>
                        <a:t>Medium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106680">
                    <a:lnB w="3175">
                      <a:solidFill>
                        <a:srgbClr val="F6F6F4"/>
                      </a:solidFill>
                      <a:prstDash val="solid"/>
                    </a:lnB>
                  </a:tcPr>
                </a:tc>
              </a:tr>
              <a:tr h="3416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 marR="66040">
                        <a:lnSpc>
                          <a:spcPct val="100000"/>
                        </a:lnSpc>
                      </a:pPr>
                      <a:r>
                        <a:rPr dirty="0" sz="800" spc="-50" b="1">
                          <a:solidFill>
                            <a:srgbClr val="E17039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2540"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dirty="0" sz="900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Gated</a:t>
                      </a:r>
                      <a:r>
                        <a:rPr dirty="0" sz="900" spc="-15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multi-</a:t>
                      </a:r>
                      <a:r>
                        <a:rPr dirty="0" sz="900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head</a:t>
                      </a:r>
                      <a:r>
                        <a:rPr dirty="0" sz="900" spc="-15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model; training</a:t>
                      </a:r>
                      <a:r>
                        <a:rPr dirty="0" sz="900" spc="-15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20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loop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111125"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781685">
                        <a:lnSpc>
                          <a:spcPct val="100000"/>
                        </a:lnSpc>
                      </a:pPr>
                      <a:r>
                        <a:rPr dirty="0" sz="800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8</a:t>
                      </a:r>
                      <a:r>
                        <a:rPr dirty="0" sz="800" spc="-5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–</a:t>
                      </a:r>
                      <a:r>
                        <a:rPr dirty="0" sz="800" spc="-5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15</a:t>
                      </a:r>
                      <a:r>
                        <a:rPr dirty="0" sz="800" spc="-5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25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Oct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2540"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382905">
                        <a:lnSpc>
                          <a:spcPct val="100000"/>
                        </a:lnSpc>
                      </a:pPr>
                      <a:r>
                        <a:rPr dirty="0" sz="800" spc="-5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K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2540"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39750">
                        <a:lnSpc>
                          <a:spcPct val="100000"/>
                        </a:lnSpc>
                      </a:pPr>
                      <a:r>
                        <a:rPr dirty="0" sz="800" spc="-10" b="1">
                          <a:solidFill>
                            <a:srgbClr val="B07A45"/>
                          </a:solidFill>
                          <a:latin typeface="Calibri"/>
                          <a:cs typeface="Calibri"/>
                        </a:rPr>
                        <a:t>Medium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2540">
                    <a:solidFill>
                      <a:srgbClr val="F6F6F4"/>
                    </a:solidFill>
                  </a:tcPr>
                </a:tc>
              </a:tr>
              <a:tr h="316230">
                <a:tc>
                  <a:txBody>
                    <a:bodyPr/>
                    <a:lstStyle/>
                    <a:p>
                      <a:pPr algn="ctr" marR="66040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800" spc="-50" b="1">
                          <a:solidFill>
                            <a:srgbClr val="E17039"/>
                          </a:solidFill>
                          <a:latin typeface="Calibri"/>
                          <a:cs typeface="Calibri"/>
                        </a:rPr>
                        <a:t>6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106680"/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dirty="0" sz="900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Real</a:t>
                      </a:r>
                      <a:r>
                        <a:rPr dirty="0" sz="900" spc="-15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images</a:t>
                      </a:r>
                      <a:r>
                        <a:rPr dirty="0" sz="900" spc="-15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(COCO</a:t>
                      </a:r>
                      <a:r>
                        <a:rPr dirty="0" sz="900" spc="-15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masks), </a:t>
                      </a:r>
                      <a:r>
                        <a:rPr dirty="0" sz="900" spc="-20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renderer,</a:t>
                      </a:r>
                      <a:r>
                        <a:rPr dirty="0" sz="900" spc="-15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qualitative</a:t>
                      </a:r>
                      <a:r>
                        <a:rPr dirty="0" sz="900" spc="-15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20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grid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98425"/>
                </a:tc>
                <a:tc>
                  <a:txBody>
                    <a:bodyPr/>
                    <a:lstStyle/>
                    <a:p>
                      <a:pPr marL="781685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800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15</a:t>
                      </a:r>
                      <a:r>
                        <a:rPr dirty="0" sz="800" spc="-5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–</a:t>
                      </a:r>
                      <a:r>
                        <a:rPr dirty="0" sz="800" spc="-5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22</a:t>
                      </a:r>
                      <a:r>
                        <a:rPr dirty="0" sz="800" spc="-5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25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Oct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106680"/>
                </a:tc>
                <a:tc>
                  <a:txBody>
                    <a:bodyPr/>
                    <a:lstStyle/>
                    <a:p>
                      <a:pPr marL="382905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800" spc="-5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106680"/>
                </a:tc>
                <a:tc>
                  <a:txBody>
                    <a:bodyPr/>
                    <a:lstStyle/>
                    <a:p>
                      <a:pPr marL="539750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800" spc="-10" b="1">
                          <a:solidFill>
                            <a:srgbClr val="B07A45"/>
                          </a:solidFill>
                          <a:latin typeface="Calibri"/>
                          <a:cs typeface="Calibri"/>
                        </a:rPr>
                        <a:t>Medium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106680"/>
                </a:tc>
              </a:tr>
              <a:tr h="3416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 marR="66040">
                        <a:lnSpc>
                          <a:spcPct val="100000"/>
                        </a:lnSpc>
                      </a:pPr>
                      <a:r>
                        <a:rPr dirty="0" sz="800" spc="-50" b="1">
                          <a:solidFill>
                            <a:srgbClr val="E17039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2540"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dirty="0" sz="900" spc="-10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Gradio</a:t>
                      </a:r>
                      <a:r>
                        <a:rPr dirty="0" sz="900" spc="-5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interface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111125"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781685">
                        <a:lnSpc>
                          <a:spcPct val="100000"/>
                        </a:lnSpc>
                      </a:pPr>
                      <a:r>
                        <a:rPr dirty="0" sz="800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22</a:t>
                      </a:r>
                      <a:r>
                        <a:rPr dirty="0" sz="800" spc="-5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–</a:t>
                      </a:r>
                      <a:r>
                        <a:rPr dirty="0" sz="800" spc="-5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27</a:t>
                      </a:r>
                      <a:r>
                        <a:rPr dirty="0" sz="800" spc="-5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25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Oct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2540"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382905">
                        <a:lnSpc>
                          <a:spcPct val="100000"/>
                        </a:lnSpc>
                      </a:pPr>
                      <a:r>
                        <a:rPr dirty="0" sz="800" spc="-5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K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2540"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39750">
                        <a:lnSpc>
                          <a:spcPct val="100000"/>
                        </a:lnSpc>
                      </a:pPr>
                      <a:r>
                        <a:rPr dirty="0" sz="800" spc="-25" b="1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Low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2540">
                    <a:solidFill>
                      <a:srgbClr val="F6F6F4"/>
                    </a:solidFill>
                  </a:tcPr>
                </a:tc>
              </a:tr>
              <a:tr h="316230">
                <a:tc>
                  <a:txBody>
                    <a:bodyPr/>
                    <a:lstStyle/>
                    <a:p>
                      <a:pPr algn="ctr" marR="66040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800" spc="-50" b="1">
                          <a:solidFill>
                            <a:srgbClr val="E17039"/>
                          </a:solidFill>
                          <a:latin typeface="Calibri"/>
                          <a:cs typeface="Calibri"/>
                        </a:rPr>
                        <a:t>8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106680">
                    <a:lnT w="3175">
                      <a:solidFill>
                        <a:srgbClr val="F6F6F4"/>
                      </a:solidFill>
                      <a:prstDash val="solid"/>
                    </a:lnT>
                    <a:lnB w="3175">
                      <a:solidFill>
                        <a:srgbClr val="F6F6F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dirty="0" sz="900" spc="-10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Report, </a:t>
                      </a:r>
                      <a:r>
                        <a:rPr dirty="0" sz="900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code</a:t>
                      </a:r>
                      <a:r>
                        <a:rPr dirty="0" sz="900" spc="-5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documentation, walkthrough</a:t>
                      </a:r>
                      <a:r>
                        <a:rPr dirty="0" sz="900" spc="-5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video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98425">
                    <a:lnT w="3175">
                      <a:solidFill>
                        <a:srgbClr val="F6F6F4"/>
                      </a:solidFill>
                      <a:prstDash val="solid"/>
                    </a:lnT>
                    <a:lnB w="3175">
                      <a:solidFill>
                        <a:srgbClr val="F6F6F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1685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800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27</a:t>
                      </a:r>
                      <a:r>
                        <a:rPr dirty="0" sz="800" spc="-10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Oct</a:t>
                      </a:r>
                      <a:r>
                        <a:rPr dirty="0" sz="800" spc="-5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–</a:t>
                      </a:r>
                      <a:r>
                        <a:rPr dirty="0" sz="800" spc="-10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1</a:t>
                      </a:r>
                      <a:r>
                        <a:rPr dirty="0" sz="800" spc="-5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25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Nov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106680">
                    <a:lnT w="3175">
                      <a:solidFill>
                        <a:srgbClr val="F6F6F4"/>
                      </a:solidFill>
                      <a:prstDash val="solid"/>
                    </a:lnT>
                    <a:lnB w="3175">
                      <a:solidFill>
                        <a:srgbClr val="F6F6F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2905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800" spc="-2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Both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106680">
                    <a:lnT w="3175">
                      <a:solidFill>
                        <a:srgbClr val="F6F6F4"/>
                      </a:solidFill>
                      <a:prstDash val="solid"/>
                    </a:lnT>
                    <a:lnB w="3175">
                      <a:solidFill>
                        <a:srgbClr val="F6F6F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0">
                        <a:lnSpc>
                          <a:spcPct val="100000"/>
                        </a:lnSpc>
                        <a:spcBef>
                          <a:spcPts val="840"/>
                        </a:spcBef>
                      </a:pPr>
                      <a:r>
                        <a:rPr dirty="0" sz="800" spc="-25" b="1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Low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106680">
                    <a:lnT w="3175">
                      <a:solidFill>
                        <a:srgbClr val="F6F6F4"/>
                      </a:solidFill>
                      <a:prstDash val="solid"/>
                    </a:lnT>
                    <a:lnB w="3175">
                      <a:solidFill>
                        <a:srgbClr val="F6F6F4"/>
                      </a:solidFill>
                      <a:prstDash val="solid"/>
                    </a:lnB>
                  </a:tcPr>
                </a:tc>
              </a:tr>
              <a:tr h="3416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 marR="66040">
                        <a:lnSpc>
                          <a:spcPct val="100000"/>
                        </a:lnSpc>
                      </a:pPr>
                      <a:r>
                        <a:rPr dirty="0" sz="800" spc="-50" b="1">
                          <a:solidFill>
                            <a:srgbClr val="E17039"/>
                          </a:solidFill>
                          <a:latin typeface="Calibri"/>
                          <a:cs typeface="Calibri"/>
                        </a:rPr>
                        <a:t>9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2540"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dirty="0" sz="900" spc="-10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Novelty</a:t>
                      </a:r>
                      <a:r>
                        <a:rPr dirty="0" sz="900" spc="5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assessment:</a:t>
                      </a:r>
                      <a:r>
                        <a:rPr dirty="0" sz="900" spc="10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uncertainty-</a:t>
                      </a:r>
                      <a:r>
                        <a:rPr dirty="0" sz="900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aware</a:t>
                      </a:r>
                      <a:r>
                        <a:rPr dirty="0" sz="900" spc="10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900" spc="-10">
                          <a:solidFill>
                            <a:srgbClr val="1A1F2B"/>
                          </a:solidFill>
                          <a:latin typeface="Calibri"/>
                          <a:cs typeface="Calibri"/>
                        </a:rPr>
                        <a:t>prediction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B="0" marT="111125"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781685">
                        <a:lnSpc>
                          <a:spcPct val="100000"/>
                        </a:lnSpc>
                      </a:pPr>
                      <a:r>
                        <a:rPr dirty="0" sz="800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after</a:t>
                      </a:r>
                      <a:r>
                        <a:rPr dirty="0" sz="800" spc="-25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1</a:t>
                      </a:r>
                      <a:r>
                        <a:rPr dirty="0" sz="800" spc="-20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800" spc="-25">
                          <a:solidFill>
                            <a:srgbClr val="2E6171"/>
                          </a:solidFill>
                          <a:latin typeface="Calibri"/>
                          <a:cs typeface="Calibri"/>
                        </a:rPr>
                        <a:t>Nov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2540"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382905">
                        <a:lnSpc>
                          <a:spcPct val="100000"/>
                        </a:lnSpc>
                      </a:pPr>
                      <a:r>
                        <a:rPr dirty="0" sz="800" spc="-20">
                          <a:solidFill>
                            <a:srgbClr val="6B7280"/>
                          </a:solidFill>
                          <a:latin typeface="Calibri"/>
                          <a:cs typeface="Calibri"/>
                        </a:rPr>
                        <a:t>Both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2540">
                    <a:solidFill>
                      <a:srgbClr val="F6F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539750">
                        <a:lnSpc>
                          <a:spcPct val="100000"/>
                        </a:lnSpc>
                      </a:pPr>
                      <a:r>
                        <a:rPr dirty="0" sz="800" spc="-20" b="1">
                          <a:solidFill>
                            <a:srgbClr val="E17039"/>
                          </a:solidFill>
                          <a:latin typeface="Calibri"/>
                          <a:cs typeface="Calibri"/>
                        </a:rPr>
                        <a:t>High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B="0" marT="2540">
                    <a:solidFill>
                      <a:srgbClr val="F6F6F4"/>
                    </a:solidFill>
                  </a:tcPr>
                </a:tc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406712" y="4233487"/>
            <a:ext cx="931544" cy="215900"/>
            <a:chOff x="406712" y="4233487"/>
            <a:chExt cx="931544" cy="215900"/>
          </a:xfrm>
        </p:grpSpPr>
        <p:sp>
          <p:nvSpPr>
            <p:cNvPr id="7" name="object 7"/>
            <p:cNvSpPr/>
            <p:nvPr/>
          </p:nvSpPr>
          <p:spPr>
            <a:xfrm>
              <a:off x="411474" y="4238249"/>
              <a:ext cx="922019" cy="206375"/>
            </a:xfrm>
            <a:custGeom>
              <a:avLst/>
              <a:gdLst/>
              <a:ahLst/>
              <a:cxnLst/>
              <a:rect l="l" t="t" r="r" b="b"/>
              <a:pathLst>
                <a:path w="922019" h="206375">
                  <a:moveTo>
                    <a:pt x="903190" y="205799"/>
                  </a:moveTo>
                  <a:lnTo>
                    <a:pt x="18709" y="205799"/>
                  </a:lnTo>
                  <a:lnTo>
                    <a:pt x="11426" y="204329"/>
                  </a:lnTo>
                  <a:lnTo>
                    <a:pt x="5479" y="200320"/>
                  </a:lnTo>
                  <a:lnTo>
                    <a:pt x="1470" y="194373"/>
                  </a:lnTo>
                  <a:lnTo>
                    <a:pt x="0" y="187090"/>
                  </a:lnTo>
                  <a:lnTo>
                    <a:pt x="0" y="18709"/>
                  </a:lnTo>
                  <a:lnTo>
                    <a:pt x="1470" y="11426"/>
                  </a:lnTo>
                  <a:lnTo>
                    <a:pt x="5479" y="5479"/>
                  </a:lnTo>
                  <a:lnTo>
                    <a:pt x="11426" y="1470"/>
                  </a:lnTo>
                  <a:lnTo>
                    <a:pt x="18709" y="0"/>
                  </a:lnTo>
                  <a:lnTo>
                    <a:pt x="908152" y="0"/>
                  </a:lnTo>
                  <a:lnTo>
                    <a:pt x="912911" y="1970"/>
                  </a:lnTo>
                  <a:lnTo>
                    <a:pt x="919928" y="8988"/>
                  </a:lnTo>
                  <a:lnTo>
                    <a:pt x="921899" y="13747"/>
                  </a:lnTo>
                  <a:lnTo>
                    <a:pt x="921899" y="187090"/>
                  </a:lnTo>
                  <a:lnTo>
                    <a:pt x="920429" y="194373"/>
                  </a:lnTo>
                  <a:lnTo>
                    <a:pt x="916420" y="200320"/>
                  </a:lnTo>
                  <a:lnTo>
                    <a:pt x="910473" y="204329"/>
                  </a:lnTo>
                  <a:lnTo>
                    <a:pt x="903190" y="205799"/>
                  </a:lnTo>
                  <a:close/>
                </a:path>
              </a:pathLst>
            </a:custGeom>
            <a:solidFill>
              <a:srgbClr val="FCF1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11474" y="4238249"/>
              <a:ext cx="922019" cy="206375"/>
            </a:xfrm>
            <a:custGeom>
              <a:avLst/>
              <a:gdLst/>
              <a:ahLst/>
              <a:cxnLst/>
              <a:rect l="l" t="t" r="r" b="b"/>
              <a:pathLst>
                <a:path w="922019" h="206375">
                  <a:moveTo>
                    <a:pt x="0" y="18709"/>
                  </a:moveTo>
                  <a:lnTo>
                    <a:pt x="1470" y="11426"/>
                  </a:lnTo>
                  <a:lnTo>
                    <a:pt x="5479" y="5479"/>
                  </a:lnTo>
                  <a:lnTo>
                    <a:pt x="11426" y="1470"/>
                  </a:lnTo>
                  <a:lnTo>
                    <a:pt x="18709" y="0"/>
                  </a:lnTo>
                  <a:lnTo>
                    <a:pt x="903190" y="0"/>
                  </a:lnTo>
                  <a:lnTo>
                    <a:pt x="908152" y="0"/>
                  </a:lnTo>
                  <a:lnTo>
                    <a:pt x="912911" y="1970"/>
                  </a:lnTo>
                  <a:lnTo>
                    <a:pt x="916420" y="5479"/>
                  </a:lnTo>
                  <a:lnTo>
                    <a:pt x="919928" y="8988"/>
                  </a:lnTo>
                  <a:lnTo>
                    <a:pt x="921899" y="13747"/>
                  </a:lnTo>
                  <a:lnTo>
                    <a:pt x="921899" y="18709"/>
                  </a:lnTo>
                  <a:lnTo>
                    <a:pt x="921899" y="187090"/>
                  </a:lnTo>
                  <a:lnTo>
                    <a:pt x="920429" y="194373"/>
                  </a:lnTo>
                  <a:lnTo>
                    <a:pt x="916420" y="200320"/>
                  </a:lnTo>
                  <a:lnTo>
                    <a:pt x="910473" y="204329"/>
                  </a:lnTo>
                  <a:lnTo>
                    <a:pt x="903190" y="205799"/>
                  </a:lnTo>
                  <a:lnTo>
                    <a:pt x="18709" y="205799"/>
                  </a:lnTo>
                  <a:lnTo>
                    <a:pt x="11426" y="204329"/>
                  </a:lnTo>
                  <a:lnTo>
                    <a:pt x="5479" y="200320"/>
                  </a:lnTo>
                  <a:lnTo>
                    <a:pt x="1470" y="194373"/>
                  </a:lnTo>
                  <a:lnTo>
                    <a:pt x="0" y="187090"/>
                  </a:lnTo>
                  <a:lnTo>
                    <a:pt x="0" y="18709"/>
                  </a:lnTo>
                  <a:close/>
                </a:path>
              </a:pathLst>
            </a:custGeom>
            <a:ln w="9524">
              <a:solidFill>
                <a:srgbClr val="E3E4E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438075" y="4271553"/>
            <a:ext cx="824865" cy="13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>
                <a:solidFill>
                  <a:srgbClr val="1A1F2B"/>
                </a:solidFill>
                <a:latin typeface="Calibri"/>
                <a:cs typeface="Calibri"/>
              </a:rPr>
              <a:t>K = </a:t>
            </a:r>
            <a:r>
              <a:rPr dirty="0" sz="700" spc="-10">
                <a:solidFill>
                  <a:srgbClr val="1A1F2B"/>
                </a:solidFill>
                <a:latin typeface="Calibri"/>
                <a:cs typeface="Calibri"/>
              </a:rPr>
              <a:t>Kaushik,</a:t>
            </a:r>
            <a:r>
              <a:rPr dirty="0" sz="700">
                <a:solidFill>
                  <a:srgbClr val="1A1F2B"/>
                </a:solidFill>
                <a:latin typeface="Calibri"/>
                <a:cs typeface="Calibri"/>
              </a:rPr>
              <a:t> A</a:t>
            </a:r>
            <a:r>
              <a:rPr dirty="0" sz="700" spc="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1A1F2B"/>
                </a:solidFill>
                <a:latin typeface="Calibri"/>
                <a:cs typeface="Calibri"/>
              </a:rPr>
              <a:t>= </a:t>
            </a:r>
            <a:r>
              <a:rPr dirty="0" sz="700" spc="-20">
                <a:solidFill>
                  <a:srgbClr val="1A1F2B"/>
                </a:solidFill>
                <a:latin typeface="Calibri"/>
                <a:cs typeface="Calibri"/>
              </a:rPr>
              <a:t>Akash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65"/>
              </a:lnSpc>
            </a:pPr>
            <a:r>
              <a:rPr dirty="0"/>
              <a:t>IE</a:t>
            </a:r>
            <a:r>
              <a:rPr dirty="0" spc="-15"/>
              <a:t> </a:t>
            </a:r>
            <a:r>
              <a:rPr dirty="0"/>
              <a:t>643</a:t>
            </a:r>
            <a:r>
              <a:rPr dirty="0" spc="-15"/>
              <a:t> </a:t>
            </a:r>
            <a:r>
              <a:rPr dirty="0" spc="-10"/>
              <a:t>Course </a:t>
            </a:r>
            <a:r>
              <a:rPr dirty="0"/>
              <a:t>Project</a:t>
            </a:r>
            <a:r>
              <a:rPr dirty="0" spc="135"/>
              <a:t> </a:t>
            </a:r>
            <a:r>
              <a:rPr dirty="0"/>
              <a:t>·</a:t>
            </a:r>
            <a:r>
              <a:rPr dirty="0" spc="140"/>
              <a:t> </a:t>
            </a:r>
            <a:r>
              <a:rPr dirty="0" spc="-20"/>
              <a:t>Team</a:t>
            </a:r>
            <a:r>
              <a:rPr dirty="0" spc="-10"/>
              <a:t> DyoOptix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65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8780" y="244602"/>
            <a:ext cx="458470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10" b="1">
                <a:solidFill>
                  <a:srgbClr val="E17039"/>
                </a:solidFill>
                <a:latin typeface="Calibri"/>
                <a:cs typeface="Calibri"/>
              </a:rPr>
              <a:t>APPENDIX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4398" y="507268"/>
            <a:ext cx="158180" cy="158180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59384" y="438150"/>
            <a:ext cx="1503680" cy="375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References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98780" y="909940"/>
            <a:ext cx="8169909" cy="2047239"/>
          </a:xfrm>
          <a:prstGeom prst="rect">
            <a:avLst/>
          </a:prstGeom>
        </p:spPr>
        <p:txBody>
          <a:bodyPr wrap="square" lIns="0" tIns="457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dirty="0" sz="800" spc="-10" b="1">
                <a:solidFill>
                  <a:srgbClr val="2E6171"/>
                </a:solidFill>
                <a:latin typeface="Calibri"/>
                <a:cs typeface="Calibri"/>
              </a:rPr>
              <a:t>RESEARCH</a:t>
            </a:r>
            <a:r>
              <a:rPr dirty="0" sz="800" spc="10" b="1">
                <a:solidFill>
                  <a:srgbClr val="2E6171"/>
                </a:solidFill>
                <a:latin typeface="Calibri"/>
                <a:cs typeface="Calibri"/>
              </a:rPr>
              <a:t> </a:t>
            </a:r>
            <a:r>
              <a:rPr dirty="0" sz="800" spc="-10" b="1">
                <a:solidFill>
                  <a:srgbClr val="2E6171"/>
                </a:solidFill>
                <a:latin typeface="Calibri"/>
                <a:cs typeface="Calibri"/>
              </a:rPr>
              <a:t>PAPERS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Max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Jaderberg,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Karen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Simonyan, Andrew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Zisserman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and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Koray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Kavukcuoglu.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Spatial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Transformer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Networks,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NeurIPS,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2015.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  <a:hlinkClick r:id="rId3"/>
              </a:rPr>
              <a:t>https://arxiv.org/abs/1506.02025</a:t>
            </a:r>
            <a:endParaRPr sz="900">
              <a:latin typeface="Calibri"/>
              <a:cs typeface="Calibri"/>
            </a:endParaRPr>
          </a:p>
          <a:p>
            <a:pPr marL="12700" marR="46355">
              <a:lnSpc>
                <a:spcPct val="100000"/>
              </a:lnSpc>
              <a:spcBef>
                <a:spcPts val="600"/>
              </a:spcBef>
            </a:pP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Alec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Radford,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Jong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Wook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Kim,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Chris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Hallacy,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Aditya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Ramesh, Gabriel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Goh,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Sandhini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Agarwal, Girish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Sastry,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Amanda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Askell,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Pamela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Mishkin,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Jack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Clark,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Gretchen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Krueger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and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Ilya</a:t>
            </a:r>
            <a:r>
              <a:rPr dirty="0" sz="900" spc="50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1A1F2B"/>
                </a:solidFill>
                <a:latin typeface="Calibri"/>
                <a:cs typeface="Calibri"/>
              </a:rPr>
              <a:t>Sutskever.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Learning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Transferable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Visual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Models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From Natural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Language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Supervision,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ICML, 2021.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  <a:hlinkClick r:id="rId4"/>
              </a:rPr>
              <a:t>https://arxiv.org/abs/2103.00020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Nils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Reimers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and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Iryna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Gurevych.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Sentence-BERT: Sentence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Embeddings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using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Siamese 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BERT-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Networks,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1A1F2B"/>
                </a:solidFill>
                <a:latin typeface="Calibri"/>
                <a:cs typeface="Calibri"/>
              </a:rPr>
              <a:t>EMNLP,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2019.</a:t>
            </a:r>
            <a:r>
              <a:rPr dirty="0" sz="900" spc="-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  <a:hlinkClick r:id="rId5"/>
              </a:rPr>
              <a:t>https://arxiv.org/abs/1908.10084</a:t>
            </a:r>
            <a:endParaRPr sz="9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Mert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Yuksekgonul,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Federico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Bianchi,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Pratyusha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Kalluri,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Dan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Jurafsky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and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James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Zou.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When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and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why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vision-language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models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behave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like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bags-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of-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words,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and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what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to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do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about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it?,</a:t>
            </a:r>
            <a:r>
              <a:rPr dirty="0" sz="900" spc="50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ICLR,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2023.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  <a:hlinkClick r:id="rId6"/>
              </a:rPr>
              <a:t>https://arxiv.org/abs/2210.01936</a:t>
            </a:r>
            <a:endParaRPr sz="900">
              <a:latin typeface="Calibri"/>
              <a:cs typeface="Calibri"/>
            </a:endParaRPr>
          </a:p>
          <a:p>
            <a:pPr marL="12700" marR="102235">
              <a:lnSpc>
                <a:spcPct val="155600"/>
              </a:lnSpc>
            </a:pP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Yi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Zhou,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Connelly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Barnes,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Jingwan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Lu,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Jimei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Yang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and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Hao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Li.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On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the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Continuity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of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Rotation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Representations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in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Neural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Networks,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CVPR,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2019.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  <a:hlinkClick r:id="rId7"/>
              </a:rPr>
              <a:t>https://arxiv.org/abs/1812.07035</a:t>
            </a:r>
            <a:r>
              <a:rPr dirty="0" sz="900" spc="50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Tim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Brooks,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Aleksander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Holynski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 and</a:t>
            </a:r>
            <a:r>
              <a:rPr dirty="0" sz="900" spc="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Alexei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 A.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Efros.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InstructPix2Pix: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Learning</a:t>
            </a:r>
            <a:r>
              <a:rPr dirty="0" sz="900" spc="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to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Follow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 Image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Editing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Instructions,</a:t>
            </a:r>
            <a:r>
              <a:rPr dirty="0" sz="900" spc="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CVPR, 2023.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  <a:hlinkClick r:id="rId8"/>
              </a:rPr>
              <a:t>https://arxiv.org/abs/2211.09800</a:t>
            </a:r>
            <a:endParaRPr sz="900">
              <a:latin typeface="Calibri"/>
              <a:cs typeface="Calibri"/>
            </a:endParaRPr>
          </a:p>
          <a:p>
            <a:pPr marL="12700" marR="1001394">
              <a:lnSpc>
                <a:spcPct val="100000"/>
              </a:lnSpc>
              <a:spcBef>
                <a:spcPts val="595"/>
              </a:spcBef>
            </a:pP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Kai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Zhang,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Lingbo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Mo,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Wenhu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Chen,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Huan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Sun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and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Yu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Su.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MagicBrush: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A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Manually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Annotated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Dataset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for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Instruction-Guided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Image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Editing,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NeurIPS,</a:t>
            </a:r>
            <a:r>
              <a:rPr dirty="0" sz="900" spc="-1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2023.</a:t>
            </a:r>
            <a:r>
              <a:rPr dirty="0" sz="900" spc="50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  <a:hlinkClick r:id="rId9"/>
              </a:rPr>
              <a:t>https://arxiv.org/abs/2306.10012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8780" y="3284840"/>
            <a:ext cx="6394450" cy="568960"/>
          </a:xfrm>
          <a:prstGeom prst="rect">
            <a:avLst/>
          </a:prstGeom>
        </p:spPr>
        <p:txBody>
          <a:bodyPr wrap="square" lIns="0" tIns="457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dirty="0" sz="800" spc="-10" b="1">
                <a:solidFill>
                  <a:srgbClr val="2E6171"/>
                </a:solidFill>
                <a:latin typeface="Calibri"/>
                <a:cs typeface="Calibri"/>
              </a:rPr>
              <a:t>WEBSITES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Romain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Beaumont</a:t>
            </a:r>
            <a:r>
              <a:rPr dirty="0" sz="900" spc="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(LAION).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  <a:hlinkClick r:id="rId10"/>
              </a:rPr>
              <a:t>https://huggingface.co/laion/CLIP-</a:t>
            </a:r>
            <a:r>
              <a:rPr dirty="0" sz="900" spc="-35">
                <a:solidFill>
                  <a:srgbClr val="1A1F2B"/>
                </a:solidFill>
                <a:latin typeface="Calibri"/>
                <a:cs typeface="Calibri"/>
                <a:hlinkClick r:id="rId10"/>
              </a:rPr>
              <a:t>ViT-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  <a:hlinkClick r:id="rId10"/>
              </a:rPr>
              <a:t>B-32-laion2B-s34B-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  <a:hlinkClick r:id="rId10"/>
              </a:rPr>
              <a:t>b79K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,</a:t>
            </a:r>
            <a:r>
              <a:rPr dirty="0" sz="900" spc="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Accessed on:</a:t>
            </a:r>
            <a:r>
              <a:rPr dirty="0" sz="900" spc="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20th</a:t>
            </a:r>
            <a:r>
              <a:rPr dirty="0" sz="900" spc="5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September,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2026.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Sentence-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Transformers</a:t>
            </a:r>
            <a:r>
              <a:rPr dirty="0" sz="900" spc="3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developers.</a:t>
            </a:r>
            <a:r>
              <a:rPr dirty="0" sz="900" spc="3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  <a:hlinkClick r:id="rId11"/>
              </a:rPr>
              <a:t>https://huggingface.co/sentence-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  <a:hlinkClick r:id="rId11"/>
              </a:rPr>
              <a:t>transformers/all-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  <a:hlinkClick r:id="rId11"/>
              </a:rPr>
              <a:t>MiniLM-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  <a:hlinkClick r:id="rId11"/>
              </a:rPr>
              <a:t>L6-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  <a:hlinkClick r:id="rId11"/>
              </a:rPr>
              <a:t>v2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,</a:t>
            </a:r>
            <a:r>
              <a:rPr dirty="0" sz="900" spc="3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Accessed</a:t>
            </a:r>
            <a:r>
              <a:rPr dirty="0" sz="900" spc="3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on:</a:t>
            </a:r>
            <a:r>
              <a:rPr dirty="0" sz="900" spc="3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1A1F2B"/>
                </a:solidFill>
                <a:latin typeface="Calibri"/>
                <a:cs typeface="Calibri"/>
              </a:rPr>
              <a:t>20th</a:t>
            </a:r>
            <a:r>
              <a:rPr dirty="0" sz="900" spc="3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1A1F2B"/>
                </a:solidFill>
                <a:latin typeface="Calibri"/>
                <a:cs typeface="Calibri"/>
              </a:rPr>
              <a:t>September,</a:t>
            </a:r>
            <a:r>
              <a:rPr dirty="0" sz="900" spc="30">
                <a:solidFill>
                  <a:srgbClr val="1A1F2B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1A1F2B"/>
                </a:solidFill>
                <a:latin typeface="Calibri"/>
                <a:cs typeface="Calibri"/>
              </a:rPr>
              <a:t>2026.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65"/>
              </a:lnSpc>
            </a:pPr>
            <a:r>
              <a:rPr dirty="0"/>
              <a:t>IE</a:t>
            </a:r>
            <a:r>
              <a:rPr dirty="0" spc="-15"/>
              <a:t> </a:t>
            </a:r>
            <a:r>
              <a:rPr dirty="0"/>
              <a:t>643</a:t>
            </a:r>
            <a:r>
              <a:rPr dirty="0" spc="-15"/>
              <a:t> </a:t>
            </a:r>
            <a:r>
              <a:rPr dirty="0" spc="-10"/>
              <a:t>Course </a:t>
            </a:r>
            <a:r>
              <a:rPr dirty="0"/>
              <a:t>Project</a:t>
            </a:r>
            <a:r>
              <a:rPr dirty="0" spc="135"/>
              <a:t> </a:t>
            </a:r>
            <a:r>
              <a:rPr dirty="0"/>
              <a:t>·</a:t>
            </a:r>
            <a:r>
              <a:rPr dirty="0" spc="140"/>
              <a:t> </a:t>
            </a:r>
            <a:r>
              <a:rPr dirty="0" spc="-20"/>
              <a:t>Team</a:t>
            </a:r>
            <a:r>
              <a:rPr dirty="0" spc="-10"/>
              <a:t> DyoOptix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765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A1F2B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2026-09-23T16:11:58Z</dcterms:created>
  <dcterms:modified xsi:type="dcterms:W3CDTF">2026-09-23T16:11:58Z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v10.0.20070.1</vt:lpwstr>
  </property>
  <property fmtid="{D5CDD505-2E9C-101B-9397-08002B2CF9AE}" pid="3" name="Created">
    <vt:filetime>2026-09-23T00:00:00Z</vt:filetime>
  </property>
  <property fmtid="{D5CDD505-2E9C-101B-9397-08002B2CF9AE}" pid="4" name="Creator">
    <vt:lpwstr>PDFium</vt:lpwstr>
  </property>
  <property fmtid="{D5CDD505-2E9C-101B-9397-08002B2CF9AE}" pid="5" name="Producer">
    <vt:lpwstr>PDFium</vt:lpwstr>
  </property>
  <property fmtid="{D5CDD505-2E9C-101B-9397-08002B2CF9AE}" pid="6" name="LastSaved">
    <vt:filetime>2026-09-23T00:00:00Z</vt:filetime>
  </property>
</Properties>
</file>